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notesSlide5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_rels/notesSlide53.xml.rels" ContentType="application/vnd.openxmlformats-package.relationships+xml"/>
  <Override PartName="/ppt/notesSlides/_rels/notesSlide4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54.xml.rels" ContentType="application/vnd.openxmlformats-package.relationships+xml"/>
  <Override PartName="/ppt/notesSlides/_rels/notesSlide4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55.xml.rels" ContentType="application/vnd.openxmlformats-package.relationships+xml"/>
  <Override PartName="/ppt/notesSlides/_rels/notesSlide3.xml.rels" ContentType="application/vnd.openxmlformats-package.relationships+xml"/>
  <Override PartName="/ppt/notesSlides/_rels/notesSlide46.xml.rels" ContentType="application/vnd.openxmlformats-package.relationships+xml"/>
  <Override PartName="/ppt/notesSlides/_rels/notesSlide56.xml.rels" ContentType="application/vnd.openxmlformats-package.relationships+xml"/>
  <Override PartName="/ppt/notesSlides/_rels/notesSlide4.xml.rels" ContentType="application/vnd.openxmlformats-package.relationships+xml"/>
  <Override PartName="/ppt/notesSlides/_rels/notesSlide47.xml.rels" ContentType="application/vnd.openxmlformats-package.relationships+xml"/>
  <Override PartName="/ppt/notesSlides/_rels/notesSlide57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8.xml.rels" ContentType="application/vnd.openxmlformats-package.relationships+xml"/>
  <Override PartName="/ppt/notesSlides/_rels/notesSlide58.xml.rels" ContentType="application/vnd.openxmlformats-package.relationships+xml"/>
  <Override PartName="/ppt/notesSlides/_rels/notesSlide6.xml.rels" ContentType="application/vnd.openxmlformats-package.relationships+xml"/>
  <Override PartName="/ppt/notesSlides/_rels/notesSlide49.xml.rels" ContentType="application/vnd.openxmlformats-package.relationships+xml"/>
  <Override PartName="/ppt/notesSlides/_rels/notesSlide59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0.xml.rels" ContentType="application/vnd.openxmlformats-package.relationships+xml"/>
  <Override PartName="/ppt/notesSlides/_rels/notesSlide8.xml.rels" ContentType="application/vnd.openxmlformats-package.relationships+xml"/>
  <Override PartName="/ppt/notesSlides/_rels/notesSlide6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62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27.xml.rels" ContentType="application/vnd.openxmlformats-package.relationships+xml"/>
  <Override PartName="/ppt/notesSlides/_rels/notesSlide28.xml.rels" ContentType="application/vnd.openxmlformats-package.relationships+xml"/>
  <Override PartName="/ppt/notesSlides/_rels/notesSlide29.xml.rels" ContentType="application/vnd.openxmlformats-package.relationships+xml"/>
  <Override PartName="/ppt/notesSlides/_rels/notesSlide30.xml.rels" ContentType="application/vnd.openxmlformats-package.relationships+xml"/>
  <Override PartName="/ppt/notesSlides/_rels/notesSlide31.xml.rels" ContentType="application/vnd.openxmlformats-package.relationships+xml"/>
  <Override PartName="/ppt/notesSlides/_rels/notesSlide32.xml.rels" ContentType="application/vnd.openxmlformats-package.relationships+xml"/>
  <Override PartName="/ppt/notesSlides/_rels/notesSlide33.xml.rels" ContentType="application/vnd.openxmlformats-package.relationships+xml"/>
  <Override PartName="/ppt/notesSlides/_rels/notesSlide34.xml.rels" ContentType="application/vnd.openxmlformats-package.relationships+xml"/>
  <Override PartName="/ppt/notesSlides/_rels/notesSlide35.xml.rels" ContentType="application/vnd.openxmlformats-package.relationships+xml"/>
  <Override PartName="/ppt/notesSlides/_rels/notesSlide36.xml.rels" ContentType="application/vnd.openxmlformats-package.relationships+xml"/>
  <Override PartName="/ppt/notesSlides/_rels/notesSlide37.xml.rels" ContentType="application/vnd.openxmlformats-package.relationships+xml"/>
  <Override PartName="/ppt/notesSlides/_rels/notesSlide38.xml.rels" ContentType="application/vnd.openxmlformats-package.relationships+xml"/>
  <Override PartName="/ppt/notesSlides/_rels/notesSlide39.xml.rels" ContentType="application/vnd.openxmlformats-package.relationships+xml"/>
  <Override PartName="/ppt/notesSlides/_rels/notesSlide40.xml.rels" ContentType="application/vnd.openxmlformats-package.relationships+xml"/>
  <Override PartName="/ppt/notesSlides/_rels/notesSlide41.xml.rels" ContentType="application/vnd.openxmlformats-package.relationships+xml"/>
  <Override PartName="/ppt/notesSlides/_rels/notesSlide42.xml.rels" ContentType="application/vnd.openxmlformats-package.relationships+xml"/>
  <Override PartName="/ppt/notesSlides/_rels/notesSlide43.xml.rels" ContentType="application/vnd.openxmlformats-package.relationships+xml"/>
  <Override PartName="/ppt/notesSlides/_rels/notesSlide50.xml.rels" ContentType="application/vnd.openxmlformats-package.relationships+xml"/>
  <Override PartName="/ppt/notesSlides/_rels/notesSlide51.xml.rels" ContentType="application/vnd.openxmlformats-package.relationships+xml"/>
  <Override PartName="/ppt/notesSlides/_rels/notesSlide52.xml.rels" ContentType="application/vnd.openxmlformats-package.relationships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_rels/slideLayout1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_rels/slide35.xml.rels" ContentType="application/vnd.openxmlformats-package.relationships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36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7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38.xml.rels" ContentType="application/vnd.openxmlformats-package.relationships+xml"/>
  <Override PartName="/ppt/slides/_rels/slide5.xml.rels" ContentType="application/vnd.openxmlformats-package.relationships+xml"/>
  <Override PartName="/ppt/slides/_rels/slide39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50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51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52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53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slides/_rels/slide29.xml.rels" ContentType="application/vnd.openxmlformats-package.relationships+xml"/>
  <Override PartName="/ppt/slides/_rels/slide30.xml.rels" ContentType="application/vnd.openxmlformats-package.relationships+xml"/>
  <Override PartName="/ppt/slides/_rels/slide31.xml.rels" ContentType="application/vnd.openxmlformats-package.relationships+xml"/>
  <Override PartName="/ppt/slides/_rels/slide32.xml.rels" ContentType="application/vnd.openxmlformats-package.relationships+xml"/>
  <Override PartName="/ppt/slides/_rels/slide33.xml.rels" ContentType="application/vnd.openxmlformats-package.relationships+xml"/>
  <Override PartName="/ppt/slides/_rels/slide34.xml.rels" ContentType="application/vnd.openxmlformats-package.relationships+xml"/>
  <Override PartName="/ppt/slides/_rels/slide40.xml.rels" ContentType="application/vnd.openxmlformats-package.relationships+xml"/>
  <Override PartName="/ppt/slides/_rels/slide41.xml.rels" ContentType="application/vnd.openxmlformats-package.relationships+xml"/>
  <Override PartName="/ppt/slides/_rels/slide42.xml.rels" ContentType="application/vnd.openxmlformats-package.relationships+xml"/>
  <Override PartName="/ppt/slides/_rels/slide43.xml.rels" ContentType="application/vnd.openxmlformats-package.relationships+xml"/>
  <Override PartName="/ppt/slides/_rels/slide44.xml.rels" ContentType="application/vnd.openxmlformats-package.relationships+xml"/>
  <Override PartName="/ppt/slides/_rels/slide45.xml.rels" ContentType="application/vnd.openxmlformats-package.relationships+xml"/>
  <Override PartName="/ppt/slides/_rels/slide46.xml.rels" ContentType="application/vnd.openxmlformats-package.relationships+xml"/>
  <Override PartName="/ppt/slides/_rels/slide47.xml.rels" ContentType="application/vnd.openxmlformats-package.relationships+xml"/>
  <Override PartName="/ppt/slides/_rels/slide48.xml.rels" ContentType="application/vnd.openxmlformats-package.relationships+xml"/>
  <Override PartName="/ppt/slides/_rels/slide49.xml.rels" ContentType="application/vnd.openxmlformats-package.relationships+xml"/>
  <Override PartName="/ppt/slides/_rels/slide54.xml.rels" ContentType="application/vnd.openxmlformats-package.relationships+xml"/>
  <Override PartName="/ppt/slides/_rels/slide55.xml.rels" ContentType="application/vnd.openxmlformats-package.relationships+xml"/>
  <Override PartName="/ppt/slides/_rels/slide56.xml.rels" ContentType="application/vnd.openxmlformats-package.relationships+xml"/>
  <Override PartName="/ppt/slides/_rels/slide57.xml.rels" ContentType="application/vnd.openxmlformats-package.relationships+xml"/>
  <Override PartName="/ppt/slides/_rels/slide58.xml.rels" ContentType="application/vnd.openxmlformats-package.relationships+xml"/>
  <Override PartName="/ppt/slides/_rels/slide59.xml.rels" ContentType="application/vnd.openxmlformats-package.relationships+xml"/>
  <Override PartName="/ppt/slides/_rels/slide60.xml.rels" ContentType="application/vnd.openxmlformats-package.relationships+xml"/>
  <Override PartName="/ppt/slides/_rels/slide61.xml.rels" ContentType="application/vnd.openxmlformats-package.relationships+xml"/>
  <Override PartName="/ppt/slides/_rels/slide62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tr-T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Slaytı taşımak için tıklayın</a:t>
            </a:r>
            <a:endParaRPr b="0" lang="tr-TR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tr-T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Notların biçimini düzenlemek için tıklayın</a:t>
            </a:r>
            <a:endParaRPr b="0" lang="tr-T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tr-T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tr-T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tr-T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tr-T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tr-T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tr-T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tr-T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tr-T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tr-T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9E52897-BC8C-4786-A693-E1082EFB2364}" type="slidenum">
              <a:rPr b="0" lang="tr-T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tr-T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58.xml.rels><?xml version="1.0" encoding="UTF-8"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
</Relationships>
</file>

<file path=ppt/notesSlides/_rels/notesSlide59.xml.rels><?xml version="1.0" encoding="UTF-8"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
</Relationships>
</file>

<file path=ppt/notesSlides/_rels/notesSlide60.xml.rels><?xml version="1.0" encoding="UTF-8"?>
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
</Relationships>
</file>

<file path=ppt/notesSlides/_rels/notesSlide61.xml.rels><?xml version="1.0" encoding="UTF-8"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
</Relationships>
</file>

<file path=ppt/notesSlides/_rels/notesSlide62.xml.rels><?xml version="1.0" encoding="UTF-8"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251F79C-9F15-473F-ABE6-C16DF34E4DE1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B1260C5-6DB9-49E1-A62C-961AB13F49CB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6BB87E9-8BB2-439E-AD08-4A6065339213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6C36E76-6E2B-4FCB-BB47-B43FC32709D6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3EC6BA5-95C0-4281-9219-182BD7E81CB5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A4532F0-4060-4255-A31D-B1BD12A4749D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A472F94-C9E4-4F24-938A-3836B6861B0F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6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CEB243E-F08C-4AB7-8B8C-66FB48E92073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9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ADFF8EB-4DCF-4D07-AB2F-2A1EB46BE9AA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2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D2B02B2-F059-434E-AE40-9BB7F9599070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5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190B422-A47A-4B26-84CE-AE9ECB87B1B4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8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97343FE-FC88-4FC6-8FBC-0D6B935F757A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1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C2072E6-525C-4C60-AD82-4B811D64AA2D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4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A8192D8-028C-418F-8770-9ABBC8BE8D3E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7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780FAC0-E1F6-4092-A7CA-0A725D92BC3D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0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A23C837-509B-4783-85EB-EF8FDF7CAB72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3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EE46F8E-D51A-46A4-9672-BE8E93427FFF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6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5901F64-C046-4DB9-BD61-CC19A2071EF2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9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B97C759-1897-4BB9-926F-C2F30689540B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2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DC3571B-A5E3-4472-ADCA-EBD6F63B40FE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5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AA0C81E-E063-4674-890D-8DBF77CEB6BA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8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F352BF7-F3BE-46E9-AFB1-91E37A4F4752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1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0E02389-5BEE-49E7-ACD2-888C608D7AFF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4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DFD6B7F-DFB6-45A9-A6E3-947BF864317D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7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582ECC3-0DE7-4386-99A7-FF5A403DDC95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0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AAF2634-83AE-4B73-AACE-FC30B6942726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3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7111E85-4658-4956-B58D-2D8AA447B381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6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BBD4249-45AE-4DDB-B8F2-F7712692047C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9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83452B0-CB70-4819-A1A5-D7C93BE4150C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2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7976456-5BD9-4788-B7CB-1F29D1BEEA2C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5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126820A-60A3-4847-AEC3-19CE3B693DF7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8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C0EA33C-6139-42EE-A95A-B1ADE5C57D3F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1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769967D-68C2-48B6-93FD-BEB59038BC43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4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DB6C9F0-6DD8-45FF-A647-9468CE07EC53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7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4285833-DE70-476B-BE85-912CC07147B1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0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48643F0-453C-42DB-BB82-60CB5E0AD38A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3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FB956C3-D4FB-4744-BD03-A06281878E36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6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9E056A8-1EB4-4CDC-A755-AC01D3A5B9A4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9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7E5F914-6FC0-4107-B8DA-46D0626A3387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2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C3C26DF-96EC-4013-B7B0-D0DCB44B797D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5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49D5513-772B-4444-A2C6-066D14CEA4B8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8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B5CCA9-D02B-4813-A7AB-F8BCACC933FF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1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1BA652A-372D-457B-B9CE-F2D76175157C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4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FA229A3-B871-4846-AAC0-70473DEF810E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7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CD48E14-A9FD-488C-BB85-D7B7C686B6BC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9993D85-FC06-4E58-B714-2D97B20725BE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3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1C82E96-E52B-40E0-B1E8-06CC6C664B49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6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37144D7-DF3F-4EE3-B8C8-895FFFB6F966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9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E23D504-3977-4B50-A39C-A1B0B295D5BC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2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04F6400-259A-41AB-B97B-6574686AFE90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5" name="PlaceHolder 3"/>
          <p:cNvSpPr>
            <a:spLocks noGrp="1"/>
          </p:cNvSpPr>
          <p:nvPr>
            <p:ph type="sldNum" idx="5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6FDCEF7-38CD-4B26-9DD5-3256B4B85B92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8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8487C91-C6D0-491C-84B2-DAC779CE0DB7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1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7C0C1CC-923C-4C71-A99E-23531EF6D242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4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CC944F3-8758-4B33-AE3C-6D860A309C8A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7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33AE5CE-915D-47BA-ADD0-65CAE51BF8AD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0" name="PlaceHolder 3"/>
          <p:cNvSpPr>
            <a:spLocks noGrp="1"/>
          </p:cNvSpPr>
          <p:nvPr>
            <p:ph type="sldNum" idx="5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F0411BB-617D-4455-8078-CA93BCDB55CC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3" name="PlaceHolder 3"/>
          <p:cNvSpPr>
            <a:spLocks noGrp="1"/>
          </p:cNvSpPr>
          <p:nvPr>
            <p:ph type="sldNum" idx="6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4014F4E-004B-4555-A886-57CF07D1D714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6" name="PlaceHolder 3"/>
          <p:cNvSpPr>
            <a:spLocks noGrp="1"/>
          </p:cNvSpPr>
          <p:nvPr>
            <p:ph type="sldNum" idx="6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D554F2D-20D9-421A-9B7C-225E07322815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9" name="PlaceHolder 3"/>
          <p:cNvSpPr>
            <a:spLocks noGrp="1"/>
          </p:cNvSpPr>
          <p:nvPr>
            <p:ph type="sldNum" idx="6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6E8F458-1CCB-4008-BFC0-0AC68A7877B6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2" name="PlaceHolder 3"/>
          <p:cNvSpPr>
            <a:spLocks noGrp="1"/>
          </p:cNvSpPr>
          <p:nvPr>
            <p:ph type="sldNum" idx="6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1C4DEC8-5829-4D31-B577-B515051765E6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5" name="PlaceHolder 3"/>
          <p:cNvSpPr>
            <a:spLocks noGrp="1"/>
          </p:cNvSpPr>
          <p:nvPr>
            <p:ph type="sldNum" idx="6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61AC9C6-23CF-4CAE-8810-0398458861D2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8" name="PlaceHolder 3"/>
          <p:cNvSpPr>
            <a:spLocks noGrp="1"/>
          </p:cNvSpPr>
          <p:nvPr>
            <p:ph type="sldNum" idx="6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0B6D5BB-A439-4BAA-981E-766DEBA280D0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tr-T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Ana başlık metnini düzenlemek için tıklayın</a:t>
            </a:r>
            <a:endParaRPr b="0" lang="tr-TR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tr-T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Anahat metninin biçimini düzenlemek için tıklayın</a:t>
            </a:r>
            <a:endParaRPr b="0" lang="tr-TR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tr-T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İkinci Anahat Düzeyi</a:t>
            </a:r>
            <a:endParaRPr b="0" lang="tr-T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tr-T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Üçüncü Anahat Düzeyi</a:t>
            </a:r>
            <a:endParaRPr b="0" lang="tr-T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tr-T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Dördüncü Anahat Düzeyi</a:t>
            </a:r>
            <a:endParaRPr b="0" lang="tr-T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tr-T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Beşinci Anahat Düzeyi</a:t>
            </a:r>
            <a:endParaRPr b="0" lang="tr-T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tr-T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Altıncı Anahat Düzeyi</a:t>
            </a:r>
            <a:endParaRPr b="0" lang="tr-T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tr-T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Yedinci Anahat Düzeyi</a:t>
            </a:r>
            <a:endParaRPr b="0" lang="tr-T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548640" y="1188720"/>
            <a:ext cx="8046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AI Destekli Veri Mühendisliği</a:t>
            </a:r>
            <a:endParaRPr b="0" lang="tr-TR" sz="3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548640" y="1965960"/>
            <a:ext cx="8046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Gün 2 · Gold'u bitir · Airflow · akış ve gözlem · sözleşme ve governance</a:t>
            </a:r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548640" y="2743200"/>
            <a:ext cx="8046360" cy="1005480"/>
          </a:xfrm>
          <a:prstGeom prst="roundRect">
            <a:avLst>
              <a:gd name="adj" fmla="val 1090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777240" y="2743200"/>
            <a:ext cx="75891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"Dün bir platform kurduk ama bir insan dbt run yazınca çalışıyor. Production'da insan yok."</a:t>
            </a:r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548640" y="429768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Halit Enes Kalaycı · Turkcell · Eylül 2026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Dün nerede kaldık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1"/>
          <p:cNvSpPr/>
          <p:nvPr/>
        </p:nvSpPr>
        <p:spPr>
          <a:xfrm>
            <a:off x="457200" y="1005840"/>
            <a:ext cx="3931560" cy="2331360"/>
          </a:xfrm>
          <a:prstGeom prst="roundRect">
            <a:avLst>
              <a:gd name="adj" fmla="val 4706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2"/>
          <p:cNvSpPr/>
          <p:nvPr/>
        </p:nvSpPr>
        <p:spPr>
          <a:xfrm>
            <a:off x="640080" y="109728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Var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3"/>
          <p:cNvSpPr/>
          <p:nvPr/>
        </p:nvSpPr>
        <p:spPr>
          <a:xfrm>
            <a:off x="640080" y="1508760"/>
            <a:ext cx="356580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Bronze: 8 raw tablo, DuckDB'de (duckdb/telco_dw.duckdb)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copilot-instructions.md — tüm kurallar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/stg-model prompt dosyası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dbt iskeleti (dbt/), sources.yml (1 tablo)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stg_subscribers (düzeltmesi var)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4"/>
          <p:cNvSpPr/>
          <p:nvPr/>
        </p:nvSpPr>
        <p:spPr>
          <a:xfrm>
            <a:off x="4754880" y="1005840"/>
            <a:ext cx="3931560" cy="2331360"/>
          </a:xfrm>
          <a:prstGeom prst="roundRect">
            <a:avLst>
              <a:gd name="adj" fmla="val 4706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5"/>
          <p:cNvSpPr/>
          <p:nvPr/>
        </p:nvSpPr>
        <p:spPr>
          <a:xfrm>
            <a:off x="4937760" y="109728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fb7185"/>
                </a:solidFill>
                <a:effectLst/>
                <a:uFillTx/>
                <a:latin typeface="Calibri"/>
                <a:ea typeface="Calibri"/>
              </a:rPr>
              <a:t>Yok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6"/>
          <p:cNvSpPr/>
          <p:nvPr/>
        </p:nvSpPr>
        <p:spPr>
          <a:xfrm>
            <a:off x="4937760" y="1508760"/>
            <a:ext cx="356580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stg_cdr_events, stg_recharges, stg_plans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dim_plan, dim_date, snapshot, dim_subscriber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fct_daily_usage (incremental) + tutarlılık testi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instructions/*.md, mcp.json, reviewer agent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Airflow, Kafka, observability, contract, governance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7"/>
          <p:cNvSpPr/>
          <p:nvPr/>
        </p:nvSpPr>
        <p:spPr>
          <a:xfrm>
            <a:off x="457200" y="3474720"/>
            <a:ext cx="8229240" cy="1096920"/>
          </a:xfrm>
          <a:prstGeom prst="roundRect">
            <a:avLst>
              <a:gd name="adj" fmla="val 10000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8"/>
          <p:cNvSpPr/>
          <p:nvPr/>
        </p:nvSpPr>
        <p:spPr>
          <a:xfrm>
            <a:off x="640080" y="3474720"/>
            <a:ext cx="78634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Bugünün planı: </a:t>
            </a: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önce 90 dakikada Gold'u bitiriyoruz — çünkü Airflow'un çalıştıracağı, gözlemin izleyeceği, sözleşmenin koruyacağı tablo o. Sonra production: Airflow (herkes yazar, eğitmen ekranında çalışır), Kafka/Spark (demo), observability + contract + governance (herkes, DuckDB'de).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Gün 2'nin haritası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1"/>
          <p:cNvSpPr/>
          <p:nvPr/>
        </p:nvSpPr>
        <p:spPr>
          <a:xfrm>
            <a:off x="457200" y="1051560"/>
            <a:ext cx="1965600" cy="3382920"/>
          </a:xfrm>
          <a:prstGeom prst="roundRect">
            <a:avLst>
              <a:gd name="adj" fmla="val 5581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2"/>
          <p:cNvSpPr/>
          <p:nvPr/>
        </p:nvSpPr>
        <p:spPr>
          <a:xfrm>
            <a:off x="594360" y="114300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09:00 – 10:45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3"/>
          <p:cNvSpPr/>
          <p:nvPr/>
        </p:nvSpPr>
        <p:spPr>
          <a:xfrm>
            <a:off x="594360" y="1463040"/>
            <a:ext cx="1737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Gold'u bitir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4"/>
          <p:cNvSpPr/>
          <p:nvPr/>
        </p:nvSpPr>
        <p:spPr>
          <a:xfrm>
            <a:off x="594360" y="2057400"/>
            <a:ext cx="173700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Ortam + instructions (10 dk)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stg_cdr_events, staging düzelt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dim'ler, SCD2 snapshot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fct_daily_usage incremental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Tutarlılık testi, lineage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5"/>
          <p:cNvSpPr/>
          <p:nvPr/>
        </p:nvSpPr>
        <p:spPr>
          <a:xfrm>
            <a:off x="2541960" y="1051560"/>
            <a:ext cx="1965600" cy="3382920"/>
          </a:xfrm>
          <a:prstGeom prst="roundRect">
            <a:avLst>
              <a:gd name="adj" fmla="val 5581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6"/>
          <p:cNvSpPr/>
          <p:nvPr/>
        </p:nvSpPr>
        <p:spPr>
          <a:xfrm>
            <a:off x="2679120" y="114300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4fc3f7"/>
                </a:solidFill>
                <a:effectLst/>
                <a:uFillTx/>
                <a:latin typeface="Calibri"/>
                <a:ea typeface="Calibri"/>
              </a:rPr>
              <a:t>11:00 – 12:30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7"/>
          <p:cNvSpPr/>
          <p:nvPr/>
        </p:nvSpPr>
        <p:spPr>
          <a:xfrm>
            <a:off x="2679120" y="1463040"/>
            <a:ext cx="1737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Airflow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8"/>
          <p:cNvSpPr/>
          <p:nvPr/>
        </p:nvSpPr>
        <p:spPr>
          <a:xfrm>
            <a:off x="2679120" y="2057400"/>
            <a:ext cx="173700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DAG kavramı, dört tuzak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/dag ile DAG yazdır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Bozuk DAG'ı denetlet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Dynamic mapping, Dagster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9"/>
          <p:cNvSpPr/>
          <p:nvPr/>
        </p:nvSpPr>
        <p:spPr>
          <a:xfrm>
            <a:off x="4626720" y="1051560"/>
            <a:ext cx="1965600" cy="3382920"/>
          </a:xfrm>
          <a:prstGeom prst="roundRect">
            <a:avLst>
              <a:gd name="adj" fmla="val 5581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0"/>
          <p:cNvSpPr/>
          <p:nvPr/>
        </p:nvSpPr>
        <p:spPr>
          <a:xfrm>
            <a:off x="4763880" y="114300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13:30 – 15:15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1"/>
          <p:cNvSpPr/>
          <p:nvPr/>
        </p:nvSpPr>
        <p:spPr>
          <a:xfrm>
            <a:off x="4763880" y="1463040"/>
            <a:ext cx="1737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Akış · gözlem · kalite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2"/>
          <p:cNvSpPr/>
          <p:nvPr/>
        </p:nvSpPr>
        <p:spPr>
          <a:xfrm>
            <a:off x="4763880" y="2057400"/>
            <a:ext cx="173700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Kafka consumer (demo)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PySpark (demo)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Observability sorgusu (herkes)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Test seti + severity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3"/>
          <p:cNvSpPr/>
          <p:nvPr/>
        </p:nvSpPr>
        <p:spPr>
          <a:xfrm>
            <a:off x="6711840" y="1051560"/>
            <a:ext cx="1965600" cy="3382920"/>
          </a:xfrm>
          <a:prstGeom prst="roundRect">
            <a:avLst>
              <a:gd name="adj" fmla="val 5581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4"/>
          <p:cNvSpPr/>
          <p:nvPr/>
        </p:nvSpPr>
        <p:spPr>
          <a:xfrm>
            <a:off x="6849000" y="114300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a78bfa"/>
                </a:solidFill>
                <a:effectLst/>
                <a:uFillTx/>
                <a:latin typeface="Calibri"/>
                <a:ea typeface="Calibri"/>
              </a:rPr>
              <a:t>15:30 – 17:00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5"/>
          <p:cNvSpPr/>
          <p:nvPr/>
        </p:nvSpPr>
        <p:spPr>
          <a:xfrm>
            <a:off x="6849000" y="1463040"/>
            <a:ext cx="1737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Sözleşme · governance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6"/>
          <p:cNvSpPr/>
          <p:nvPr/>
        </p:nvSpPr>
        <p:spPr>
          <a:xfrm>
            <a:off x="6849000" y="2057400"/>
            <a:ext cx="173700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Data contract, breaking change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Migration, katalog, PII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Maskeleme (herkes), RLS (demo)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PR review, repo standardı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7"/>
          <p:cNvSpPr/>
          <p:nvPr/>
        </p:nvSpPr>
        <p:spPr>
          <a:xfrm>
            <a:off x="457200" y="46177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Docker'ı olmayan yazar ve denetler, çalıştırmayı eğitmen ekranında izler. Geride kalırsan: git checkout ref-gun2 -- &lt;dosya yolu&gt;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Her adım beş parça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1"/>
          <p:cNvSpPr/>
          <p:nvPr/>
        </p:nvSpPr>
        <p:spPr>
          <a:xfrm>
            <a:off x="457200" y="1005840"/>
            <a:ext cx="8229240" cy="529920"/>
          </a:xfrm>
          <a:prstGeom prst="roundRect">
            <a:avLst>
              <a:gd name="adj" fmla="val 2069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2"/>
          <p:cNvSpPr/>
          <p:nvPr/>
        </p:nvSpPr>
        <p:spPr>
          <a:xfrm>
            <a:off x="594360" y="1134000"/>
            <a:ext cx="1096920" cy="273960"/>
          </a:xfrm>
          <a:prstGeom prst="roundRect">
            <a:avLst>
              <a:gd name="adj" fmla="val 20000"/>
            </a:avLst>
          </a:prstGeom>
          <a:solidFill>
            <a:srgbClr val="9fb0c8"/>
          </a:solidFill>
          <a:ln w="12700">
            <a:solidFill>
              <a:srgbClr val="9fb0c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3"/>
          <p:cNvSpPr/>
          <p:nvPr/>
        </p:nvSpPr>
        <p:spPr>
          <a:xfrm>
            <a:off x="594360" y="113400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KAVRAM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4"/>
          <p:cNvSpPr/>
          <p:nvPr/>
        </p:nvSpPr>
        <p:spPr>
          <a:xfrm>
            <a:off x="1874520" y="1005840"/>
            <a:ext cx="66747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Ne yapıyoruz, neden — 1 slayt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5"/>
          <p:cNvSpPr/>
          <p:nvPr/>
        </p:nvSpPr>
        <p:spPr>
          <a:xfrm>
            <a:off x="457200" y="1609200"/>
            <a:ext cx="8229240" cy="529920"/>
          </a:xfrm>
          <a:prstGeom prst="roundRect">
            <a:avLst>
              <a:gd name="adj" fmla="val 2069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6"/>
          <p:cNvSpPr/>
          <p:nvPr/>
        </p:nvSpPr>
        <p:spPr>
          <a:xfrm>
            <a:off x="594360" y="1737360"/>
            <a:ext cx="1096920" cy="273960"/>
          </a:xfrm>
          <a:prstGeom prst="roundRect">
            <a:avLst>
              <a:gd name="adj" fmla="val 20000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7"/>
          <p:cNvSpPr/>
          <p:nvPr/>
        </p:nvSpPr>
        <p:spPr>
          <a:xfrm>
            <a:off x="594360" y="173736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PROMPT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8"/>
          <p:cNvSpPr/>
          <p:nvPr/>
        </p:nvSpPr>
        <p:spPr>
          <a:xfrm>
            <a:off x="1874520" y="1609200"/>
            <a:ext cx="66747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Kopyala, Copilot'a ver (Agent modu)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9"/>
          <p:cNvSpPr/>
          <p:nvPr/>
        </p:nvSpPr>
        <p:spPr>
          <a:xfrm>
            <a:off x="457200" y="2212920"/>
            <a:ext cx="8229240" cy="529920"/>
          </a:xfrm>
          <a:prstGeom prst="roundRect">
            <a:avLst>
              <a:gd name="adj" fmla="val 2069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0"/>
          <p:cNvSpPr/>
          <p:nvPr/>
        </p:nvSpPr>
        <p:spPr>
          <a:xfrm>
            <a:off x="594360" y="2340720"/>
            <a:ext cx="1096920" cy="273960"/>
          </a:xfrm>
          <a:prstGeom prst="roundRect">
            <a:avLst>
              <a:gd name="adj" fmla="val 20000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1"/>
          <p:cNvSpPr/>
          <p:nvPr/>
        </p:nvSpPr>
        <p:spPr>
          <a:xfrm>
            <a:off x="594360" y="2340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BEKLENEN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2"/>
          <p:cNvSpPr/>
          <p:nvPr/>
        </p:nvSpPr>
        <p:spPr>
          <a:xfrm>
            <a:off x="1874520" y="2212920"/>
            <a:ext cx="66747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Hangi dosyalar, hangi satırlar gelmeli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13"/>
          <p:cNvSpPr/>
          <p:nvPr/>
        </p:nvSpPr>
        <p:spPr>
          <a:xfrm>
            <a:off x="457200" y="2816280"/>
            <a:ext cx="8229240" cy="529920"/>
          </a:xfrm>
          <a:prstGeom prst="roundRect">
            <a:avLst>
              <a:gd name="adj" fmla="val 2069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14"/>
          <p:cNvSpPr/>
          <p:nvPr/>
        </p:nvSpPr>
        <p:spPr>
          <a:xfrm>
            <a:off x="594360" y="2944440"/>
            <a:ext cx="1096920" cy="273960"/>
          </a:xfrm>
          <a:prstGeom prst="roundRect">
            <a:avLst>
              <a:gd name="adj" fmla="val 20000"/>
            </a:avLst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5"/>
          <p:cNvSpPr/>
          <p:nvPr/>
        </p:nvSpPr>
        <p:spPr>
          <a:xfrm>
            <a:off x="594360" y="294444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16"/>
          <p:cNvSpPr/>
          <p:nvPr/>
        </p:nvSpPr>
        <p:spPr>
          <a:xfrm>
            <a:off x="1874520" y="2816280"/>
            <a:ext cx="66747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Komut + beklenen sayı; sayı tutmuyorsa model yanlış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17"/>
          <p:cNvSpPr/>
          <p:nvPr/>
        </p:nvSpPr>
        <p:spPr>
          <a:xfrm>
            <a:off x="457200" y="3420000"/>
            <a:ext cx="8229240" cy="529920"/>
          </a:xfrm>
          <a:prstGeom prst="roundRect">
            <a:avLst>
              <a:gd name="adj" fmla="val 2069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18"/>
          <p:cNvSpPr/>
          <p:nvPr/>
        </p:nvSpPr>
        <p:spPr>
          <a:xfrm>
            <a:off x="594360" y="3547800"/>
            <a:ext cx="1096920" cy="273960"/>
          </a:xfrm>
          <a:prstGeom prst="roundRect">
            <a:avLst>
              <a:gd name="adj" fmla="val 20000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9"/>
          <p:cNvSpPr/>
          <p:nvPr/>
        </p:nvSpPr>
        <p:spPr>
          <a:xfrm>
            <a:off x="594360" y="354780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SOR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20"/>
          <p:cNvSpPr/>
          <p:nvPr/>
        </p:nvSpPr>
        <p:spPr>
          <a:xfrm>
            <a:off x="1874520" y="3420000"/>
            <a:ext cx="66747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Kendi çıktına soracağın sorular; emin değilsen reviewer'a sor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21"/>
          <p:cNvSpPr/>
          <p:nvPr/>
        </p:nvSpPr>
        <p:spPr>
          <a:xfrm>
            <a:off x="457200" y="4069080"/>
            <a:ext cx="8229240" cy="548280"/>
          </a:xfrm>
          <a:prstGeom prst="roundRect">
            <a:avLst>
              <a:gd name="adj" fmla="val 20000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22"/>
          <p:cNvSpPr/>
          <p:nvPr/>
        </p:nvSpPr>
        <p:spPr>
          <a:xfrm>
            <a:off x="640080" y="4069080"/>
            <a:ext cx="7863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Sayı tutuyorsa geç; tutmuyorsa "neden?" — Copilot'a değil, önce EXPLAIN'e ve schema.yml'e sor.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 0"/>
          <p:cNvSpPr/>
          <p:nvPr/>
        </p:nvSpPr>
        <p:spPr>
          <a:xfrm>
            <a:off x="548640" y="137160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201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GÜN 2 · 09:00 · BLOK A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1"/>
          <p:cNvSpPr/>
          <p:nvPr/>
        </p:nvSpPr>
        <p:spPr>
          <a:xfrm>
            <a:off x="548640" y="1783080"/>
            <a:ext cx="80463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Önce Gold'u bitiriyoruz</a:t>
            </a:r>
            <a:endParaRPr b="0" lang="tr-TR" sz="3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2"/>
          <p:cNvSpPr/>
          <p:nvPr/>
        </p:nvSpPr>
        <p:spPr>
          <a:xfrm>
            <a:off x="548640" y="2880360"/>
            <a:ext cx="804636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90 dakika, 9 adım. Dün eksik kalan Silver ve Gold; her adım bir prompt, bir sayı.</a:t>
            </a:r>
            <a:endParaRPr b="0" lang="tr-TR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A1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Ortam: dbt-duckdb, proje ayarları, paketler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3"/>
          <p:cNvSpPr/>
          <p:nvPr/>
        </p:nvSpPr>
        <p:spPr>
          <a:xfrm>
            <a:off x="457200" y="89604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4"/>
          <p:cNvSpPr/>
          <p:nvPr/>
        </p:nvSpPr>
        <p:spPr>
          <a:xfrm>
            <a:off x="457200" y="89604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PROMPT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5"/>
          <p:cNvSpPr/>
          <p:nvPr/>
        </p:nvSpPr>
        <p:spPr>
          <a:xfrm>
            <a:off x="457200" y="1188720"/>
            <a:ext cx="8229240" cy="1965600"/>
          </a:xfrm>
          <a:prstGeom prst="roundRect">
            <a:avLst>
              <a:gd name="adj" fmla="val 5581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6"/>
          <p:cNvSpPr/>
          <p:nvPr/>
        </p:nvSpPr>
        <p:spPr>
          <a:xfrm>
            <a:off x="594360" y="1261800"/>
            <a:ext cx="7954920" cy="181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Agent: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Bu repo dbt-duckdb kullanıyor.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1) pip install dbt-duckdb duckdb (requirements.txt ile).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2) dbt/dbt_project.yml: models → staging {+materialized: view, +schema: silver},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 intermediate {+materialized: ephemeral}, marts {+materialized: table, +schema: gold};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 vars: lookback_days: 3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3) dbt/packages.yml: dbt-labs/dbt_utils ["&gt;=1.3.0","&lt;2.0.0"],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 metaplane/dbt_expectations ["&gt;=0.10.0","&lt;0.11.0"]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4) dbt/macros/generate_schema_name.sql: custom schema verilmişse tam adı kullan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5) dbt/ içinden: dbt deps &amp;&amp; dbt debug --profiles-dir . — çıktıyı göster.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7"/>
          <p:cNvSpPr/>
          <p:nvPr/>
        </p:nvSpPr>
        <p:spPr>
          <a:xfrm>
            <a:off x="457200" y="331920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8"/>
          <p:cNvSpPr/>
          <p:nvPr/>
        </p:nvSpPr>
        <p:spPr>
          <a:xfrm>
            <a:off x="457200" y="331920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BEKLENEN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9"/>
          <p:cNvSpPr/>
          <p:nvPr/>
        </p:nvSpPr>
        <p:spPr>
          <a:xfrm>
            <a:off x="457200" y="3611880"/>
            <a:ext cx="8229240" cy="959760"/>
          </a:xfrm>
          <a:prstGeom prst="roundRect">
            <a:avLst>
              <a:gd name="adj" fmla="val 1142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10"/>
          <p:cNvSpPr/>
          <p:nvPr/>
        </p:nvSpPr>
        <p:spPr>
          <a:xfrm>
            <a:off x="640080" y="3703320"/>
            <a:ext cx="78634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dbt_project.yml'de models:/vars: bloğu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packages.yml + dbt_packages/ indi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macros/generate_schema_name.sql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dbt debug: All checks passed!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A1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Test et, kendine sor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3"/>
          <p:cNvSpPr/>
          <p:nvPr/>
        </p:nvSpPr>
        <p:spPr>
          <a:xfrm>
            <a:off x="457200" y="77724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Ortam: dbt-duckdb, proje ayarları, paketler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4"/>
          <p:cNvSpPr/>
          <p:nvPr/>
        </p:nvSpPr>
        <p:spPr>
          <a:xfrm>
            <a:off x="457200" y="11887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5"/>
          <p:cNvSpPr/>
          <p:nvPr/>
        </p:nvSpPr>
        <p:spPr>
          <a:xfrm>
            <a:off x="457200" y="11887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6"/>
          <p:cNvSpPr/>
          <p:nvPr/>
        </p:nvSpPr>
        <p:spPr>
          <a:xfrm>
            <a:off x="457200" y="1481400"/>
            <a:ext cx="3931560" cy="3108600"/>
          </a:xfrm>
          <a:prstGeom prst="roundRect">
            <a:avLst>
              <a:gd name="adj" fmla="val 352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7"/>
          <p:cNvSpPr/>
          <p:nvPr/>
        </p:nvSpPr>
        <p:spPr>
          <a:xfrm>
            <a:off x="640080" y="1600200"/>
            <a:ext cx="35658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cd dbt &amp;&amp; dbt show --inline "select count(*), count(distinct event_id) from raw.cdr_events" --profiles-dir .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→ 305942 / 300000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Veri yoksa: python ../generate_data.py --quick --out data &amp;&amp; python load_duckdb.py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8"/>
          <p:cNvSpPr/>
          <p:nvPr/>
        </p:nvSpPr>
        <p:spPr>
          <a:xfrm>
            <a:off x="4754880" y="11887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9"/>
          <p:cNvSpPr/>
          <p:nvPr/>
        </p:nvSpPr>
        <p:spPr>
          <a:xfrm>
            <a:off x="4754880" y="11887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SOR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10"/>
          <p:cNvSpPr/>
          <p:nvPr/>
        </p:nvSpPr>
        <p:spPr>
          <a:xfrm>
            <a:off x="4754880" y="1481400"/>
            <a:ext cx="3931560" cy="3108600"/>
          </a:xfrm>
          <a:prstGeom prst="roundRect">
            <a:avLst>
              <a:gd name="adj" fmla="val 3529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1"/>
          <p:cNvSpPr/>
          <p:nvPr/>
        </p:nvSpPr>
        <p:spPr>
          <a:xfrm>
            <a:off x="4937760" y="1600200"/>
            <a:ext cx="35658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dbt debug hangi adapter'ı buldu?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dbt komutunu hangi dizinden çalıştırdın?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generate_data.py repoda mı? Copilot okuyabilir mi?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A2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Instructions'ı tamamla — hazır ver, 5 dakika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3"/>
          <p:cNvSpPr/>
          <p:nvPr/>
        </p:nvSpPr>
        <p:spPr>
          <a:xfrm>
            <a:off x="457200" y="86868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Bu üç dosya bugün Copilot'un yazacağı her şeyin sözleşmesi. Elle yazılır, Copilot'a yazdırılmaz.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4"/>
          <p:cNvSpPr/>
          <p:nvPr/>
        </p:nvSpPr>
        <p:spPr>
          <a:xfrm>
            <a:off x="457200" y="1325880"/>
            <a:ext cx="2651400" cy="3200040"/>
          </a:xfrm>
          <a:prstGeom prst="roundRect">
            <a:avLst>
              <a:gd name="adj" fmla="val 4138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5"/>
          <p:cNvSpPr/>
          <p:nvPr/>
        </p:nvSpPr>
        <p:spPr>
          <a:xfrm>
            <a:off x="594360" y="1417320"/>
            <a:ext cx="23770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f5b841"/>
                </a:solidFill>
                <a:effectLst/>
                <a:uFillTx/>
                <a:latin typeface="Courier New"/>
                <a:ea typeface="Courier New"/>
              </a:rPr>
              <a:t>copilot-instructions.md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6"/>
          <p:cNvSpPr/>
          <p:nvPr/>
        </p:nvSpPr>
        <p:spPr>
          <a:xfrm>
            <a:off x="594360" y="1828800"/>
            <a:ext cx="2377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tek satır değişir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7"/>
          <p:cNvSpPr/>
          <p:nvPr/>
        </p:nvSpPr>
        <p:spPr>
          <a:xfrm>
            <a:off x="594360" y="2148840"/>
            <a:ext cx="2377080" cy="23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0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"PostgreSQL 16" → "DuckDB (dbt-duckdb); SQL kalıpları Postgres ile aynı"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8"/>
          <p:cNvSpPr/>
          <p:nvPr/>
        </p:nvSpPr>
        <p:spPr>
          <a:xfrm>
            <a:off x="3246120" y="1325880"/>
            <a:ext cx="2651400" cy="3200040"/>
          </a:xfrm>
          <a:prstGeom prst="roundRect">
            <a:avLst>
              <a:gd name="adj" fmla="val 4138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9"/>
          <p:cNvSpPr/>
          <p:nvPr/>
        </p:nvSpPr>
        <p:spPr>
          <a:xfrm>
            <a:off x="3383280" y="1417320"/>
            <a:ext cx="23770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f5b841"/>
                </a:solidFill>
                <a:effectLst/>
                <a:uFillTx/>
                <a:latin typeface="Courier New"/>
                <a:ea typeface="Courier New"/>
              </a:rPr>
              <a:t>.github/instructions/dbt.instructions.md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0"/>
          <p:cNvSpPr/>
          <p:nvPr/>
        </p:nvSpPr>
        <p:spPr>
          <a:xfrm>
            <a:off x="3383280" y="1828800"/>
            <a:ext cx="2377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applyTo: "dbt/**"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1"/>
          <p:cNvSpPr/>
          <p:nvPr/>
        </p:nvSpPr>
        <p:spPr>
          <a:xfrm>
            <a:off x="3383280" y="2148840"/>
            <a:ext cx="2377080" cy="23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0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staging SADECE source(), iş mantığı yok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0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her modele unique + not_null; kombinasyon → dbt_utils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0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incremental: unique_key, delete+insert, ingested_at watermark, lookback var, backfill var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0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SCD2: snapshot strategy check; fact→dim join tarih aralığıyla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0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yorumda {{ ref() }} yok; komutlar dbt/ içinden --profiles-dir .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12"/>
          <p:cNvSpPr/>
          <p:nvPr/>
        </p:nvSpPr>
        <p:spPr>
          <a:xfrm>
            <a:off x="6035040" y="1325880"/>
            <a:ext cx="2651400" cy="3200040"/>
          </a:xfrm>
          <a:prstGeom prst="roundRect">
            <a:avLst>
              <a:gd name="adj" fmla="val 4138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3"/>
          <p:cNvSpPr/>
          <p:nvPr/>
        </p:nvSpPr>
        <p:spPr>
          <a:xfrm>
            <a:off x="6172200" y="1417320"/>
            <a:ext cx="23770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f5b841"/>
                </a:solidFill>
                <a:effectLst/>
                <a:uFillTx/>
                <a:latin typeface="Courier New"/>
                <a:ea typeface="Courier New"/>
              </a:rPr>
              <a:t>.github/instructions/airflow.instructions.md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4"/>
          <p:cNvSpPr/>
          <p:nvPr/>
        </p:nvSpPr>
        <p:spPr>
          <a:xfrm>
            <a:off x="6172200" y="1828800"/>
            <a:ext cx="2377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applyTo: "airflow/**"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5"/>
          <p:cNvSpPr/>
          <p:nvPr/>
        </p:nvSpPr>
        <p:spPr>
          <a:xfrm>
            <a:off x="6172200" y="2148840"/>
            <a:ext cx="2377080" cy="23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0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catchup=False, sabit start_date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0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retries≥3 + exponential backoff, max_active_runs=1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0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sensor mode='reschedule' + timeout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0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tarih {{ ds }}; şifre yok (env/conn_id)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0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load task'ı idempotent (DELETE+INSERT)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0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branch birleşiminde trigger_rule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6"/>
          <p:cNvSpPr/>
          <p:nvPr/>
        </p:nvSpPr>
        <p:spPr>
          <a:xfrm>
            <a:off x="457200" y="46177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Test: Chat'e "incremental modelde watermark hangi kolondan alınır?" → "ingested_at" diyorsa devrede. Tam metin sonraki iki slaytta.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A2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dbt.instructions.md — kopyala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3"/>
          <p:cNvSpPr/>
          <p:nvPr/>
        </p:nvSpPr>
        <p:spPr>
          <a:xfrm>
            <a:off x="457200" y="8229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5b841"/>
                </a:solidFill>
                <a:effectLst/>
                <a:uFillTx/>
                <a:latin typeface="Courier New"/>
                <a:ea typeface="Courier New"/>
              </a:rPr>
              <a:t>.github/instructions/dbt.instructions.md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4"/>
          <p:cNvSpPr/>
          <p:nvPr/>
        </p:nvSpPr>
        <p:spPr>
          <a:xfrm>
            <a:off x="457200" y="1143000"/>
            <a:ext cx="8229240" cy="3474360"/>
          </a:xfrm>
          <a:prstGeom prst="roundRect">
            <a:avLst>
              <a:gd name="adj" fmla="val 3158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5"/>
          <p:cNvSpPr/>
          <p:nvPr/>
        </p:nvSpPr>
        <p:spPr>
          <a:xfrm>
            <a:off x="594360" y="1234440"/>
            <a:ext cx="7954920" cy="32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f1f5f9"/>
                </a:solidFill>
                <a:effectLst/>
                <a:uFillTx/>
                <a:latin typeface="Courier New"/>
                <a:ea typeface="Courier New"/>
              </a:rPr>
              <a:t>---</a:t>
            </a:r>
            <a:endParaRPr b="0" lang="tr-TR" sz="8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f1f5f9"/>
                </a:solidFill>
                <a:effectLst/>
                <a:uFillTx/>
                <a:latin typeface="Courier New"/>
                <a:ea typeface="Courier New"/>
              </a:rPr>
              <a:t>applyTo: "dbt/**"</a:t>
            </a:r>
            <a:endParaRPr b="0" lang="tr-TR" sz="8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f1f5f9"/>
                </a:solidFill>
                <a:effectLst/>
                <a:uFillTx/>
                <a:latin typeface="Courier New"/>
                <a:ea typeface="Courier New"/>
              </a:rPr>
              <a:t>---</a:t>
            </a:r>
            <a:endParaRPr b="0" lang="tr-TR" sz="8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f1f5f9"/>
                </a:solidFill>
                <a:effectLst/>
                <a:uFillTx/>
                <a:latin typeface="Courier New"/>
                <a:ea typeface="Courier New"/>
              </a:rPr>
              <a:t># dbt kuralları (dbt-duckdb; kalıplar Postgres ile aynı)</a:t>
            </a:r>
            <a:endParaRPr b="0" lang="tr-TR" sz="8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f1f5f9"/>
                </a:solidFill>
                <a:effectLst/>
                <a:uFillTx/>
                <a:latin typeface="Courier New"/>
                <a:ea typeface="Courier New"/>
              </a:rPr>
              <a:t>- Katmanlar: models/staging/stg_*.sql (view) → models/intermediate/int_*.sql (ephemeral) → models/marts/fct_*|dim_*.sql (table/incremental).</a:t>
            </a:r>
            <a:endParaRPr b="0" lang="tr-TR" sz="8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f1f5f9"/>
                </a:solidFill>
                <a:effectLst/>
                <a:uFillTx/>
                <a:latin typeface="Courier New"/>
                <a:ea typeface="Courier New"/>
              </a:rPr>
              <a:t>- Staging modeller SADECE {{ source() }} okur; mart modeller SADECE {{ ref() }} okur. Staging'de iş mantığı yok: yeniden adlandırma, tipleme, normalize, dedup. Satır silinmez, işaretlenir (is_valid_*, is_current_record).</a:t>
            </a:r>
            <a:endParaRPr b="0" lang="tr-TR" sz="8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f1f5f9"/>
                </a:solidFill>
                <a:effectLst/>
                <a:uFillTx/>
                <a:latin typeface="Courier New"/>
                <a:ea typeface="Courier New"/>
              </a:rPr>
              <a:t>- Her model için schema.yml'de description + en az unique ve not_null testi. Kombinasyon anahtarı için dbt_utils.unique_combination_of_columns. Test argümanları arguments: altında.</a:t>
            </a:r>
            <a:endParaRPr b="0" lang="tr-TR" sz="8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f1f5f9"/>
                </a:solidFill>
                <a:effectLst/>
                <a:uFillTx/>
                <a:latin typeface="Courier New"/>
                <a:ea typeface="Courier New"/>
              </a:rPr>
              <a:t>- Incremental modellerde zorunlu: unique_key, incremental_strategy='delete+insert', watermark ingested_at üzerinden (event_ts DEĞİL, now() DEĞİL), var('lookback_days', 3) günlük lookback, var('start_date')/var('end_date') ile backfill. Geç gelen olaylardan etkilenen (anahtar, gün) çiftleri TAMAMEN yeniden hesaplanır. Model başında 5+ satır yorum: strateji gerekçesi.</a:t>
            </a:r>
            <a:endParaRPr b="0" lang="tr-TR" sz="8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f1f5f9"/>
                </a:solidFill>
                <a:effectLst/>
                <a:uFillTx/>
                <a:latin typeface="Courier New"/>
                <a:ea typeface="Courier New"/>
              </a:rPr>
              <a:t>- Surrogate key: {{ dbt_utils.generate_surrogate_key([...]) }}.</a:t>
            </a:r>
            <a:endParaRPr b="0" lang="tr-TR" sz="8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f1f5f9"/>
                </a:solidFill>
                <a:effectLst/>
                <a:uFillTx/>
                <a:latin typeface="Courier New"/>
                <a:ea typeface="Courier New"/>
              </a:rPr>
              <a:t>- SCD Type 2 için snapshots/ altında strategy: check. Fact→dim join'i dbt_valid_from/dbt_valid_to tarih aralığıyla yapılır; dbt_valid_to IS NULL sadece "şu anki durum" sorguları için.</a:t>
            </a:r>
            <a:endParaRPr b="0" lang="tr-TR" sz="8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f1f5f9"/>
                </a:solidFill>
                <a:effectLst/>
                <a:uFillTx/>
                <a:latin typeface="Courier New"/>
                <a:ea typeface="Courier New"/>
              </a:rPr>
              <a:t>- SQL yorumlarında (--) {{ ref() }} / {{ source() }} KULLANMA; dbt yorumdaki Jinja'yı da render eder. Doğrulama sorgularında literal şema.tablo yaz.</a:t>
            </a:r>
            <a:endParaRPr b="0" lang="tr-TR" sz="8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f1f5f9"/>
                </a:solidFill>
                <a:effectLst/>
                <a:uFillTx/>
                <a:latin typeface="Courier New"/>
                <a:ea typeface="Courier New"/>
              </a:rPr>
              <a:t>- dbt komutları dbt/ dizininden --profiles-dir . ile çalıştırılır.</a:t>
            </a:r>
            <a:endParaRPr b="0" lang="tr-TR" sz="8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A2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airflow.instructions.md — kopyala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3"/>
          <p:cNvSpPr/>
          <p:nvPr/>
        </p:nvSpPr>
        <p:spPr>
          <a:xfrm>
            <a:off x="457200" y="8229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5b841"/>
                </a:solidFill>
                <a:effectLst/>
                <a:uFillTx/>
                <a:latin typeface="Courier New"/>
                <a:ea typeface="Courier New"/>
              </a:rPr>
              <a:t>.github/instructions/airflow.instructions.md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4"/>
          <p:cNvSpPr/>
          <p:nvPr/>
        </p:nvSpPr>
        <p:spPr>
          <a:xfrm>
            <a:off x="457200" y="1143000"/>
            <a:ext cx="8229240" cy="3474360"/>
          </a:xfrm>
          <a:prstGeom prst="roundRect">
            <a:avLst>
              <a:gd name="adj" fmla="val 3158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5"/>
          <p:cNvSpPr/>
          <p:nvPr/>
        </p:nvSpPr>
        <p:spPr>
          <a:xfrm>
            <a:off x="594360" y="1234440"/>
            <a:ext cx="7954920" cy="32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f1f5f9"/>
                </a:solidFill>
                <a:effectLst/>
                <a:uFillTx/>
                <a:latin typeface="Courier New"/>
                <a:ea typeface="Courier New"/>
              </a:rPr>
              <a:t>---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f1f5f9"/>
                </a:solidFill>
                <a:effectLst/>
                <a:uFillTx/>
                <a:latin typeface="Courier New"/>
                <a:ea typeface="Courier New"/>
              </a:rPr>
              <a:t>applyTo: "airflow/**"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f1f5f9"/>
                </a:solidFill>
                <a:effectLst/>
                <a:uFillTx/>
                <a:latin typeface="Courier New"/>
                <a:ea typeface="Courier New"/>
              </a:rPr>
              <a:t>---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f1f5f9"/>
                </a:solidFill>
                <a:effectLst/>
                <a:uFillTx/>
                <a:latin typeface="Courier New"/>
                <a:ea typeface="Courier New"/>
              </a:rPr>
              <a:t># Airflow kuralları (2.x, TaskFlow)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f1f5f9"/>
                </a:solidFill>
                <a:effectLst/>
                <a:uFillTx/>
                <a:latin typeface="Courier New"/>
                <a:ea typeface="Courier New"/>
              </a:rPr>
              <a:t>- Her DAG'da zorunlu: sabit start_date (datetime(...)), catchup=False, max_active_runs=1, default_args'ta retries&gt;=3 + retry_exponential_backoff, tags, doc_md.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f1f5f9"/>
                </a:solidFill>
                <a:effectLst/>
                <a:uFillTx/>
                <a:latin typeface="Courier New"/>
                <a:ea typeface="Courier New"/>
              </a:rPr>
              <a:t>- Sensor'ler mode='reschedule' ve timeout ile; poke_interval &gt;= 60.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f1f5f9"/>
                </a:solidFill>
                <a:effectLst/>
                <a:uFillTx/>
                <a:latin typeface="Courier New"/>
                <a:ea typeface="Courier New"/>
              </a:rPr>
              <a:t>- Tarih her zaman {{ ds }} / data_interval_start'tan; date.today() / datetime.now() task içinde KULLANILMAZ.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f1f5f9"/>
                </a:solidFill>
                <a:effectLst/>
                <a:uFillTx/>
                <a:latin typeface="Courier New"/>
                <a:ea typeface="Courier New"/>
              </a:rPr>
              <a:t>- Bağlantı ve şifre koda gömülmez: env var ya da conn_id.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f1f5f9"/>
                </a:solidFill>
                <a:effectLst/>
                <a:uFillTx/>
                <a:latin typeface="Courier New"/>
                <a:ea typeface="Courier New"/>
              </a:rPr>
              <a:t>- Yükleme task'ları idempotent: aynı ds için önce DELETE sonra INSERT (ya da ON CONFLICT).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f1f5f9"/>
                </a:solidFill>
                <a:effectLst/>
                <a:uFillTx/>
                <a:latin typeface="Courier New"/>
                <a:ea typeface="Courier New"/>
              </a:rPr>
              <a:t>- dbt adımları BashOperator ile: dbt run/test/snapshot --project-dir ... --profiles-dir ...; staging → test → snapshot → marts → test sırası.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f1f5f9"/>
                </a:solidFill>
                <a:effectLst/>
                <a:uFillTx/>
                <a:latin typeface="Courier New"/>
                <a:ea typeface="Courier New"/>
              </a:rPr>
              <a:t>- @task.branch kullanılıyorsa birleşme task'ında trigger_rule='none_failed_min_one_success'.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f1f5f9"/>
                </a:solidFill>
                <a:effectLst/>
                <a:uFillTx/>
                <a:latin typeface="Courier New"/>
                <a:ea typeface="Courier New"/>
              </a:rPr>
              <a:t>- Dynamic task mapping'de max_active_tis_per_dag ile paralellik sınırlanır.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A3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stg_cdr_events — /stg-model cdr_events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3"/>
          <p:cNvSpPr/>
          <p:nvPr/>
        </p:nvSpPr>
        <p:spPr>
          <a:xfrm>
            <a:off x="457200" y="89604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4"/>
          <p:cNvSpPr/>
          <p:nvPr/>
        </p:nvSpPr>
        <p:spPr>
          <a:xfrm>
            <a:off x="457200" y="89604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PROMPT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5"/>
          <p:cNvSpPr/>
          <p:nvPr/>
        </p:nvSpPr>
        <p:spPr>
          <a:xfrm>
            <a:off x="457200" y="1188720"/>
            <a:ext cx="8229240" cy="1270800"/>
          </a:xfrm>
          <a:prstGeom prst="roundRect">
            <a:avLst>
              <a:gd name="adj" fmla="val 8633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6"/>
          <p:cNvSpPr/>
          <p:nvPr/>
        </p:nvSpPr>
        <p:spPr>
          <a:xfrm>
            <a:off x="594360" y="1261800"/>
            <a:ext cx="7954920" cy="11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/stg-model  →  table: cdr_events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(prompt dosyası: sources.yml'e cdr_events ekle [loaded_at_field ingested_at, freshness 24h/72h];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stg_cdr_events.sql: source(), E.164, lower(trim(event_type)), is_valid_event_type, ROW_NUMBER dedup;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schema.yml: unique/not_null event_id, msisdn regex ^\+90[0-9]{10}$, accepted_values; 2 doğrulama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 sorgusu;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dbt run/test --select stg_cdr_events --profiles-dir .)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7"/>
          <p:cNvSpPr/>
          <p:nvPr/>
        </p:nvSpPr>
        <p:spPr>
          <a:xfrm>
            <a:off x="457200" y="262440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8"/>
          <p:cNvSpPr/>
          <p:nvPr/>
        </p:nvSpPr>
        <p:spPr>
          <a:xfrm>
            <a:off x="457200" y="262440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BEKLENEN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9"/>
          <p:cNvSpPr/>
          <p:nvPr/>
        </p:nvSpPr>
        <p:spPr>
          <a:xfrm>
            <a:off x="457200" y="2917080"/>
            <a:ext cx="8229240" cy="1654560"/>
          </a:xfrm>
          <a:prstGeom prst="roundRect">
            <a:avLst>
              <a:gd name="adj" fmla="val 663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10"/>
          <p:cNvSpPr/>
          <p:nvPr/>
        </p:nvSpPr>
        <p:spPr>
          <a:xfrm>
            <a:off x="640080" y="3008520"/>
            <a:ext cx="7863480" cy="147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sources.yml'de cdr_events + freshness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regexp_replace(msisdn,'\D','','g') — 'g' flag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row_number() over (partition by event_id order by ingested_at, msisdn) = 1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Geçersiz tip silinmez: is_valid_event_type=false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schema.yml'de msisdn regex testi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A3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Test et, kendine sor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3"/>
          <p:cNvSpPr/>
          <p:nvPr/>
        </p:nvSpPr>
        <p:spPr>
          <a:xfrm>
            <a:off x="457200" y="77724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stg_cdr_events — /stg-model cdr_events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4"/>
          <p:cNvSpPr/>
          <p:nvPr/>
        </p:nvSpPr>
        <p:spPr>
          <a:xfrm>
            <a:off x="457200" y="11887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5"/>
          <p:cNvSpPr/>
          <p:nvPr/>
        </p:nvSpPr>
        <p:spPr>
          <a:xfrm>
            <a:off x="457200" y="11887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6"/>
          <p:cNvSpPr/>
          <p:nvPr/>
        </p:nvSpPr>
        <p:spPr>
          <a:xfrm>
            <a:off x="457200" y="1481400"/>
            <a:ext cx="3931560" cy="3108600"/>
          </a:xfrm>
          <a:prstGeom prst="roundRect">
            <a:avLst>
              <a:gd name="adj" fmla="val 352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7"/>
          <p:cNvSpPr/>
          <p:nvPr/>
        </p:nvSpPr>
        <p:spPr>
          <a:xfrm>
            <a:off x="640080" y="1600200"/>
            <a:ext cx="35658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dbt show --inline "select count(*), count(distinct event_id), count(*) filter (where not is_valid_event_type) from silver.stg_cdr_events" --profiles-dir .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→ 300000 / 300000 / 968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dbt test --select stg_cdr_events → tümü PASS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8"/>
          <p:cNvSpPr/>
          <p:nvPr/>
        </p:nvSpPr>
        <p:spPr>
          <a:xfrm>
            <a:off x="4754880" y="11887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9"/>
          <p:cNvSpPr/>
          <p:nvPr/>
        </p:nvSpPr>
        <p:spPr>
          <a:xfrm>
            <a:off x="4754880" y="11887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SOR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10"/>
          <p:cNvSpPr/>
          <p:nvPr/>
        </p:nvSpPr>
        <p:spPr>
          <a:xfrm>
            <a:off x="4754880" y="1481400"/>
            <a:ext cx="3931560" cy="3108600"/>
          </a:xfrm>
          <a:prstGeom prst="roundRect">
            <a:avLst>
              <a:gd name="adj" fmla="val 3529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1"/>
          <p:cNvSpPr/>
          <p:nvPr/>
        </p:nvSpPr>
        <p:spPr>
          <a:xfrm>
            <a:off x="4937760" y="1600200"/>
            <a:ext cx="35658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Dedup DISTINCT ile mi, ROW_NUMBER ile mi? Neden fark eder?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msisdn formülünü koruyan bir test var mı?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Her test hangi hatayı yakalar? Hiçbir şey yakalamayan var mı?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SQL yorumlarında {{ ref() }} var mı?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A4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Staging'i tamamla: subscribers · recharges · plans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3"/>
          <p:cNvSpPr/>
          <p:nvPr/>
        </p:nvSpPr>
        <p:spPr>
          <a:xfrm>
            <a:off x="457200" y="89604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4"/>
          <p:cNvSpPr/>
          <p:nvPr/>
        </p:nvSpPr>
        <p:spPr>
          <a:xfrm>
            <a:off x="457200" y="89604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PROMPT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5"/>
          <p:cNvSpPr/>
          <p:nvPr/>
        </p:nvSpPr>
        <p:spPr>
          <a:xfrm>
            <a:off x="457200" y="1188720"/>
            <a:ext cx="8229240" cy="1618200"/>
          </a:xfrm>
          <a:prstGeom prst="roundRect">
            <a:avLst>
              <a:gd name="adj" fmla="val 6780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6"/>
          <p:cNvSpPr/>
          <p:nvPr/>
        </p:nvSpPr>
        <p:spPr>
          <a:xfrm>
            <a:off x="594360" y="1261800"/>
            <a:ext cx="7954920" cy="147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Agent: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models/staging/stg_subscribers.sql'i instructions'a göre düzelt: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- msisdn: '+90' || right(regexp_replace(msisdn,'\D','','g'), 10)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- status: upper(trim(status)) in ('ACTIVE','AKTIF') → 'ACTIVE'; diğerleri upper(trim(status))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- rn = 1 ile satır SİLME; is_current_record = (rn = 1) kolonu ekle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- schema.yml: unique msisdn kaldır → dbt_utils.unique_combination_of_columns [msisdn, subscriber_id];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status accepted_values [ACTIVE, SUSPENDED, CHURNED]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Sonra /stg-model recharges ve /stg-model plans. Hepsini run + test et.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7"/>
          <p:cNvSpPr/>
          <p:nvPr/>
        </p:nvSpPr>
        <p:spPr>
          <a:xfrm>
            <a:off x="457200" y="297180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8"/>
          <p:cNvSpPr/>
          <p:nvPr/>
        </p:nvSpPr>
        <p:spPr>
          <a:xfrm>
            <a:off x="457200" y="297180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BEKLENEN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9"/>
          <p:cNvSpPr/>
          <p:nvPr/>
        </p:nvSpPr>
        <p:spPr>
          <a:xfrm>
            <a:off x="457200" y="3264480"/>
            <a:ext cx="8229240" cy="1307160"/>
          </a:xfrm>
          <a:prstGeom prst="roundRect">
            <a:avLst>
              <a:gd name="adj" fmla="val 8392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10"/>
          <p:cNvSpPr/>
          <p:nvPr/>
        </p:nvSpPr>
        <p:spPr>
          <a:xfrm>
            <a:off x="640080" y="3355920"/>
            <a:ext cx="7863480" cy="11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stg_subscribers: is_current_record boolean, eski kayıtlar duruyor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stg_recharges: E.164 + upper(channel); join YOK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stg_plans: 8 satır, sadece kolon geçirme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sources.yml: 8 tablo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A4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Test et, kendine sor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3"/>
          <p:cNvSpPr/>
          <p:nvPr/>
        </p:nvSpPr>
        <p:spPr>
          <a:xfrm>
            <a:off x="457200" y="77724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Staging'i tamamla: subscribers · recharges · plans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4"/>
          <p:cNvSpPr/>
          <p:nvPr/>
        </p:nvSpPr>
        <p:spPr>
          <a:xfrm>
            <a:off x="457200" y="11887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5"/>
          <p:cNvSpPr/>
          <p:nvPr/>
        </p:nvSpPr>
        <p:spPr>
          <a:xfrm>
            <a:off x="457200" y="11887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6"/>
          <p:cNvSpPr/>
          <p:nvPr/>
        </p:nvSpPr>
        <p:spPr>
          <a:xfrm>
            <a:off x="457200" y="1481400"/>
            <a:ext cx="3931560" cy="3108600"/>
          </a:xfrm>
          <a:prstGeom prst="roundRect">
            <a:avLst>
              <a:gd name="adj" fmla="val 352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7"/>
          <p:cNvSpPr/>
          <p:nvPr/>
        </p:nvSpPr>
        <p:spPr>
          <a:xfrm>
            <a:off x="640080" y="1600200"/>
            <a:ext cx="35658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select count(*), count(distinct msisdn), count(*) filter (where is_current_record), count(*) filter (where is_current_record and status='ACTIVE') from silver.stg_subscribers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→ 10150 / 10000 / 10000 / 8242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select count(*), sum(amount_try) from silver.stg_recharges → 60000 / 12166907.43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8"/>
          <p:cNvSpPr/>
          <p:nvPr/>
        </p:nvSpPr>
        <p:spPr>
          <a:xfrm>
            <a:off x="4754880" y="11887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9"/>
          <p:cNvSpPr/>
          <p:nvPr/>
        </p:nvSpPr>
        <p:spPr>
          <a:xfrm>
            <a:off x="4754880" y="11887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SOR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10"/>
          <p:cNvSpPr/>
          <p:nvPr/>
        </p:nvSpPr>
        <p:spPr>
          <a:xfrm>
            <a:off x="4754880" y="1481400"/>
            <a:ext cx="3931560" cy="3108600"/>
          </a:xfrm>
          <a:prstGeom prst="roundRect">
            <a:avLst>
              <a:gd name="adj" fmla="val 3529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1"/>
          <p:cNvSpPr/>
          <p:nvPr/>
        </p:nvSpPr>
        <p:spPr>
          <a:xfrm>
            <a:off x="4937760" y="1600200"/>
            <a:ext cx="35658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msisdn '+90' ile mi başlıyor?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SUSPENDED ve CHURNED ayrı kaldı mı?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Eski abone kayıtları hâlâ tabloda mı?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Staging modellerinde join var mı?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A5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Dimension'lar: dim_plan, dim_date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3"/>
          <p:cNvSpPr/>
          <p:nvPr/>
        </p:nvSpPr>
        <p:spPr>
          <a:xfrm>
            <a:off x="457200" y="89604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4"/>
          <p:cNvSpPr/>
          <p:nvPr/>
        </p:nvSpPr>
        <p:spPr>
          <a:xfrm>
            <a:off x="457200" y="89604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PROMPT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5"/>
          <p:cNvSpPr/>
          <p:nvPr/>
        </p:nvSpPr>
        <p:spPr>
          <a:xfrm>
            <a:off x="457200" y="1188720"/>
            <a:ext cx="8229240" cy="1270800"/>
          </a:xfrm>
          <a:prstGeom prst="roundRect">
            <a:avLst>
              <a:gd name="adj" fmla="val 8633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6"/>
          <p:cNvSpPr/>
          <p:nvPr/>
        </p:nvSpPr>
        <p:spPr>
          <a:xfrm>
            <a:off x="594360" y="1261800"/>
            <a:ext cx="7954920" cy="11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Agent: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models/marts altına dim_plan.sql (stg_plans'tan, ref()) ve dim_date.sql (2026-01-01..2027-12-31,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generate_series ile; date_day, iso_weekday, is_weekend, year_month) yaz. schema.yml'e unique/not_null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testleri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ekle. dbt run --select dim_plan dim_date --profiles-dir . &amp;&amp; dbt test --select dim_plan dim_date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--profiles-dir 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7"/>
          <p:cNvSpPr/>
          <p:nvPr/>
        </p:nvSpPr>
        <p:spPr>
          <a:xfrm>
            <a:off x="457200" y="262440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8"/>
          <p:cNvSpPr/>
          <p:nvPr/>
        </p:nvSpPr>
        <p:spPr>
          <a:xfrm>
            <a:off x="457200" y="262440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BEKLENEN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9"/>
          <p:cNvSpPr/>
          <p:nvPr/>
        </p:nvSpPr>
        <p:spPr>
          <a:xfrm>
            <a:off x="457200" y="2917080"/>
            <a:ext cx="8229240" cy="1654560"/>
          </a:xfrm>
          <a:prstGeom prst="roundRect">
            <a:avLst>
              <a:gd name="adj" fmla="val 663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10"/>
          <p:cNvSpPr/>
          <p:nvPr/>
        </p:nvSpPr>
        <p:spPr>
          <a:xfrm>
            <a:off x="640080" y="3008520"/>
            <a:ext cx="7863480" cy="147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gold şemasında iki tablo (generate_schema_name çalıştı)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dim_date 730 satır, date_day unique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ref('stg_plans') — source() değil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A5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Test et, kendine sor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3"/>
          <p:cNvSpPr/>
          <p:nvPr/>
        </p:nvSpPr>
        <p:spPr>
          <a:xfrm>
            <a:off x="457200" y="77724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Dimension'lar: dim_plan, dim_date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4"/>
          <p:cNvSpPr/>
          <p:nvPr/>
        </p:nvSpPr>
        <p:spPr>
          <a:xfrm>
            <a:off x="457200" y="11887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5"/>
          <p:cNvSpPr/>
          <p:nvPr/>
        </p:nvSpPr>
        <p:spPr>
          <a:xfrm>
            <a:off x="457200" y="11887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6"/>
          <p:cNvSpPr/>
          <p:nvPr/>
        </p:nvSpPr>
        <p:spPr>
          <a:xfrm>
            <a:off x="457200" y="1481400"/>
            <a:ext cx="3931560" cy="3108600"/>
          </a:xfrm>
          <a:prstGeom prst="roundRect">
            <a:avLst>
              <a:gd name="adj" fmla="val 352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7"/>
          <p:cNvSpPr/>
          <p:nvPr/>
        </p:nvSpPr>
        <p:spPr>
          <a:xfrm>
            <a:off x="640080" y="1600200"/>
            <a:ext cx="35658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dbt show --inline "select count(*), min(date_day), max(date_day) from gold.dim_date" --profiles-dir .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→ 730 / 2026-01-01 / 2027-12-31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select * from gold.dim_plan → 8 satır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8"/>
          <p:cNvSpPr/>
          <p:nvPr/>
        </p:nvSpPr>
        <p:spPr>
          <a:xfrm>
            <a:off x="4754880" y="11887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9"/>
          <p:cNvSpPr/>
          <p:nvPr/>
        </p:nvSpPr>
        <p:spPr>
          <a:xfrm>
            <a:off x="4754880" y="11887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SOR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10"/>
          <p:cNvSpPr/>
          <p:nvPr/>
        </p:nvSpPr>
        <p:spPr>
          <a:xfrm>
            <a:off x="4754880" y="1481400"/>
            <a:ext cx="3931560" cy="3108600"/>
          </a:xfrm>
          <a:prstGeom prst="roundRect">
            <a:avLst>
              <a:gd name="adj" fmla="val 3529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11"/>
          <p:cNvSpPr/>
          <p:nvPr/>
        </p:nvSpPr>
        <p:spPr>
          <a:xfrm>
            <a:off x="4937760" y="1600200"/>
            <a:ext cx="35658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Tablolar hangi şemada oluştu?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dim_date view mi, table mı?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dim_plan source() mı, ref() mi kullanıyor?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A6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SCD Type 2: snapshot + dim_subscriber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3"/>
          <p:cNvSpPr/>
          <p:nvPr/>
        </p:nvSpPr>
        <p:spPr>
          <a:xfrm>
            <a:off x="457200" y="89604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4"/>
          <p:cNvSpPr/>
          <p:nvPr/>
        </p:nvSpPr>
        <p:spPr>
          <a:xfrm>
            <a:off x="457200" y="89604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PROMPT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5"/>
          <p:cNvSpPr/>
          <p:nvPr/>
        </p:nvSpPr>
        <p:spPr>
          <a:xfrm>
            <a:off x="457200" y="1188720"/>
            <a:ext cx="8229240" cy="1618200"/>
          </a:xfrm>
          <a:prstGeom prst="roundRect">
            <a:avLst>
              <a:gd name="adj" fmla="val 6780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6"/>
          <p:cNvSpPr/>
          <p:nvPr/>
        </p:nvSpPr>
        <p:spPr>
          <a:xfrm>
            <a:off x="594360" y="1261800"/>
            <a:ext cx="7954920" cy="147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Agent: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snapshots/snap_subscriber_plan.sql: kaynak stg_subscribers where is_current_record, unique_key msisdn,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strategy check, check_cols [plan_id, status, segment, city], target_schema snapshots.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models/marts/dim_subscriber.sql: snapshot'tan subscriber_sk =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dbt_utils.generate_surrogate_key(['msisdn',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'dbt_valid_from']), msisdn, plan_id, status, segment, city, valid_from, valid_to, is_current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(dbt_valid_to is null).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dbt snapshot --profiles-dir . &amp;&amp; dbt run --select dim_subscriber --profiles-dir 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7"/>
          <p:cNvSpPr/>
          <p:nvPr/>
        </p:nvSpPr>
        <p:spPr>
          <a:xfrm>
            <a:off x="457200" y="297180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8"/>
          <p:cNvSpPr/>
          <p:nvPr/>
        </p:nvSpPr>
        <p:spPr>
          <a:xfrm>
            <a:off x="457200" y="297180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BEKLENEN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9"/>
          <p:cNvSpPr/>
          <p:nvPr/>
        </p:nvSpPr>
        <p:spPr>
          <a:xfrm>
            <a:off x="457200" y="3264480"/>
            <a:ext cx="8229240" cy="1307160"/>
          </a:xfrm>
          <a:prstGeom prst="roundRect">
            <a:avLst>
              <a:gd name="adj" fmla="val 8392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10"/>
          <p:cNvSpPr/>
          <p:nvPr/>
        </p:nvSpPr>
        <p:spPr>
          <a:xfrm>
            <a:off x="640080" y="3355920"/>
            <a:ext cx="7863480" cy="11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snapshots.snap_subscriber_plan: 10000 satır, dbt_valid_to hepsi null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gold.dim_subscriber: valid_from/valid_to/is_current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Sonra canlı değişim: bir aboneyi P06 → P05 yap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A6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Test et, kendine sor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3"/>
          <p:cNvSpPr/>
          <p:nvPr/>
        </p:nvSpPr>
        <p:spPr>
          <a:xfrm>
            <a:off x="457200" y="77724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SCD Type 2: snapshot + dim_subscriber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4"/>
          <p:cNvSpPr/>
          <p:nvPr/>
        </p:nvSpPr>
        <p:spPr>
          <a:xfrm>
            <a:off x="457200" y="11887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5"/>
          <p:cNvSpPr/>
          <p:nvPr/>
        </p:nvSpPr>
        <p:spPr>
          <a:xfrm>
            <a:off x="457200" y="11887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6"/>
          <p:cNvSpPr/>
          <p:nvPr/>
        </p:nvSpPr>
        <p:spPr>
          <a:xfrm>
            <a:off x="457200" y="1481400"/>
            <a:ext cx="3931560" cy="3108600"/>
          </a:xfrm>
          <a:prstGeom prst="roundRect">
            <a:avLst>
              <a:gd name="adj" fmla="val 352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7"/>
          <p:cNvSpPr/>
          <p:nvPr/>
        </p:nvSpPr>
        <p:spPr>
          <a:xfrm>
            <a:off x="640080" y="1600200"/>
            <a:ext cx="35658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DuckDB CLI / DBeaver: update raw.subscribers set plan_id='P05' where msisdn = (select msisdn from raw.subscribers where plan_id='P06' limit 1)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dbt run --select stg_subscribers --profiles-dir . &amp;&amp; dbt snapshot --profiles-dir .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select msisdn, plan_id, valid_from, valid_to, is_current from gold.dim_subscriber where msisdn='…' → İKİ satır: eski valid_to dolu, yeni is_current=true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8"/>
          <p:cNvSpPr/>
          <p:nvPr/>
        </p:nvSpPr>
        <p:spPr>
          <a:xfrm>
            <a:off x="4754880" y="11887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9"/>
          <p:cNvSpPr/>
          <p:nvPr/>
        </p:nvSpPr>
        <p:spPr>
          <a:xfrm>
            <a:off x="4754880" y="11887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SOR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10"/>
          <p:cNvSpPr/>
          <p:nvPr/>
        </p:nvSpPr>
        <p:spPr>
          <a:xfrm>
            <a:off x="4754880" y="1481400"/>
            <a:ext cx="3931560" cy="3108600"/>
          </a:xfrm>
          <a:prstGeom prst="roundRect">
            <a:avLst>
              <a:gd name="adj" fmla="val 3529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1"/>
          <p:cNvSpPr/>
          <p:nvPr/>
        </p:nvSpPr>
        <p:spPr>
          <a:xfrm>
            <a:off x="4937760" y="1600200"/>
            <a:ext cx="35658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Snapshot kaynağında unique_key gerçekten tekil mi?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Fact → dim join'i hangi koşulla yapılmalı: is_current mı, tarih aralığı mı?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Snapshot hangi şemaya yazdı?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A7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fct_daily_usage — önce tam tablo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3"/>
          <p:cNvSpPr/>
          <p:nvPr/>
        </p:nvSpPr>
        <p:spPr>
          <a:xfrm>
            <a:off x="457200" y="89604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4"/>
          <p:cNvSpPr/>
          <p:nvPr/>
        </p:nvSpPr>
        <p:spPr>
          <a:xfrm>
            <a:off x="457200" y="89604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PROMPT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5"/>
          <p:cNvSpPr/>
          <p:nvPr/>
        </p:nvSpPr>
        <p:spPr>
          <a:xfrm>
            <a:off x="457200" y="1188720"/>
            <a:ext cx="8229240" cy="1444320"/>
          </a:xfrm>
          <a:prstGeom prst="roundRect">
            <a:avLst>
              <a:gd name="adj" fmla="val 7595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6"/>
          <p:cNvSpPr/>
          <p:nvPr/>
        </p:nvSpPr>
        <p:spPr>
          <a:xfrm>
            <a:off x="594360" y="1261800"/>
            <a:ext cx="7954920" cy="12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Agent: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models/marts/fct_daily_usage.sql yaz (materialized table). Grain: msisdn × usage_date.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Kaynak: stg_cdr_events (sadece is_valid_event_type) ve stg_recharges; günlük toplanır,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FULL OUTER JOIN ile birleşir. Kolonlar: voice_minutes, sms_count, data_mb, recharge_try,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event_count, max_ingested_at. Yükleme olan ama CDR olmayan günler de satır olsun.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schema.yml: unique_combination (msisdn, usage_date), not_null, voice_minutes 0–1440.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dbt run --select fct_daily_usage --profiles-dir . &amp;&amp; dbt test --select fct_daily_usage --profiles-dir 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7"/>
          <p:cNvSpPr/>
          <p:nvPr/>
        </p:nvSpPr>
        <p:spPr>
          <a:xfrm>
            <a:off x="457200" y="27979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8"/>
          <p:cNvSpPr/>
          <p:nvPr/>
        </p:nvSpPr>
        <p:spPr>
          <a:xfrm>
            <a:off x="457200" y="27979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BEKLENEN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9"/>
          <p:cNvSpPr/>
          <p:nvPr/>
        </p:nvSpPr>
        <p:spPr>
          <a:xfrm>
            <a:off x="457200" y="3090600"/>
            <a:ext cx="8229240" cy="1481040"/>
          </a:xfrm>
          <a:prstGeom prst="roundRect">
            <a:avLst>
              <a:gd name="adj" fmla="val 7407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0"/>
          <p:cNvSpPr/>
          <p:nvPr/>
        </p:nvSpPr>
        <p:spPr>
          <a:xfrm>
            <a:off x="640080" y="3182040"/>
            <a:ext cx="7863480" cy="12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gold.fct_daily_usage, kolonlar tam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unique_combination testi PASS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Yükleme-only günler satır olarak var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A7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Test et, kendine sor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3"/>
          <p:cNvSpPr/>
          <p:nvPr/>
        </p:nvSpPr>
        <p:spPr>
          <a:xfrm>
            <a:off x="457200" y="77724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fct_daily_usage — önce tam tablo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4"/>
          <p:cNvSpPr/>
          <p:nvPr/>
        </p:nvSpPr>
        <p:spPr>
          <a:xfrm>
            <a:off x="457200" y="11887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5"/>
          <p:cNvSpPr/>
          <p:nvPr/>
        </p:nvSpPr>
        <p:spPr>
          <a:xfrm>
            <a:off x="457200" y="11887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6"/>
          <p:cNvSpPr/>
          <p:nvPr/>
        </p:nvSpPr>
        <p:spPr>
          <a:xfrm>
            <a:off x="457200" y="1481400"/>
            <a:ext cx="3931560" cy="3108600"/>
          </a:xfrm>
          <a:prstGeom prst="roundRect">
            <a:avLst>
              <a:gd name="adj" fmla="val 352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7"/>
          <p:cNvSpPr/>
          <p:nvPr/>
        </p:nvSpPr>
        <p:spPr>
          <a:xfrm>
            <a:off x="640080" y="1600200"/>
            <a:ext cx="35658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dbt show --inline "select sum(recharge_try) from gold.fct_daily_usage" --profiles-dir .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→ 12166907.43  (= stg_recharges toplamı)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Eşit değilse Copilot yükleme-only günleri düşürdü (LEFT JOIN usage'dan)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Shape 8"/>
          <p:cNvSpPr/>
          <p:nvPr/>
        </p:nvSpPr>
        <p:spPr>
          <a:xfrm>
            <a:off x="4754880" y="11887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9"/>
          <p:cNvSpPr/>
          <p:nvPr/>
        </p:nvSpPr>
        <p:spPr>
          <a:xfrm>
            <a:off x="4754880" y="11887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SOR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10"/>
          <p:cNvSpPr/>
          <p:nvPr/>
        </p:nvSpPr>
        <p:spPr>
          <a:xfrm>
            <a:off x="4754880" y="1481400"/>
            <a:ext cx="3931560" cy="3108600"/>
          </a:xfrm>
          <a:prstGeom prst="roundRect">
            <a:avLst>
              <a:gd name="adj" fmla="val 3529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11"/>
          <p:cNvSpPr/>
          <p:nvPr/>
        </p:nvSpPr>
        <p:spPr>
          <a:xfrm>
            <a:off x="4937760" y="1600200"/>
            <a:ext cx="35658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sum(recharge_try) staging toplamına eşit mi? Değilse hangi join?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voice_minutes'ta tam sayı bölmesi var mı?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data_mb hangi sabite bölünüyor?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A8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Incremental'a çevir — en önemli 40 dakika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3"/>
          <p:cNvSpPr/>
          <p:nvPr/>
        </p:nvSpPr>
        <p:spPr>
          <a:xfrm>
            <a:off x="457200" y="89604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4"/>
          <p:cNvSpPr/>
          <p:nvPr/>
        </p:nvSpPr>
        <p:spPr>
          <a:xfrm>
            <a:off x="457200" y="89604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PROMPT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5"/>
          <p:cNvSpPr/>
          <p:nvPr/>
        </p:nvSpPr>
        <p:spPr>
          <a:xfrm>
            <a:off x="457200" y="1188720"/>
            <a:ext cx="8229240" cy="1618200"/>
          </a:xfrm>
          <a:prstGeom prst="roundRect">
            <a:avLst>
              <a:gd name="adj" fmla="val 6780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6"/>
          <p:cNvSpPr/>
          <p:nvPr/>
        </p:nvSpPr>
        <p:spPr>
          <a:xfrm>
            <a:off x="594360" y="1261800"/>
            <a:ext cx="7954920" cy="147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Agent: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fct_daily_usage'ı incremental yap: unique_key [msisdn, usage_date], strategy delete+insert.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Watermark: {{ this }} üzerinden coalesce(max(max_ingested_at), max(recharge_ts))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eksi var('lookback_days', 3) gün; now() KULLANMA.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Geç gelen olaylardan etkilenen (msisdn, usage_date) çiftlerini bul (affected_days CTE)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ve o günlerin TÜM olaylarını yeniden topla.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var('start_date') / var('end_date') ile backfill. Model başında 5 satır yorum: strateji gerekçesi.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dbt run --select fct_daily_usage --profiles-dir .   (ilk run full)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7"/>
          <p:cNvSpPr/>
          <p:nvPr/>
        </p:nvSpPr>
        <p:spPr>
          <a:xfrm>
            <a:off x="457200" y="297180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8"/>
          <p:cNvSpPr/>
          <p:nvPr/>
        </p:nvSpPr>
        <p:spPr>
          <a:xfrm>
            <a:off x="457200" y="297180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BEKLENEN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9"/>
          <p:cNvSpPr/>
          <p:nvPr/>
        </p:nvSpPr>
        <p:spPr>
          <a:xfrm>
            <a:off x="457200" y="3264480"/>
            <a:ext cx="8229240" cy="1307160"/>
          </a:xfrm>
          <a:prstGeom prst="roundRect">
            <a:avLst>
              <a:gd name="adj" fmla="val 8392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10"/>
          <p:cNvSpPr/>
          <p:nvPr/>
        </p:nvSpPr>
        <p:spPr>
          <a:xfrm>
            <a:off x="640080" y="3355920"/>
            <a:ext cx="7863480" cy="11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config(materialized='incremental', unique_key=[...], incremental_strategy='delete+insert')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is_incremental() bloğu, watermark ingested_at'ten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affected_days CTE → tam gün yeniden hesap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Backfill: --vars '{start_date: 2026-08-01, end_date: 2026-08-31}'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A8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Test et, kendine sor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3"/>
          <p:cNvSpPr/>
          <p:nvPr/>
        </p:nvSpPr>
        <p:spPr>
          <a:xfrm>
            <a:off x="457200" y="77724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Incremental'a çevir — en önemli 40 dakika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4"/>
          <p:cNvSpPr/>
          <p:nvPr/>
        </p:nvSpPr>
        <p:spPr>
          <a:xfrm>
            <a:off x="457200" y="11887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5"/>
          <p:cNvSpPr/>
          <p:nvPr/>
        </p:nvSpPr>
        <p:spPr>
          <a:xfrm>
            <a:off x="457200" y="11887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Shape 6"/>
          <p:cNvSpPr/>
          <p:nvPr/>
        </p:nvSpPr>
        <p:spPr>
          <a:xfrm>
            <a:off x="457200" y="1481400"/>
            <a:ext cx="3931560" cy="3108600"/>
          </a:xfrm>
          <a:prstGeom prst="roundRect">
            <a:avLst>
              <a:gd name="adj" fmla="val 352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7"/>
          <p:cNvSpPr/>
          <p:nvPr/>
        </p:nvSpPr>
        <p:spPr>
          <a:xfrm>
            <a:off x="640080" y="1600200"/>
            <a:ext cx="35658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sql/inject_late_cdr.sql: 15 Ağustos'a ait, ingested_at=now() olan 1 voice CDR ekle (DuckDB CLI)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ÖNCE event_count 19 → dbt run → 20, voice +2, recharge_try AYNI, toplam satır AYNI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Tekrar dbt run → hiçbir şey değişmedi (idempotent)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8"/>
          <p:cNvSpPr/>
          <p:nvPr/>
        </p:nvSpPr>
        <p:spPr>
          <a:xfrm>
            <a:off x="4754880" y="11887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9"/>
          <p:cNvSpPr/>
          <p:nvPr/>
        </p:nvSpPr>
        <p:spPr>
          <a:xfrm>
            <a:off x="4754880" y="11887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SOR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10"/>
          <p:cNvSpPr/>
          <p:nvPr/>
        </p:nvSpPr>
        <p:spPr>
          <a:xfrm>
            <a:off x="4754880" y="1481400"/>
            <a:ext cx="3931560" cy="3108600"/>
          </a:xfrm>
          <a:prstGeom prst="roundRect">
            <a:avLst>
              <a:gd name="adj" fmla="val 3529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11"/>
          <p:cNvSpPr/>
          <p:nvPr/>
        </p:nvSpPr>
        <p:spPr>
          <a:xfrm>
            <a:off x="4937760" y="1600200"/>
            <a:ext cx="35658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Watermark hangi kolondan alınıyor?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Geç gelen bir olaydan sonra gün toplamı ne oldu: 20 mi, 1 mi?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Watermark hesabında now() var mı?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İki kez çalıştırınca sonuç değişiyor mu?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A9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Tutarlılık testi ve lineage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3"/>
          <p:cNvSpPr/>
          <p:nvPr/>
        </p:nvSpPr>
        <p:spPr>
          <a:xfrm>
            <a:off x="457200" y="89604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4"/>
          <p:cNvSpPr/>
          <p:nvPr/>
        </p:nvSpPr>
        <p:spPr>
          <a:xfrm>
            <a:off x="457200" y="89604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PROMPT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5"/>
          <p:cNvSpPr/>
          <p:nvPr/>
        </p:nvSpPr>
        <p:spPr>
          <a:xfrm>
            <a:off x="457200" y="1188720"/>
            <a:ext cx="8229240" cy="1096920"/>
          </a:xfrm>
          <a:prstGeom prst="roundRect">
            <a:avLst>
              <a:gd name="adj" fmla="val 10000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6"/>
          <p:cNvSpPr/>
          <p:nvPr/>
        </p:nvSpPr>
        <p:spPr>
          <a:xfrm>
            <a:off x="594360" y="1261800"/>
            <a:ext cx="7954920" cy="95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/dbt-tests  →  model: fct_daily_usage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(ya da Agent: tests/assert_fct_recharge_matches_staging.sql — mart sum(recharge_try) ile staging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sum(amount_try)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farkı %0.01'i aşarsa satır döndür; severity error. dbt test --profiles-dir . ; dbt docs generate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 --profiles-dir .)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7"/>
          <p:cNvSpPr/>
          <p:nvPr/>
        </p:nvSpPr>
        <p:spPr>
          <a:xfrm>
            <a:off x="457200" y="24505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8"/>
          <p:cNvSpPr/>
          <p:nvPr/>
        </p:nvSpPr>
        <p:spPr>
          <a:xfrm>
            <a:off x="457200" y="24505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BEKLENEN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Shape 9"/>
          <p:cNvSpPr/>
          <p:nvPr/>
        </p:nvSpPr>
        <p:spPr>
          <a:xfrm>
            <a:off x="457200" y="2743200"/>
            <a:ext cx="8229240" cy="1828440"/>
          </a:xfrm>
          <a:prstGeom prst="roundRect">
            <a:avLst>
              <a:gd name="adj" fmla="val 6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10"/>
          <p:cNvSpPr/>
          <p:nvPr/>
        </p:nvSpPr>
        <p:spPr>
          <a:xfrm>
            <a:off x="640080" y="2834640"/>
            <a:ext cx="786348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tests/assert_fct_recharge_matches_staging.sql (singular)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dbt test: tüm testler PASS, sayı 25+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dbt docs generate → target/catalog.json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A9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Test et, kendine sor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3"/>
          <p:cNvSpPr/>
          <p:nvPr/>
        </p:nvSpPr>
        <p:spPr>
          <a:xfrm>
            <a:off x="457200" y="77724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Tutarlılık testi ve lineage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4"/>
          <p:cNvSpPr/>
          <p:nvPr/>
        </p:nvSpPr>
        <p:spPr>
          <a:xfrm>
            <a:off x="457200" y="11887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5"/>
          <p:cNvSpPr/>
          <p:nvPr/>
        </p:nvSpPr>
        <p:spPr>
          <a:xfrm>
            <a:off x="457200" y="11887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6"/>
          <p:cNvSpPr/>
          <p:nvPr/>
        </p:nvSpPr>
        <p:spPr>
          <a:xfrm>
            <a:off x="457200" y="1481400"/>
            <a:ext cx="3931560" cy="3108600"/>
          </a:xfrm>
          <a:prstGeom prst="roundRect">
            <a:avLst>
              <a:gd name="adj" fmla="val 352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7"/>
          <p:cNvSpPr/>
          <p:nvPr/>
        </p:nvSpPr>
        <p:spPr>
          <a:xfrm>
            <a:off x="640080" y="1600200"/>
            <a:ext cx="35658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dbt test --profiles-dir . → PASS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dbt docs serve --profiles-dir . → lineage: raw → stg → snap → dim / fct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Gold tamam: Airflow'un çalıştıracağı şey artık var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8"/>
          <p:cNvSpPr/>
          <p:nvPr/>
        </p:nvSpPr>
        <p:spPr>
          <a:xfrm>
            <a:off x="4754880" y="11887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9"/>
          <p:cNvSpPr/>
          <p:nvPr/>
        </p:nvSpPr>
        <p:spPr>
          <a:xfrm>
            <a:off x="4754880" y="11887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SOR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Shape 10"/>
          <p:cNvSpPr/>
          <p:nvPr/>
        </p:nvSpPr>
        <p:spPr>
          <a:xfrm>
            <a:off x="4754880" y="1481400"/>
            <a:ext cx="3931560" cy="3108600"/>
          </a:xfrm>
          <a:prstGeom prst="roundRect">
            <a:avLst>
              <a:gd name="adj" fmla="val 3529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11"/>
          <p:cNvSpPr/>
          <p:nvPr/>
        </p:nvSpPr>
        <p:spPr>
          <a:xfrm>
            <a:off x="4937760" y="1600200"/>
            <a:ext cx="35658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Test severity error mu, warn mu? Neden?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Tolerans var mı?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Lineage'da bağlantısız kalan model var mı?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Text 0"/>
          <p:cNvSpPr/>
          <p:nvPr/>
        </p:nvSpPr>
        <p:spPr>
          <a:xfrm>
            <a:off x="548640" y="137160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201" strike="noStrike" u="none">
                <a:solidFill>
                  <a:srgbClr val="4fc3f7"/>
                </a:solidFill>
                <a:effectLst/>
                <a:uFillTx/>
                <a:latin typeface="Calibri"/>
                <a:ea typeface="Calibri"/>
              </a:rPr>
              <a:t>GÜN 2 · 11:00 · BLOK B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1"/>
          <p:cNvSpPr/>
          <p:nvPr/>
        </p:nvSpPr>
        <p:spPr>
          <a:xfrm>
            <a:off x="548640" y="1783080"/>
            <a:ext cx="80463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Airflow — orkestra şefi</a:t>
            </a:r>
            <a:endParaRPr b="0" lang="tr-TR" sz="3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2"/>
          <p:cNvSpPr/>
          <p:nvPr/>
        </p:nvSpPr>
        <p:spPr>
          <a:xfrm>
            <a:off x="548640" y="2880360"/>
            <a:ext cx="804636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Enstrüman çalmaz; kimin ne zaman çalacağını söyler. Herkes DAG'ı yazar ve denetletir; çalıştırmayı Docker'ı olan yapar.</a:t>
            </a:r>
            <a:endParaRPr b="0" lang="tr-TR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Orchestration ve DAG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1"/>
          <p:cNvSpPr/>
          <p:nvPr/>
        </p:nvSpPr>
        <p:spPr>
          <a:xfrm>
            <a:off x="457200" y="1005840"/>
            <a:ext cx="3931560" cy="2285640"/>
          </a:xfrm>
          <a:prstGeom prst="roundRect">
            <a:avLst>
              <a:gd name="adj" fmla="val 48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2"/>
          <p:cNvSpPr/>
          <p:nvPr/>
        </p:nvSpPr>
        <p:spPr>
          <a:xfrm>
            <a:off x="640080" y="109728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4fc3f7"/>
                </a:solidFill>
                <a:effectLst/>
                <a:uFillTx/>
                <a:latin typeface="Calibri"/>
                <a:ea typeface="Calibri"/>
              </a:rPr>
              <a:t>Ne yapar / ne yapmaz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3"/>
          <p:cNvSpPr/>
          <p:nvPr/>
        </p:nvSpPr>
        <p:spPr>
          <a:xfrm>
            <a:off x="640080" y="1508760"/>
            <a:ext cx="3565800" cy="169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Veri taşımaz, dönüştürmez, SQL çalıştırmaz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"03:00'te şunları şu sırayla yap; patlarsa 3 kez dene; hâlâ patlıyorsa sonrakini başlatma, haber ver"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İşçiler ayrı: yükleme task'ı, dbt run, dbt test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DAG = task'lar + oklar, döngü yok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Shape 4"/>
          <p:cNvSpPr/>
          <p:nvPr/>
        </p:nvSpPr>
        <p:spPr>
          <a:xfrm>
            <a:off x="4754880" y="1005840"/>
            <a:ext cx="3931560" cy="2285640"/>
          </a:xfrm>
          <a:prstGeom prst="roundRect">
            <a:avLst>
              <a:gd name="adj" fmla="val 4800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5"/>
          <p:cNvSpPr/>
          <p:nvPr/>
        </p:nvSpPr>
        <p:spPr>
          <a:xfrm>
            <a:off x="4937760" y="109728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Cron'dan farkı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6"/>
          <p:cNvSpPr/>
          <p:nvPr/>
        </p:nvSpPr>
        <p:spPr>
          <a:xfrm>
            <a:off x="4937760" y="1508760"/>
            <a:ext cx="3565800" cy="169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Dün çalıştı mı? Kaç retry? Hangi adımda patladı?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"Dosya geldi mi" (sensor), "yükleme bitmeden dbt'yi başlatma" (bağımlılık)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Dün patladı, bugün iki günü de işle (backfill)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Her koşunun kaydı, UI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Shape 7"/>
          <p:cNvSpPr/>
          <p:nvPr/>
        </p:nvSpPr>
        <p:spPr>
          <a:xfrm>
            <a:off x="457200" y="3429000"/>
            <a:ext cx="8229240" cy="1142640"/>
          </a:xfrm>
          <a:prstGeom prst="roundRect">
            <a:avLst>
              <a:gd name="adj" fmla="val 9600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8"/>
          <p:cNvSpPr/>
          <p:nvPr/>
        </p:nvSpPr>
        <p:spPr>
          <a:xfrm>
            <a:off x="640080" y="3429000"/>
            <a:ext cx="786348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Airflow "şimdi çalış" der, dbt "neyi işleyeceğimi watermark'tan bilirim" der. Airflow'un veriden, dbt'nin zamandan haberi yok; birlikte "her gece, sadece yeni veri, doğru sırayla". Streaming (Kafka consumer) Airflow'un işi değil: hep açık bir servis.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B1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Kurulum — üç profil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3"/>
          <p:cNvSpPr/>
          <p:nvPr/>
        </p:nvSpPr>
        <p:spPr>
          <a:xfrm>
            <a:off x="457200" y="914400"/>
            <a:ext cx="2742840" cy="3565800"/>
          </a:xfrm>
          <a:prstGeom prst="roundRect">
            <a:avLst>
              <a:gd name="adj" fmla="val 4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4"/>
          <p:cNvSpPr/>
          <p:nvPr/>
        </p:nvSpPr>
        <p:spPr>
          <a:xfrm>
            <a:off x="640080" y="1005840"/>
            <a:ext cx="2377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Docker'ı olan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5"/>
          <p:cNvSpPr/>
          <p:nvPr/>
        </p:nvSpPr>
        <p:spPr>
          <a:xfrm>
            <a:off x="640080" y="1417320"/>
            <a:ext cx="2377080" cy="29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0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git pull → docker-compose.yml'de day2 profili hazır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0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docker compose --profile day2 up -d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0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UI: localhost:8081 · şifre: docker compose logs airflow | grep -i password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0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Repo /opt/airflow/repo'ya mount; dbt-duckdb container'da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6"/>
          <p:cNvSpPr/>
          <p:nvPr/>
        </p:nvSpPr>
        <p:spPr>
          <a:xfrm>
            <a:off x="3246120" y="914400"/>
            <a:ext cx="2742840" cy="3565800"/>
          </a:xfrm>
          <a:prstGeom prst="roundRect">
            <a:avLst>
              <a:gd name="adj" fmla="val 4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7"/>
          <p:cNvSpPr/>
          <p:nvPr/>
        </p:nvSpPr>
        <p:spPr>
          <a:xfrm>
            <a:off x="3429000" y="1005840"/>
            <a:ext cx="2377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4fc3f7"/>
                </a:solidFill>
                <a:effectLst/>
                <a:uFillTx/>
                <a:latin typeface="Calibri"/>
                <a:ea typeface="Calibri"/>
              </a:rPr>
              <a:t>Mac, Docker yok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8"/>
          <p:cNvSpPr/>
          <p:nvPr/>
        </p:nvSpPr>
        <p:spPr>
          <a:xfrm>
            <a:off x="3429000" y="1417320"/>
            <a:ext cx="2377080" cy="29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0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python -m venv .venv-af &amp;&amp; source .venv-af/bin/activate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0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pip install "apache-airflow==2.10.4" dbt-duckdb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0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export AIRFLOW_HOME=$PWD/airflow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0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airflow standalone → localhost:8080, şifre terminalde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0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airflow dags test telco_daily_usage 2026-09-01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9"/>
          <p:cNvSpPr/>
          <p:nvPr/>
        </p:nvSpPr>
        <p:spPr>
          <a:xfrm>
            <a:off x="6035040" y="914400"/>
            <a:ext cx="2651400" cy="3565800"/>
          </a:xfrm>
          <a:prstGeom prst="roundRect">
            <a:avLst>
              <a:gd name="adj" fmla="val 4138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10"/>
          <p:cNvSpPr/>
          <p:nvPr/>
        </p:nvSpPr>
        <p:spPr>
          <a:xfrm>
            <a:off x="6217920" y="1005840"/>
            <a:ext cx="2285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Windows, Docker yok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11"/>
          <p:cNvSpPr/>
          <p:nvPr/>
        </p:nvSpPr>
        <p:spPr>
          <a:xfrm>
            <a:off x="6217920" y="1417320"/>
            <a:ext cx="2285640" cy="29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0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DAG'ı Copilot'a yazdır, reviewer'a denetlet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0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python -c "import ast; ast.parse(open('airflow/dags/telco_daily_usage.py').read())" → sözdizimi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0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Çalıştırmayı eğitmen ekranında izle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0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WSL varsa Mac adımları aynen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12"/>
          <p:cNvSpPr/>
          <p:nvPr/>
        </p:nvSpPr>
        <p:spPr>
          <a:xfrm>
            <a:off x="457200" y="46177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Amaç DAG yazmayı ve denetlemeyi öğrenmek; çalıştırmak tek ekranda görülse yeter.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B2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dag.prompt.md — kopyala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3"/>
          <p:cNvSpPr/>
          <p:nvPr/>
        </p:nvSpPr>
        <p:spPr>
          <a:xfrm>
            <a:off x="457200" y="8229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5b841"/>
                </a:solidFill>
                <a:effectLst/>
                <a:uFillTx/>
                <a:latin typeface="Courier New"/>
                <a:ea typeface="Courier New"/>
              </a:rPr>
              <a:t>.github/prompts/dag.prompt.md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4"/>
          <p:cNvSpPr/>
          <p:nvPr/>
        </p:nvSpPr>
        <p:spPr>
          <a:xfrm>
            <a:off x="457200" y="1143000"/>
            <a:ext cx="8229240" cy="3474360"/>
          </a:xfrm>
          <a:prstGeom prst="roundRect">
            <a:avLst>
              <a:gd name="adj" fmla="val 3158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5"/>
          <p:cNvSpPr/>
          <p:nvPr/>
        </p:nvSpPr>
        <p:spPr>
          <a:xfrm>
            <a:off x="594360" y="1234440"/>
            <a:ext cx="7954920" cy="32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f1f5f9"/>
                </a:solidFill>
                <a:effectLst/>
                <a:uFillTx/>
                <a:latin typeface="Courier New"/>
                <a:ea typeface="Courier New"/>
              </a:rPr>
              <a:t>---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f1f5f9"/>
                </a:solidFill>
                <a:effectLst/>
                <a:uFillTx/>
                <a:latin typeface="Courier New"/>
                <a:ea typeface="Courier New"/>
              </a:rPr>
              <a:t>mode: agent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f1f5f9"/>
                </a:solidFill>
                <a:effectLst/>
                <a:uFillTx/>
                <a:latin typeface="Courier New"/>
                <a:ea typeface="Courier New"/>
              </a:rPr>
              <a:t>description: "Airflow DAG üret — airflow.instructions.md kurallarıyla"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f1f5f9"/>
                </a:solidFill>
                <a:effectLst/>
                <a:uFillTx/>
                <a:latin typeface="Courier New"/>
                <a:ea typeface="Courier New"/>
              </a:rPr>
              <a:t>---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f1f5f9"/>
                </a:solidFill>
                <a:effectLst/>
                <a:uFillTx/>
                <a:latin typeface="Courier New"/>
                <a:ea typeface="Courier New"/>
              </a:rPr>
              <a:t>dag_id \${input:dag_id} için airflow/dags/\${input:dag_id}.py yaz. Amaç: \${input:goal}.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f1f5f9"/>
                </a:solidFill>
                <a:effectLst/>
                <a:uFillTx/>
                <a:latin typeface="Courier New"/>
                <a:ea typeface="Courier New"/>
              </a:rPr>
              <a:t>Zorunlu: TaskFlow API; sabit start_date; catchup=False; max_active_runs=1; default_args retries&gt;=3 + retry_exponential_backoff; sensor'ler mode='reschedule' + timeout; tarih {{ ds }}; şifre/bağlantı env veya conn_id; yükleme idempotent (DELETE+INSERT); dbt adımları BashOperator ile --project-dir/--profiles-dir; her task'a doc_md; DAG'a doc_md ve tags.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f1f5f9"/>
                </a:solidFill>
                <a:effectLst/>
                <a:uFillTx/>
                <a:latin typeface="Courier New"/>
                <a:ea typeface="Courier New"/>
              </a:rPr>
              <a:t>Bitince: airflow dags test \${input:dag_id} 2026-09-01 komutunu ver; hangi varsayımları yaptığını ve instructions'a eklenecek yeni kural varsa öner.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B2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/dag telco_daily_usage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Shape 3"/>
          <p:cNvSpPr/>
          <p:nvPr/>
        </p:nvSpPr>
        <p:spPr>
          <a:xfrm>
            <a:off x="457200" y="89604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4"/>
          <p:cNvSpPr/>
          <p:nvPr/>
        </p:nvSpPr>
        <p:spPr>
          <a:xfrm>
            <a:off x="457200" y="89604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PROMPT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5"/>
          <p:cNvSpPr/>
          <p:nvPr/>
        </p:nvSpPr>
        <p:spPr>
          <a:xfrm>
            <a:off x="457200" y="1188720"/>
            <a:ext cx="8229240" cy="1618200"/>
          </a:xfrm>
          <a:prstGeom prst="roundRect">
            <a:avLst>
              <a:gd name="adj" fmla="val 6780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6"/>
          <p:cNvSpPr/>
          <p:nvPr/>
        </p:nvSpPr>
        <p:spPr>
          <a:xfrm>
            <a:off x="594360" y="1261800"/>
            <a:ext cx="7954920" cy="147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/dag  →  dag_id: telco_daily_usage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       goal: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her gece 03:00'te data/incoming/cdr_{{ ds }}.csv dosyasını bekle;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raw.cdr_events'e idempotent yükle (ds gününü DELETE + INSERT);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satır sayısı ve duplicate oranını doğrula;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dbt run staging → dbt test → dbt snapshot → dbt run marts → dbt test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(--project-dir/--profiles-dir ile; DuckDB yolu env DUCKDB_PATH'ten).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airflow.instructions.md'deki zorunlu argümanların hepsi.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Shape 7"/>
          <p:cNvSpPr/>
          <p:nvPr/>
        </p:nvSpPr>
        <p:spPr>
          <a:xfrm>
            <a:off x="457200" y="297180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8"/>
          <p:cNvSpPr/>
          <p:nvPr/>
        </p:nvSpPr>
        <p:spPr>
          <a:xfrm>
            <a:off x="457200" y="297180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BEKLENEN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9"/>
          <p:cNvSpPr/>
          <p:nvPr/>
        </p:nvSpPr>
        <p:spPr>
          <a:xfrm>
            <a:off x="457200" y="3264480"/>
            <a:ext cx="8229240" cy="1307160"/>
          </a:xfrm>
          <a:prstGeom prst="roundRect">
            <a:avLst>
              <a:gd name="adj" fmla="val 8392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10"/>
          <p:cNvSpPr/>
          <p:nvPr/>
        </p:nvSpPr>
        <p:spPr>
          <a:xfrm>
            <a:off x="640080" y="3355920"/>
            <a:ext cx="7863480" cy="11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airflow/dags/telco_daily_usage.py: @dag, FileSensor(reschedule, timeout), load_raw_cdr, validate_raw, 5 BashOperator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catchup=False, sabit start_date, retries=3+backoff, max_active_runs=1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{{ ds }} ile gün; şifre yok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B2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Test et, kendine sor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3"/>
          <p:cNvSpPr/>
          <p:nvPr/>
        </p:nvSpPr>
        <p:spPr>
          <a:xfrm>
            <a:off x="457200" y="77724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/dag telco_daily_usage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Shape 4"/>
          <p:cNvSpPr/>
          <p:nvPr/>
        </p:nvSpPr>
        <p:spPr>
          <a:xfrm>
            <a:off x="457200" y="11887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5"/>
          <p:cNvSpPr/>
          <p:nvPr/>
        </p:nvSpPr>
        <p:spPr>
          <a:xfrm>
            <a:off x="457200" y="11887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6"/>
          <p:cNvSpPr/>
          <p:nvPr/>
        </p:nvSpPr>
        <p:spPr>
          <a:xfrm>
            <a:off x="457200" y="1481400"/>
            <a:ext cx="3931560" cy="3108600"/>
          </a:xfrm>
          <a:prstGeom prst="roundRect">
            <a:avLst>
              <a:gd name="adj" fmla="val 352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7"/>
          <p:cNvSpPr/>
          <p:nvPr/>
        </p:nvSpPr>
        <p:spPr>
          <a:xfrm>
            <a:off x="640080" y="1600200"/>
            <a:ext cx="35658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Docker: docker compose exec airflow airflow dags test telco_daily_usage 2026-09-01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Mac: airflow dags test telco_daily_usage 2026-09-01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Task'lar sırayla yeşil; UI'da Graph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Shape 8"/>
          <p:cNvSpPr/>
          <p:nvPr/>
        </p:nvSpPr>
        <p:spPr>
          <a:xfrm>
            <a:off x="4754880" y="11887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9"/>
          <p:cNvSpPr/>
          <p:nvPr/>
        </p:nvSpPr>
        <p:spPr>
          <a:xfrm>
            <a:off x="4754880" y="11887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SOR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Shape 10"/>
          <p:cNvSpPr/>
          <p:nvPr/>
        </p:nvSpPr>
        <p:spPr>
          <a:xfrm>
            <a:off x="4754880" y="1481400"/>
            <a:ext cx="3931560" cy="3108600"/>
          </a:xfrm>
          <a:prstGeom prst="roundRect">
            <a:avLst>
              <a:gd name="adj" fmla="val 3529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11"/>
          <p:cNvSpPr/>
          <p:nvPr/>
        </p:nvSpPr>
        <p:spPr>
          <a:xfrm>
            <a:off x="4937760" y="1600200"/>
            <a:ext cx="35658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catchup kaç? start_date sabit mi?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Sensor hangi modda, timeout var mı?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Tarih {{ ds }}'den mi geliyor?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Kodda şifre ya da bağlantı dizesi var mı?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B2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Review: dört tuzak + Copilot'un sık atladığı iki şey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Shape 3"/>
          <p:cNvSpPr/>
          <p:nvPr/>
        </p:nvSpPr>
        <p:spPr>
          <a:xfrm>
            <a:off x="457200" y="914400"/>
            <a:ext cx="8229240" cy="493560"/>
          </a:xfrm>
          <a:prstGeom prst="roundRect">
            <a:avLst>
              <a:gd name="adj" fmla="val 22222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Shape 4"/>
          <p:cNvSpPr/>
          <p:nvPr/>
        </p:nvSpPr>
        <p:spPr>
          <a:xfrm>
            <a:off x="594360" y="1005840"/>
            <a:ext cx="310680" cy="3106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5"/>
          <p:cNvSpPr/>
          <p:nvPr/>
        </p:nvSpPr>
        <p:spPr>
          <a:xfrm>
            <a:off x="594360" y="100584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1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6"/>
          <p:cNvSpPr/>
          <p:nvPr/>
        </p:nvSpPr>
        <p:spPr>
          <a:xfrm>
            <a:off x="1051560" y="914400"/>
            <a:ext cx="265140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fb7185"/>
                </a:solidFill>
                <a:effectLst/>
                <a:uFillTx/>
                <a:latin typeface="Courier New"/>
                <a:ea typeface="Courier New"/>
              </a:rPr>
              <a:t>catchup=True (default!)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7"/>
          <p:cNvSpPr/>
          <p:nvPr/>
        </p:nvSpPr>
        <p:spPr>
          <a:xfrm>
            <a:off x="3749040" y="914400"/>
            <a:ext cx="484596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365 paralel dbt run; warehouse tatile çıkar → catchup=False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Shape 8"/>
          <p:cNvSpPr/>
          <p:nvPr/>
        </p:nvSpPr>
        <p:spPr>
          <a:xfrm>
            <a:off x="457200" y="1481400"/>
            <a:ext cx="8229240" cy="493560"/>
          </a:xfrm>
          <a:prstGeom prst="roundRect">
            <a:avLst>
              <a:gd name="adj" fmla="val 22222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Shape 9"/>
          <p:cNvSpPr/>
          <p:nvPr/>
        </p:nvSpPr>
        <p:spPr>
          <a:xfrm>
            <a:off x="594360" y="1572840"/>
            <a:ext cx="310680" cy="3106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10"/>
          <p:cNvSpPr/>
          <p:nvPr/>
        </p:nvSpPr>
        <p:spPr>
          <a:xfrm>
            <a:off x="594360" y="157284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11"/>
          <p:cNvSpPr/>
          <p:nvPr/>
        </p:nvSpPr>
        <p:spPr>
          <a:xfrm>
            <a:off x="1051560" y="1481400"/>
            <a:ext cx="265140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fb7185"/>
                </a:solidFill>
                <a:effectLst/>
                <a:uFillTx/>
                <a:latin typeface="Courier New"/>
                <a:ea typeface="Courier New"/>
              </a:rPr>
              <a:t>start_date=datetime.now()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12"/>
          <p:cNvSpPr/>
          <p:nvPr/>
        </p:nvSpPr>
        <p:spPr>
          <a:xfrm>
            <a:off x="3749040" y="1481400"/>
            <a:ext cx="484596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her parse'da değişir, scheduler şaşırır → sabit tarih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13"/>
          <p:cNvSpPr/>
          <p:nvPr/>
        </p:nvSpPr>
        <p:spPr>
          <a:xfrm>
            <a:off x="457200" y="2048400"/>
            <a:ext cx="8229240" cy="493560"/>
          </a:xfrm>
          <a:prstGeom prst="roundRect">
            <a:avLst>
              <a:gd name="adj" fmla="val 22222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Shape 14"/>
          <p:cNvSpPr/>
          <p:nvPr/>
        </p:nvSpPr>
        <p:spPr>
          <a:xfrm>
            <a:off x="594360" y="2139840"/>
            <a:ext cx="310680" cy="3106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15"/>
          <p:cNvSpPr/>
          <p:nvPr/>
        </p:nvSpPr>
        <p:spPr>
          <a:xfrm>
            <a:off x="594360" y="213984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3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16"/>
          <p:cNvSpPr/>
          <p:nvPr/>
        </p:nvSpPr>
        <p:spPr>
          <a:xfrm>
            <a:off x="1051560" y="2048400"/>
            <a:ext cx="265140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fb7185"/>
                </a:solidFill>
                <a:effectLst/>
                <a:uFillTx/>
                <a:latin typeface="Courier New"/>
                <a:ea typeface="Courier New"/>
              </a:rPr>
              <a:t>Sensor mode='poke'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17"/>
          <p:cNvSpPr/>
          <p:nvPr/>
        </p:nvSpPr>
        <p:spPr>
          <a:xfrm>
            <a:off x="3749040" y="2048400"/>
            <a:ext cx="484596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beklerken worker slot'unu kilitler → reschedule + timeout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Shape 18"/>
          <p:cNvSpPr/>
          <p:nvPr/>
        </p:nvSpPr>
        <p:spPr>
          <a:xfrm>
            <a:off x="457200" y="2615040"/>
            <a:ext cx="8229240" cy="493560"/>
          </a:xfrm>
          <a:prstGeom prst="roundRect">
            <a:avLst>
              <a:gd name="adj" fmla="val 22222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19"/>
          <p:cNvSpPr/>
          <p:nvPr/>
        </p:nvSpPr>
        <p:spPr>
          <a:xfrm>
            <a:off x="594360" y="2706480"/>
            <a:ext cx="310680" cy="3106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20"/>
          <p:cNvSpPr/>
          <p:nvPr/>
        </p:nvSpPr>
        <p:spPr>
          <a:xfrm>
            <a:off x="594360" y="270648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4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21"/>
          <p:cNvSpPr/>
          <p:nvPr/>
        </p:nvSpPr>
        <p:spPr>
          <a:xfrm>
            <a:off x="1051560" y="2615040"/>
            <a:ext cx="265140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fb7185"/>
                </a:solidFill>
                <a:effectLst/>
                <a:uFillTx/>
                <a:latin typeface="Courier New"/>
                <a:ea typeface="Courier New"/>
              </a:rPr>
              <a:t>date.today()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22"/>
          <p:cNvSpPr/>
          <p:nvPr/>
        </p:nvSpPr>
        <p:spPr>
          <a:xfrm>
            <a:off x="3749040" y="2615040"/>
            <a:ext cx="484596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backfill her zaman bugünü hesaplar → {{ ds }}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Shape 23"/>
          <p:cNvSpPr/>
          <p:nvPr/>
        </p:nvSpPr>
        <p:spPr>
          <a:xfrm>
            <a:off x="457200" y="3182040"/>
            <a:ext cx="8229240" cy="493560"/>
          </a:xfrm>
          <a:prstGeom prst="roundRect">
            <a:avLst>
              <a:gd name="adj" fmla="val 22222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Shape 24"/>
          <p:cNvSpPr/>
          <p:nvPr/>
        </p:nvSpPr>
        <p:spPr>
          <a:xfrm>
            <a:off x="594360" y="3273480"/>
            <a:ext cx="310680" cy="31068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25"/>
          <p:cNvSpPr/>
          <p:nvPr/>
        </p:nvSpPr>
        <p:spPr>
          <a:xfrm>
            <a:off x="594360" y="327348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5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26"/>
          <p:cNvSpPr/>
          <p:nvPr/>
        </p:nvSpPr>
        <p:spPr>
          <a:xfrm>
            <a:off x="1051560" y="3182040"/>
            <a:ext cx="265140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f5b841"/>
                </a:solidFill>
                <a:effectLst/>
                <a:uFillTx/>
                <a:latin typeface="Courier New"/>
                <a:ea typeface="Courier New"/>
              </a:rPr>
              <a:t>max_active_runs yok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27"/>
          <p:cNvSpPr/>
          <p:nvPr/>
        </p:nvSpPr>
        <p:spPr>
          <a:xfrm>
            <a:off x="3749040" y="3182040"/>
            <a:ext cx="484596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iki run aynı DuckDB/tabloya yazar → =1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28"/>
          <p:cNvSpPr/>
          <p:nvPr/>
        </p:nvSpPr>
        <p:spPr>
          <a:xfrm>
            <a:off x="457200" y="3749040"/>
            <a:ext cx="8229240" cy="493560"/>
          </a:xfrm>
          <a:prstGeom prst="roundRect">
            <a:avLst>
              <a:gd name="adj" fmla="val 22222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Shape 29"/>
          <p:cNvSpPr/>
          <p:nvPr/>
        </p:nvSpPr>
        <p:spPr>
          <a:xfrm>
            <a:off x="594360" y="3840480"/>
            <a:ext cx="310680" cy="31068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30"/>
          <p:cNvSpPr/>
          <p:nvPr/>
        </p:nvSpPr>
        <p:spPr>
          <a:xfrm>
            <a:off x="594360" y="384048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6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31"/>
          <p:cNvSpPr/>
          <p:nvPr/>
        </p:nvSpPr>
        <p:spPr>
          <a:xfrm>
            <a:off x="1051560" y="3749040"/>
            <a:ext cx="265140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f5b841"/>
                </a:solidFill>
                <a:effectLst/>
                <a:uFillTx/>
                <a:latin typeface="Courier New"/>
                <a:ea typeface="Courier New"/>
              </a:rPr>
              <a:t>trigger_rule yok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32"/>
          <p:cNvSpPr/>
          <p:nvPr/>
        </p:nvSpPr>
        <p:spPr>
          <a:xfrm>
            <a:off x="3749040" y="3749040"/>
            <a:ext cx="484596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branch varsa birleşme task'ı skip olur → none_failed_min_one_success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33"/>
          <p:cNvSpPr/>
          <p:nvPr/>
        </p:nvSpPr>
        <p:spPr>
          <a:xfrm>
            <a:off x="457200" y="46177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Reviewer agent'a ver: "bu DAG'daki production risklerini airflow.instructions.md'ye göre listele". Genelde 4'ünü bulur, son ikisini siz bulursunuz.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B3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Bozuk DAG'ı denetlet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3"/>
          <p:cNvSpPr/>
          <p:nvPr/>
        </p:nvSpPr>
        <p:spPr>
          <a:xfrm>
            <a:off x="457200" y="89604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4"/>
          <p:cNvSpPr/>
          <p:nvPr/>
        </p:nvSpPr>
        <p:spPr>
          <a:xfrm>
            <a:off x="457200" y="89604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PROMPT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Shape 5"/>
          <p:cNvSpPr/>
          <p:nvPr/>
        </p:nvSpPr>
        <p:spPr>
          <a:xfrm>
            <a:off x="457200" y="1188720"/>
            <a:ext cx="8229240" cy="1270800"/>
          </a:xfrm>
          <a:prstGeom prst="roundRect">
            <a:avLst>
              <a:gd name="adj" fmla="val 8633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6"/>
          <p:cNvSpPr/>
          <p:nvPr/>
        </p:nvSpPr>
        <p:spPr>
          <a:xfrm>
            <a:off x="594360" y="1261800"/>
            <a:ext cx="7954920" cy="11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1) airflow/dags/telco_broken.py'yi kopyala (eğitmen paylaşır; 6 bilinçli hata).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2) data-reviewer agent: "#file:airflow/dags/telco_broken.py — bu DAG'daki production risklerini listele,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 her biri için airflow.instructions.md'deki kuralı göster."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3) Agent: "telco_broken.py'deki riskleri airflow.instructions.md'ye göre düzelt; her düzeltmeyi bir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cümleyle açıkla."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4) Dosyayı sil (iki DAG karışmasın).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4" name="Shape 7"/>
          <p:cNvSpPr/>
          <p:nvPr/>
        </p:nvSpPr>
        <p:spPr>
          <a:xfrm>
            <a:off x="457200" y="262440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8"/>
          <p:cNvSpPr/>
          <p:nvPr/>
        </p:nvSpPr>
        <p:spPr>
          <a:xfrm>
            <a:off x="457200" y="262440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BEKLENEN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Shape 9"/>
          <p:cNvSpPr/>
          <p:nvPr/>
        </p:nvSpPr>
        <p:spPr>
          <a:xfrm>
            <a:off x="457200" y="2917080"/>
            <a:ext cx="8229240" cy="1654560"/>
          </a:xfrm>
          <a:prstGeom prst="roundRect">
            <a:avLst>
              <a:gd name="adj" fmla="val 663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10"/>
          <p:cNvSpPr/>
          <p:nvPr/>
        </p:nvSpPr>
        <p:spPr>
          <a:xfrm>
            <a:off x="640080" y="3008520"/>
            <a:ext cx="7863480" cy="147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Reviewer 4'ünü bulur: catchup, now(), retries yok, gömülü şifre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Kaçırdığı 2: poke+timeout yok, trigger_rule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Diff: 6 düzeltme, her biri bir cümle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B3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Test et, kendine sor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3"/>
          <p:cNvSpPr/>
          <p:nvPr/>
        </p:nvSpPr>
        <p:spPr>
          <a:xfrm>
            <a:off x="457200" y="77724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Bozuk DAG'ı denetlet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2" name="Shape 4"/>
          <p:cNvSpPr/>
          <p:nvPr/>
        </p:nvSpPr>
        <p:spPr>
          <a:xfrm>
            <a:off x="457200" y="11887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5"/>
          <p:cNvSpPr/>
          <p:nvPr/>
        </p:nvSpPr>
        <p:spPr>
          <a:xfrm>
            <a:off x="457200" y="11887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Shape 6"/>
          <p:cNvSpPr/>
          <p:nvPr/>
        </p:nvSpPr>
        <p:spPr>
          <a:xfrm>
            <a:off x="457200" y="1481400"/>
            <a:ext cx="3931560" cy="3108600"/>
          </a:xfrm>
          <a:prstGeom prst="roundRect">
            <a:avLst>
              <a:gd name="adj" fmla="val 352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7"/>
          <p:cNvSpPr/>
          <p:nvPr/>
        </p:nvSpPr>
        <p:spPr>
          <a:xfrm>
            <a:off x="640080" y="1600200"/>
            <a:ext cx="35658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Düzeltilmiş dosya: airflow dags test … → yeşil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airflow dags list-import-errors → boş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Sonra dosyayı sil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8"/>
          <p:cNvSpPr/>
          <p:nvPr/>
        </p:nvSpPr>
        <p:spPr>
          <a:xfrm>
            <a:off x="4754880" y="11887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9"/>
          <p:cNvSpPr/>
          <p:nvPr/>
        </p:nvSpPr>
        <p:spPr>
          <a:xfrm>
            <a:off x="4754880" y="11887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SOR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8" name="Shape 10"/>
          <p:cNvSpPr/>
          <p:nvPr/>
        </p:nvSpPr>
        <p:spPr>
          <a:xfrm>
            <a:off x="4754880" y="1481400"/>
            <a:ext cx="3931560" cy="3108600"/>
          </a:xfrm>
          <a:prstGeom prst="roundRect">
            <a:avLst>
              <a:gd name="adj" fmla="val 3529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11"/>
          <p:cNvSpPr/>
          <p:nvPr/>
        </p:nvSpPr>
        <p:spPr>
          <a:xfrm>
            <a:off x="4937760" y="1600200"/>
            <a:ext cx="35658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Reviewer kaç risk buldu? Hangilerini kaçırdı?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Kaçırdıklarını neden kaçırmış olabilir?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B4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Dynamic task mapping — 15 dakika, elle 2 saat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Shape 3"/>
          <p:cNvSpPr/>
          <p:nvPr/>
        </p:nvSpPr>
        <p:spPr>
          <a:xfrm>
            <a:off x="457200" y="89604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4"/>
          <p:cNvSpPr/>
          <p:nvPr/>
        </p:nvSpPr>
        <p:spPr>
          <a:xfrm>
            <a:off x="457200" y="89604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PROMPT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5"/>
          <p:cNvSpPr/>
          <p:nvPr/>
        </p:nvSpPr>
        <p:spPr>
          <a:xfrm>
            <a:off x="457200" y="1188720"/>
            <a:ext cx="8229240" cy="1270800"/>
          </a:xfrm>
          <a:prstGeom prst="roundRect">
            <a:avLst>
              <a:gd name="adj" fmla="val 8633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 6"/>
          <p:cNvSpPr/>
          <p:nvPr/>
        </p:nvSpPr>
        <p:spPr>
          <a:xfrm>
            <a:off x="594360" y="1261800"/>
            <a:ext cx="7954920" cy="11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Agent: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telco_daily_usage DAG'ında load_raw_cdr'ı şehir bazlı dynamic task mapping ile paralelleştir: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- şehir listesi Airflow Variable 'cdr_cities'ten (yoksa default ["Istanbul","Ankara","Izmir"])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- .expand(city=...) ile; max_active_tis_per_dag=4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- her mapped task kendi şehrinin satırlarını idempotent yükler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- validate_raw tüm mapped task'lar bitince çalışsın. dags test ile doğrula.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Shape 7"/>
          <p:cNvSpPr/>
          <p:nvPr/>
        </p:nvSpPr>
        <p:spPr>
          <a:xfrm>
            <a:off x="457200" y="262440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8"/>
          <p:cNvSpPr/>
          <p:nvPr/>
        </p:nvSpPr>
        <p:spPr>
          <a:xfrm>
            <a:off x="457200" y="262440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BEKLENEN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Shape 9"/>
          <p:cNvSpPr/>
          <p:nvPr/>
        </p:nvSpPr>
        <p:spPr>
          <a:xfrm>
            <a:off x="457200" y="2917080"/>
            <a:ext cx="8229240" cy="1654560"/>
          </a:xfrm>
          <a:prstGeom prst="roundRect">
            <a:avLst>
              <a:gd name="adj" fmla="val 663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10"/>
          <p:cNvSpPr/>
          <p:nvPr/>
        </p:nvSpPr>
        <p:spPr>
          <a:xfrm>
            <a:off x="640080" y="3008520"/>
            <a:ext cx="7863480" cy="147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@task ... .expand(city=cities)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max_active_tis_per_dag=4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validate_raw mapped task'ların hepsini bekler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B4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Test et, kendine sor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3"/>
          <p:cNvSpPr/>
          <p:nvPr/>
        </p:nvSpPr>
        <p:spPr>
          <a:xfrm>
            <a:off x="457200" y="77724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Dynamic task mapping — 15 dakika, elle 2 saat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Shape 4"/>
          <p:cNvSpPr/>
          <p:nvPr/>
        </p:nvSpPr>
        <p:spPr>
          <a:xfrm>
            <a:off x="457200" y="11887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5"/>
          <p:cNvSpPr/>
          <p:nvPr/>
        </p:nvSpPr>
        <p:spPr>
          <a:xfrm>
            <a:off x="457200" y="11887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Shape 6"/>
          <p:cNvSpPr/>
          <p:nvPr/>
        </p:nvSpPr>
        <p:spPr>
          <a:xfrm>
            <a:off x="457200" y="1481400"/>
            <a:ext cx="3931560" cy="3108600"/>
          </a:xfrm>
          <a:prstGeom prst="roundRect">
            <a:avLst>
              <a:gd name="adj" fmla="val 352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7"/>
          <p:cNvSpPr/>
          <p:nvPr/>
        </p:nvSpPr>
        <p:spPr>
          <a:xfrm>
            <a:off x="640080" y="1600200"/>
            <a:ext cx="35658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airflow dags test telco_daily_usage 2026-09-01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UI'da load_raw_cdr[0], [1], [2]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Variable'ı 5 şehre çıkar → 5 mapped task, aynı anda en fazla 4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9" name="Shape 8"/>
          <p:cNvSpPr/>
          <p:nvPr/>
        </p:nvSpPr>
        <p:spPr>
          <a:xfrm>
            <a:off x="4754880" y="11887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 9"/>
          <p:cNvSpPr/>
          <p:nvPr/>
        </p:nvSpPr>
        <p:spPr>
          <a:xfrm>
            <a:off x="4754880" y="11887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SOR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1" name="Shape 10"/>
          <p:cNvSpPr/>
          <p:nvPr/>
        </p:nvSpPr>
        <p:spPr>
          <a:xfrm>
            <a:off x="4754880" y="1481400"/>
            <a:ext cx="3931560" cy="3108600"/>
          </a:xfrm>
          <a:prstGeom prst="roundRect">
            <a:avLst>
              <a:gd name="adj" fmla="val 3529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11"/>
          <p:cNvSpPr/>
          <p:nvPr/>
        </p:nvSpPr>
        <p:spPr>
          <a:xfrm>
            <a:off x="4937760" y="1600200"/>
            <a:ext cx="35658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Aynı anda kaç task çalışıyor?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Variable.get() nerede çağrılıyor?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DuckDB'ye aynı anda birden fazla task yazarsa ne olur?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B5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Modern alternatifler: karar Copilot'un değil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Shape 3"/>
          <p:cNvSpPr/>
          <p:nvPr/>
        </p:nvSpPr>
        <p:spPr>
          <a:xfrm>
            <a:off x="457200" y="914400"/>
            <a:ext cx="3931560" cy="2194200"/>
          </a:xfrm>
          <a:prstGeom prst="roundRect">
            <a:avLst>
              <a:gd name="adj" fmla="val 5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4"/>
          <p:cNvSpPr/>
          <p:nvPr/>
        </p:nvSpPr>
        <p:spPr>
          <a:xfrm>
            <a:off x="640080" y="100584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Task-based vs asset-based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 5"/>
          <p:cNvSpPr/>
          <p:nvPr/>
        </p:nvSpPr>
        <p:spPr>
          <a:xfrm>
            <a:off x="640080" y="1417320"/>
            <a:ext cx="3565800" cy="15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Airflow task düşünür: "şu adımı çalıştır"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Dagster asset düşünür: "şu tablo güncel olsun"; dbt modeli = asset, lineage ve freshness birinci sınıf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Prefect Python-first; Airflow 3'e asset kavramı geldi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9" name="Shape 6"/>
          <p:cNvSpPr/>
          <p:nvPr/>
        </p:nvSpPr>
        <p:spPr>
          <a:xfrm>
            <a:off x="457200" y="322776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7"/>
          <p:cNvSpPr/>
          <p:nvPr/>
        </p:nvSpPr>
        <p:spPr>
          <a:xfrm>
            <a:off x="457200" y="322776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PROMPT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Shape 8"/>
          <p:cNvSpPr/>
          <p:nvPr/>
        </p:nvSpPr>
        <p:spPr>
          <a:xfrm>
            <a:off x="457200" y="3520440"/>
            <a:ext cx="8229240" cy="914040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9"/>
          <p:cNvSpPr/>
          <p:nvPr/>
        </p:nvSpPr>
        <p:spPr>
          <a:xfrm>
            <a:off x="594360" y="3593520"/>
            <a:ext cx="7954920" cy="76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Ask:   Airflow'dan Dagster'a geçmeli miyiz? Artı/eksi, migrasyon maliyeti.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Agent: telco_daily_usage DAG'ını Dagster asset tanımına çevir (dbt_assets ile), dagster/definitions.py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Shape 10"/>
          <p:cNvSpPr/>
          <p:nvPr/>
        </p:nvSpPr>
        <p:spPr>
          <a:xfrm>
            <a:off x="4754880" y="914400"/>
            <a:ext cx="3931560" cy="2194200"/>
          </a:xfrm>
          <a:prstGeom prst="roundRect">
            <a:avLst>
              <a:gd name="adj" fmla="val 5000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11"/>
          <p:cNvSpPr/>
          <p:nvPr/>
        </p:nvSpPr>
        <p:spPr>
          <a:xfrm>
            <a:off x="4937760" y="100584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Beklenen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12"/>
          <p:cNvSpPr/>
          <p:nvPr/>
        </p:nvSpPr>
        <p:spPr>
          <a:xfrm>
            <a:off x="4937760" y="1417320"/>
            <a:ext cx="356580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Ask: dengeli liste, sonunda "bağlıdır"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Agent: 30 saniyede makul definitions.py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Araç değişince Copilot kaybı sıfır; kalıp belgelenmiş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Kararı — maliyet, ekip, mevcut yatırım — siz verirsiniz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13"/>
          <p:cNvSpPr/>
          <p:nvPr/>
        </p:nvSpPr>
        <p:spPr>
          <a:xfrm>
            <a:off x="457200" y="46177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Tartışma: ekibinizde bugün hangi orkestratör var, nereye gidiyor?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Text 0"/>
          <p:cNvSpPr/>
          <p:nvPr/>
        </p:nvSpPr>
        <p:spPr>
          <a:xfrm>
            <a:off x="548640" y="137160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201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GÜN 2 · 13:30 · BLOK C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1"/>
          <p:cNvSpPr/>
          <p:nvPr/>
        </p:nvSpPr>
        <p:spPr>
          <a:xfrm>
            <a:off x="548640" y="1783080"/>
            <a:ext cx="80463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Akış, gözlem, kalite</a:t>
            </a:r>
            <a:endParaRPr b="0" lang="tr-TR" sz="3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9" name="Text 2"/>
          <p:cNvSpPr/>
          <p:nvPr/>
        </p:nvSpPr>
        <p:spPr>
          <a:xfrm>
            <a:off x="548640" y="2880360"/>
            <a:ext cx="804636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Kafka ve Spark eğitmen ekranında çalışır, kodu herkes yazar ve denetletir. Observability ve test seti herkeste DuckDB'de.</a:t>
            </a:r>
            <a:endParaRPr b="0" lang="tr-TR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Kafka: postane — ama mektuplar silinmiyor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Shape 1"/>
          <p:cNvSpPr/>
          <p:nvPr/>
        </p:nvSpPr>
        <p:spPr>
          <a:xfrm>
            <a:off x="457200" y="914400"/>
            <a:ext cx="3931560" cy="402120"/>
          </a:xfrm>
          <a:prstGeom prst="roundRect">
            <a:avLst>
              <a:gd name="adj" fmla="val 27273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2"/>
          <p:cNvSpPr/>
          <p:nvPr/>
        </p:nvSpPr>
        <p:spPr>
          <a:xfrm>
            <a:off x="594360" y="914400"/>
            <a:ext cx="14626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4fc3f7"/>
                </a:solidFill>
                <a:effectLst/>
                <a:uFillTx/>
                <a:latin typeface="Calibri"/>
                <a:ea typeface="Calibri"/>
              </a:rPr>
              <a:t>Topic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3"/>
          <p:cNvSpPr/>
          <p:nvPr/>
        </p:nvSpPr>
        <p:spPr>
          <a:xfrm>
            <a:off x="2057400" y="914400"/>
            <a:ext cx="22856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raf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Shape 4"/>
          <p:cNvSpPr/>
          <p:nvPr/>
        </p:nvSpPr>
        <p:spPr>
          <a:xfrm>
            <a:off x="457200" y="1371600"/>
            <a:ext cx="3931560" cy="402120"/>
          </a:xfrm>
          <a:prstGeom prst="roundRect">
            <a:avLst>
              <a:gd name="adj" fmla="val 27273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5"/>
          <p:cNvSpPr/>
          <p:nvPr/>
        </p:nvSpPr>
        <p:spPr>
          <a:xfrm>
            <a:off x="594360" y="1371600"/>
            <a:ext cx="14626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4fc3f7"/>
                </a:solidFill>
                <a:effectLst/>
                <a:uFillTx/>
                <a:latin typeface="Calibri"/>
                <a:ea typeface="Calibri"/>
              </a:rPr>
              <a:t>Partition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 6"/>
          <p:cNvSpPr/>
          <p:nvPr/>
        </p:nvSpPr>
        <p:spPr>
          <a:xfrm>
            <a:off x="2057400" y="1371600"/>
            <a:ext cx="22856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rafın bölmeleri; sıra sadece bölme içinde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7" name="Shape 7"/>
          <p:cNvSpPr/>
          <p:nvPr/>
        </p:nvSpPr>
        <p:spPr>
          <a:xfrm>
            <a:off x="457200" y="1828800"/>
            <a:ext cx="3931560" cy="402120"/>
          </a:xfrm>
          <a:prstGeom prst="roundRect">
            <a:avLst>
              <a:gd name="adj" fmla="val 27273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 8"/>
          <p:cNvSpPr/>
          <p:nvPr/>
        </p:nvSpPr>
        <p:spPr>
          <a:xfrm>
            <a:off x="594360" y="1828800"/>
            <a:ext cx="14626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4fc3f7"/>
                </a:solidFill>
                <a:effectLst/>
                <a:uFillTx/>
                <a:latin typeface="Calibri"/>
                <a:ea typeface="Calibri"/>
              </a:rPr>
              <a:t>Producer / Consumer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9"/>
          <p:cNvSpPr/>
          <p:nvPr/>
        </p:nvSpPr>
        <p:spPr>
          <a:xfrm>
            <a:off x="2057400" y="1828800"/>
            <a:ext cx="22856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yazan / okuyan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Shape 10"/>
          <p:cNvSpPr/>
          <p:nvPr/>
        </p:nvSpPr>
        <p:spPr>
          <a:xfrm>
            <a:off x="457200" y="2286000"/>
            <a:ext cx="3931560" cy="402120"/>
          </a:xfrm>
          <a:prstGeom prst="roundRect">
            <a:avLst>
              <a:gd name="adj" fmla="val 27273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11"/>
          <p:cNvSpPr/>
          <p:nvPr/>
        </p:nvSpPr>
        <p:spPr>
          <a:xfrm>
            <a:off x="594360" y="2286000"/>
            <a:ext cx="14626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4fc3f7"/>
                </a:solidFill>
                <a:effectLst/>
                <a:uFillTx/>
                <a:latin typeface="Calibri"/>
                <a:ea typeface="Calibri"/>
              </a:rPr>
              <a:t>Consumer group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12"/>
          <p:cNvSpPr/>
          <p:nvPr/>
        </p:nvSpPr>
        <p:spPr>
          <a:xfrm>
            <a:off x="2057400" y="2286000"/>
            <a:ext cx="22856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rafı paylaşarak okuyan ekip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Shape 13"/>
          <p:cNvSpPr/>
          <p:nvPr/>
        </p:nvSpPr>
        <p:spPr>
          <a:xfrm>
            <a:off x="457200" y="2743200"/>
            <a:ext cx="3931560" cy="402120"/>
          </a:xfrm>
          <a:prstGeom prst="roundRect">
            <a:avLst>
              <a:gd name="adj" fmla="val 27273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14"/>
          <p:cNvSpPr/>
          <p:nvPr/>
        </p:nvSpPr>
        <p:spPr>
          <a:xfrm>
            <a:off x="594360" y="2743200"/>
            <a:ext cx="14626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4fc3f7"/>
                </a:solidFill>
                <a:effectLst/>
                <a:uFillTx/>
                <a:latin typeface="Calibri"/>
                <a:ea typeface="Calibri"/>
              </a:rPr>
              <a:t>Offset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 15"/>
          <p:cNvSpPr/>
          <p:nvPr/>
        </p:nvSpPr>
        <p:spPr>
          <a:xfrm>
            <a:off x="2057400" y="2743200"/>
            <a:ext cx="22856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"hangi mektupta kalmıştım"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6" name="Shape 16"/>
          <p:cNvSpPr/>
          <p:nvPr/>
        </p:nvSpPr>
        <p:spPr>
          <a:xfrm>
            <a:off x="457200" y="3200400"/>
            <a:ext cx="3931560" cy="402120"/>
          </a:xfrm>
          <a:prstGeom prst="roundRect">
            <a:avLst>
              <a:gd name="adj" fmla="val 27273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 17"/>
          <p:cNvSpPr/>
          <p:nvPr/>
        </p:nvSpPr>
        <p:spPr>
          <a:xfrm>
            <a:off x="594360" y="3200400"/>
            <a:ext cx="14626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4fc3f7"/>
                </a:solidFill>
                <a:effectLst/>
                <a:uFillTx/>
                <a:latin typeface="Calibri"/>
                <a:ea typeface="Calibri"/>
              </a:rPr>
              <a:t>Partition key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18"/>
          <p:cNvSpPr/>
          <p:nvPr/>
        </p:nvSpPr>
        <p:spPr>
          <a:xfrm>
            <a:off x="2057400" y="3200400"/>
            <a:ext cx="22856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MSISDN — aynı abonenin olayları aynı bölmede, sıra korunur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Shape 19"/>
          <p:cNvSpPr/>
          <p:nvPr/>
        </p:nvSpPr>
        <p:spPr>
          <a:xfrm>
            <a:off x="4754880" y="914400"/>
            <a:ext cx="3931560" cy="2697120"/>
          </a:xfrm>
          <a:prstGeom prst="roundRect">
            <a:avLst>
              <a:gd name="adj" fmla="val 4068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20"/>
          <p:cNvSpPr/>
          <p:nvPr/>
        </p:nvSpPr>
        <p:spPr>
          <a:xfrm>
            <a:off x="4937760" y="100584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Teslim garantileri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21"/>
          <p:cNvSpPr/>
          <p:nvPr/>
        </p:nvSpPr>
        <p:spPr>
          <a:xfrm>
            <a:off x="4937760" y="1417320"/>
            <a:ext cx="35658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At-most-once: kaybedebilirsin, tekrar etmezsin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At-least-once: kaybetmezsin, tekrar edebilirsin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Exactly-once: Kafka içinde biter; warehouse'a yazdığın anda garanti biter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Gerçek strateji: at-least-once + idempotent consumer — dedup hedefte, ON CONFLICT DO NOTHING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22"/>
          <p:cNvSpPr/>
          <p:nvPr/>
        </p:nvSpPr>
        <p:spPr>
          <a:xfrm>
            <a:off x="457200" y="46177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Dünkü dedup dersi, streaming kıyafetiyle. Producer'da key'i sen söylersin; söylemezsen null key = round-robin, sıra gider.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C1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Idempotent consumer — iki satır, doğru sırada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6" name="Shape 3"/>
          <p:cNvSpPr/>
          <p:nvPr/>
        </p:nvSpPr>
        <p:spPr>
          <a:xfrm>
            <a:off x="457200" y="89604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4"/>
          <p:cNvSpPr/>
          <p:nvPr/>
        </p:nvSpPr>
        <p:spPr>
          <a:xfrm>
            <a:off x="457200" y="89604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PROMPT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Shape 5"/>
          <p:cNvSpPr/>
          <p:nvPr/>
        </p:nvSpPr>
        <p:spPr>
          <a:xfrm>
            <a:off x="457200" y="1188720"/>
            <a:ext cx="8229240" cy="1444320"/>
          </a:xfrm>
          <a:prstGeom prst="roundRect">
            <a:avLst>
              <a:gd name="adj" fmla="val 7595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 6"/>
          <p:cNvSpPr/>
          <p:nvPr/>
        </p:nvSpPr>
        <p:spPr>
          <a:xfrm>
            <a:off x="594360" y="1261800"/>
            <a:ext cx="7954920" cy="12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Agent: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streaming/consumer.py yaz (confluent-kafka + duckdb):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- 'cdr-events' topic'ini group 'cdr-to-warehouse' ile oku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- raw.cdr_events_stream tablosuna (event_id PRIMARY KEY) 500'lük batch'lerle yaz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- garanti: at-least-once + idempotent → INSERT ... ON CONFLICT (event_id) DO NOTHING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- enable.auto.commit=false; Kafka offset commit'ini DB commit'inden SONRA yap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- tabloyu yoksa oluştur; DuckDB yolu env DUCKDB_PATH'ten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Shape 7"/>
          <p:cNvSpPr/>
          <p:nvPr/>
        </p:nvSpPr>
        <p:spPr>
          <a:xfrm>
            <a:off x="457200" y="27979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8"/>
          <p:cNvSpPr/>
          <p:nvPr/>
        </p:nvSpPr>
        <p:spPr>
          <a:xfrm>
            <a:off x="457200" y="27979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BEKLENEN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Shape 9"/>
          <p:cNvSpPr/>
          <p:nvPr/>
        </p:nvSpPr>
        <p:spPr>
          <a:xfrm>
            <a:off x="457200" y="3090600"/>
            <a:ext cx="8229240" cy="1481040"/>
          </a:xfrm>
          <a:prstGeom prst="roundRect">
            <a:avLst>
              <a:gd name="adj" fmla="val 7407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10"/>
          <p:cNvSpPr/>
          <p:nvPr/>
        </p:nvSpPr>
        <p:spPr>
          <a:xfrm>
            <a:off x="640080" y="3182040"/>
            <a:ext cx="7863480" cy="12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on conflict (event_id) do nothing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con.commit()  SONRA  consumer.commit()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enable.auto.commit=False, batch 500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Redpanda Console'da cdr-events akıyor (eğitmen ekranı)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C1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6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Test et, kendine sor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3"/>
          <p:cNvSpPr/>
          <p:nvPr/>
        </p:nvSpPr>
        <p:spPr>
          <a:xfrm>
            <a:off x="457200" y="77724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Idempotent consumer — iki satır, doğru sırada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4"/>
          <p:cNvSpPr/>
          <p:nvPr/>
        </p:nvSpPr>
        <p:spPr>
          <a:xfrm>
            <a:off x="457200" y="11887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Text 5"/>
          <p:cNvSpPr/>
          <p:nvPr/>
        </p:nvSpPr>
        <p:spPr>
          <a:xfrm>
            <a:off x="457200" y="11887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0" name="Shape 6"/>
          <p:cNvSpPr/>
          <p:nvPr/>
        </p:nvSpPr>
        <p:spPr>
          <a:xfrm>
            <a:off x="457200" y="1481400"/>
            <a:ext cx="3931560" cy="3108600"/>
          </a:xfrm>
          <a:prstGeom prst="roundRect">
            <a:avLst>
              <a:gd name="adj" fmla="val 352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 7"/>
          <p:cNvSpPr/>
          <p:nvPr/>
        </p:nvSpPr>
        <p:spPr>
          <a:xfrm>
            <a:off x="640080" y="1600200"/>
            <a:ext cx="35658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python streaming/consumer.py → "500 olay işlendi" (eğitmen ekranı)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select count(*), count(distinct event_id) from raw.cdr_events_stream → eşit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Consumer'ı öldür, tekrar başlat → sayı katlanmıyor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Shape 8"/>
          <p:cNvSpPr/>
          <p:nvPr/>
        </p:nvSpPr>
        <p:spPr>
          <a:xfrm>
            <a:off x="4754880" y="11887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 9"/>
          <p:cNvSpPr/>
          <p:nvPr/>
        </p:nvSpPr>
        <p:spPr>
          <a:xfrm>
            <a:off x="4754880" y="11887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SOR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4" name="Shape 10"/>
          <p:cNvSpPr/>
          <p:nvPr/>
        </p:nvSpPr>
        <p:spPr>
          <a:xfrm>
            <a:off x="4754880" y="1481400"/>
            <a:ext cx="3931560" cy="3108600"/>
          </a:xfrm>
          <a:prstGeom prst="roundRect">
            <a:avLst>
              <a:gd name="adj" fmla="val 3529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 11"/>
          <p:cNvSpPr/>
          <p:nvPr/>
        </p:nvSpPr>
        <p:spPr>
          <a:xfrm>
            <a:off x="4937760" y="1600200"/>
            <a:ext cx="35658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Önce DB commit mi, offset commit mi?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Crash olursa mesaj kaybolur mu, tekrar mı gelir?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"Exactly-once" iddiası warehouse'u kapsıyor mu?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C2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8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PySpark: job'ı optimize ettir (demo)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9" name="Shape 3"/>
          <p:cNvSpPr/>
          <p:nvPr/>
        </p:nvSpPr>
        <p:spPr>
          <a:xfrm>
            <a:off x="457200" y="89604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4"/>
          <p:cNvSpPr/>
          <p:nvPr/>
        </p:nvSpPr>
        <p:spPr>
          <a:xfrm>
            <a:off x="457200" y="89604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PROMPT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5"/>
          <p:cNvSpPr/>
          <p:nvPr/>
        </p:nvSpPr>
        <p:spPr>
          <a:xfrm>
            <a:off x="457200" y="1188720"/>
            <a:ext cx="8229240" cy="1444320"/>
          </a:xfrm>
          <a:prstGeom prst="roundRect">
            <a:avLst>
              <a:gd name="adj" fmla="val 7595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2" name="Text 6"/>
          <p:cNvSpPr/>
          <p:nvPr/>
        </p:nvSpPr>
        <p:spPr>
          <a:xfrm>
            <a:off x="594360" y="1261800"/>
            <a:ext cx="7954920" cy="12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1) Agent: CSV'lerden günlük kullanımı PySpark ile hesapla, subscribers'la join et, parquet'e yaz → naif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job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2) Agent: #file:spark/daily_usage_job.py optimize et: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 - dim join'ini broadcast yap; msisdn skew'ı için 8 tuzlu salting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 - event_date türet, partitionBy(event_date) ile parquet yaz; yazmadan coalesce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 - spark.sql.shuffle.partitions=16; her optimizasyonun nedenini yorumla açıkla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 - explain(mode='formatted') ile BroadcastHashJoin'i göster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3" name="Shape 7"/>
          <p:cNvSpPr/>
          <p:nvPr/>
        </p:nvSpPr>
        <p:spPr>
          <a:xfrm>
            <a:off x="457200" y="27979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8"/>
          <p:cNvSpPr/>
          <p:nvPr/>
        </p:nvSpPr>
        <p:spPr>
          <a:xfrm>
            <a:off x="457200" y="27979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BEKLENEN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9"/>
          <p:cNvSpPr/>
          <p:nvPr/>
        </p:nvSpPr>
        <p:spPr>
          <a:xfrm>
            <a:off x="457200" y="3090600"/>
            <a:ext cx="8229240" cy="1481040"/>
          </a:xfrm>
          <a:prstGeom prst="roundRect">
            <a:avLst>
              <a:gd name="adj" fmla="val 7407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6" name="Text 10"/>
          <p:cNvSpPr/>
          <p:nvPr/>
        </p:nvSpPr>
        <p:spPr>
          <a:xfrm>
            <a:off x="640080" y="3182040"/>
            <a:ext cx="7863480" cy="12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Naif: SortMergeJoin, partitionBy yok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Optimize: broadcast(dim), dim.crossJoin(range(8)), fact rand()*8, join (msisdn, salt)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coalesce + partitionBy(event_date)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C2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Test et, kendine sor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0" name="Text 3"/>
          <p:cNvSpPr/>
          <p:nvPr/>
        </p:nvSpPr>
        <p:spPr>
          <a:xfrm>
            <a:off x="457200" y="77724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PySpark: job'ı optimize ettir (demo)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1" name="Shape 4"/>
          <p:cNvSpPr/>
          <p:nvPr/>
        </p:nvSpPr>
        <p:spPr>
          <a:xfrm>
            <a:off x="457200" y="11887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5"/>
          <p:cNvSpPr/>
          <p:nvPr/>
        </p:nvSpPr>
        <p:spPr>
          <a:xfrm>
            <a:off x="457200" y="11887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Shape 6"/>
          <p:cNvSpPr/>
          <p:nvPr/>
        </p:nvSpPr>
        <p:spPr>
          <a:xfrm>
            <a:off x="457200" y="1481400"/>
            <a:ext cx="3931560" cy="3108600"/>
          </a:xfrm>
          <a:prstGeom prst="roundRect">
            <a:avLst>
              <a:gd name="adj" fmla="val 352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4" name="Text 7"/>
          <p:cNvSpPr/>
          <p:nvPr/>
        </p:nvSpPr>
        <p:spPr>
          <a:xfrm>
            <a:off x="640080" y="1600200"/>
            <a:ext cx="35658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python spark/daily_usage_job.py → explain çıktısında BroadcastHashJoin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Parquet: event_date=… klasörleri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Java yoksa: izle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5" name="Shape 8"/>
          <p:cNvSpPr/>
          <p:nvPr/>
        </p:nvSpPr>
        <p:spPr>
          <a:xfrm>
            <a:off x="4754880" y="11887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6" name="Text 9"/>
          <p:cNvSpPr/>
          <p:nvPr/>
        </p:nvSpPr>
        <p:spPr>
          <a:xfrm>
            <a:off x="4754880" y="11887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SOR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7" name="Shape 10"/>
          <p:cNvSpPr/>
          <p:nvPr/>
        </p:nvSpPr>
        <p:spPr>
          <a:xfrm>
            <a:off x="4754880" y="1481400"/>
            <a:ext cx="3931560" cy="3108600"/>
          </a:xfrm>
          <a:prstGeom prst="roundRect">
            <a:avLst>
              <a:gd name="adj" fmla="val 3529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8" name="Text 11"/>
          <p:cNvSpPr/>
          <p:nvPr/>
        </p:nvSpPr>
        <p:spPr>
          <a:xfrm>
            <a:off x="4937760" y="1600200"/>
            <a:ext cx="35658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Hangi taraf broadcast edildi: dim mi, fact mi?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Salting'de dim çoğaltıldı mı?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Kaç parquet dosyası oluştu?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C3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1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Observability: DAG yeşil ≠ veri doğru (herkes)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2" name="Shape 3"/>
          <p:cNvSpPr/>
          <p:nvPr/>
        </p:nvSpPr>
        <p:spPr>
          <a:xfrm>
            <a:off x="457200" y="89604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4"/>
          <p:cNvSpPr/>
          <p:nvPr/>
        </p:nvSpPr>
        <p:spPr>
          <a:xfrm>
            <a:off x="457200" y="89604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PROMPT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4" name="Shape 5"/>
          <p:cNvSpPr/>
          <p:nvPr/>
        </p:nvSpPr>
        <p:spPr>
          <a:xfrm>
            <a:off x="457200" y="1188720"/>
            <a:ext cx="8229240" cy="1618200"/>
          </a:xfrm>
          <a:prstGeom prst="roundRect">
            <a:avLst>
              <a:gd name="adj" fmla="val 6780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6"/>
          <p:cNvSpPr/>
          <p:nvPr/>
        </p:nvSpPr>
        <p:spPr>
          <a:xfrm>
            <a:off x="594360" y="1261800"/>
            <a:ext cx="7954920" cy="147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Agent: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sql/observability_signals.sql yaz (DuckDB): gold.fct_daily_usage için tek sorgu, her satır bir sinyal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(signal_name, current_value, threshold, status):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- freshness: max(max_ingested_at)'tan bu yana saat &gt; 6 → STALE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- volume: son günün satır sayısı; önceki 7 günün MEDYANININ %50 altı / %200 üstü → VOLUME_ANOMALY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- null_msisdn_ratio: &gt; %0.1 → QUALITY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dbt show --inline ile çalıştır. Sonra sonucu Slack Block Kit JSON'a çeviren küçük bir Python fonksiyonu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yaz.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Shape 7"/>
          <p:cNvSpPr/>
          <p:nvPr/>
        </p:nvSpPr>
        <p:spPr>
          <a:xfrm>
            <a:off x="457200" y="297180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Text 8"/>
          <p:cNvSpPr/>
          <p:nvPr/>
        </p:nvSpPr>
        <p:spPr>
          <a:xfrm>
            <a:off x="457200" y="297180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BEKLENEN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Shape 9"/>
          <p:cNvSpPr/>
          <p:nvPr/>
        </p:nvSpPr>
        <p:spPr>
          <a:xfrm>
            <a:off x="457200" y="3264480"/>
            <a:ext cx="8229240" cy="1307160"/>
          </a:xfrm>
          <a:prstGeom prst="roundRect">
            <a:avLst>
              <a:gd name="adj" fmla="val 8392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10"/>
          <p:cNvSpPr/>
          <p:nvPr/>
        </p:nvSpPr>
        <p:spPr>
          <a:xfrm>
            <a:off x="640080" y="3355920"/>
            <a:ext cx="7863480" cy="11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3 satır: freshness / volume / null_msisdn_ratio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freshness STALE (veri Eylül başında bitiyor)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volume medyan ile, avg değil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notify.py: Block Kit JSON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C3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Test et, kendine sor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3"/>
          <p:cNvSpPr/>
          <p:nvPr/>
        </p:nvSpPr>
        <p:spPr>
          <a:xfrm>
            <a:off x="457200" y="77724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Observability: DAG yeşil ≠ veri doğru (herkes)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Shape 4"/>
          <p:cNvSpPr/>
          <p:nvPr/>
        </p:nvSpPr>
        <p:spPr>
          <a:xfrm>
            <a:off x="457200" y="11887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Text 5"/>
          <p:cNvSpPr/>
          <p:nvPr/>
        </p:nvSpPr>
        <p:spPr>
          <a:xfrm>
            <a:off x="457200" y="11887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6" name="Shape 6"/>
          <p:cNvSpPr/>
          <p:nvPr/>
        </p:nvSpPr>
        <p:spPr>
          <a:xfrm>
            <a:off x="457200" y="1481400"/>
            <a:ext cx="3931560" cy="3108600"/>
          </a:xfrm>
          <a:prstGeom prst="roundRect">
            <a:avLst>
              <a:gd name="adj" fmla="val 352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7" name="Text 7"/>
          <p:cNvSpPr/>
          <p:nvPr/>
        </p:nvSpPr>
        <p:spPr>
          <a:xfrm>
            <a:off x="640080" y="1600200"/>
            <a:ext cx="35658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dbt show --inline "$(cat sql/observability_signals.sql)" --profiles-dir . (Mac) / dosyayı DuckDB CLI'da çalıştır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freshness current_value ≈ 350+ saat → STALE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inject_late_cdr sonrası freshness düşer mi? (evet, max_ingested_at yenilendi)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Shape 8"/>
          <p:cNvSpPr/>
          <p:nvPr/>
        </p:nvSpPr>
        <p:spPr>
          <a:xfrm>
            <a:off x="4754880" y="11887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9"/>
          <p:cNvSpPr/>
          <p:nvPr/>
        </p:nvSpPr>
        <p:spPr>
          <a:xfrm>
            <a:off x="4754880" y="11887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SOR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Shape 10"/>
          <p:cNvSpPr/>
          <p:nvPr/>
        </p:nvSpPr>
        <p:spPr>
          <a:xfrm>
            <a:off x="4754880" y="1481400"/>
            <a:ext cx="3931560" cy="3108600"/>
          </a:xfrm>
          <a:prstGeom prst="roundRect">
            <a:avLst>
              <a:gd name="adj" fmla="val 3529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11"/>
          <p:cNvSpPr/>
          <p:nvPr/>
        </p:nvSpPr>
        <p:spPr>
          <a:xfrm>
            <a:off x="4937760" y="1600200"/>
            <a:ext cx="35658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Volume eşiği ortalamayla mı, medyanla mı?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Eşik değerlerini kim belirledi, neye göre?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Bu alarmın sahibi kim?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C4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Test setini tamamla: kalitenin altı boyutu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5" name="Shape 3"/>
          <p:cNvSpPr/>
          <p:nvPr/>
        </p:nvSpPr>
        <p:spPr>
          <a:xfrm>
            <a:off x="457200" y="89604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4"/>
          <p:cNvSpPr/>
          <p:nvPr/>
        </p:nvSpPr>
        <p:spPr>
          <a:xfrm>
            <a:off x="457200" y="89604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PROMPT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Shape 5"/>
          <p:cNvSpPr/>
          <p:nvPr/>
        </p:nvSpPr>
        <p:spPr>
          <a:xfrm>
            <a:off x="457200" y="1188720"/>
            <a:ext cx="8229240" cy="923040"/>
          </a:xfrm>
          <a:prstGeom prst="roundRect">
            <a:avLst>
              <a:gd name="adj" fmla="val 11881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6"/>
          <p:cNvSpPr/>
          <p:nvPr/>
        </p:nvSpPr>
        <p:spPr>
          <a:xfrm>
            <a:off x="594360" y="1261800"/>
            <a:ext cx="79549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/dbt-tests  →  model: dim_subscriber       sonra  /dbt-tests  →  model: stg_cdr_events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(generic + singular + tutarlılık; her test için "hangi hatayı yakalar" yorumu; veri kaybı/çoğalma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yaratanlar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severity: error, diğerleri warn)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7"/>
          <p:cNvSpPr/>
          <p:nvPr/>
        </p:nvSpPr>
        <p:spPr>
          <a:xfrm>
            <a:off x="457200" y="227700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Text 8"/>
          <p:cNvSpPr/>
          <p:nvPr/>
        </p:nvSpPr>
        <p:spPr>
          <a:xfrm>
            <a:off x="457200" y="227700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BEKLENEN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1" name="Shape 9"/>
          <p:cNvSpPr/>
          <p:nvPr/>
        </p:nvSpPr>
        <p:spPr>
          <a:xfrm>
            <a:off x="457200" y="2569320"/>
            <a:ext cx="8229240" cy="2002320"/>
          </a:xfrm>
          <a:prstGeom prst="roundRect">
            <a:avLst>
              <a:gd name="adj" fmla="val 547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10"/>
          <p:cNvSpPr/>
          <p:nvPr/>
        </p:nvSpPr>
        <p:spPr>
          <a:xfrm>
            <a:off x="640080" y="2660760"/>
            <a:ext cx="7863480" cy="181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dim_subscriber: subscriber_sk unique, is_current tekilliği (msisdn başına 1 current), valid_from ≤ valid_to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stg_cdr_events: event_ts ≤ ingested_at, duration 0–86400, geçersiz oranı &lt; %1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dbt test → 30+ test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C4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Test et, kendine sor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Text 3"/>
          <p:cNvSpPr/>
          <p:nvPr/>
        </p:nvSpPr>
        <p:spPr>
          <a:xfrm>
            <a:off x="457200" y="77724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Test setini tamamla: kalitenin altı boyutu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7" name="Shape 4"/>
          <p:cNvSpPr/>
          <p:nvPr/>
        </p:nvSpPr>
        <p:spPr>
          <a:xfrm>
            <a:off x="457200" y="11887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Text 5"/>
          <p:cNvSpPr/>
          <p:nvPr/>
        </p:nvSpPr>
        <p:spPr>
          <a:xfrm>
            <a:off x="457200" y="11887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9" name="Shape 6"/>
          <p:cNvSpPr/>
          <p:nvPr/>
        </p:nvSpPr>
        <p:spPr>
          <a:xfrm>
            <a:off x="457200" y="1481400"/>
            <a:ext cx="3931560" cy="3108600"/>
          </a:xfrm>
          <a:prstGeom prst="roundRect">
            <a:avLst>
              <a:gd name="adj" fmla="val 352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7"/>
          <p:cNvSpPr/>
          <p:nvPr/>
        </p:nvSpPr>
        <p:spPr>
          <a:xfrm>
            <a:off x="640080" y="1600200"/>
            <a:ext cx="35658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dbt test --profiles-dir . → PASS/WARN sayıları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dbt test --select dim_subscriber --profiles-dir .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Kasıtlı bozma: raw'da bir msisdn'i null yap → hangi test yakalar?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Shape 8"/>
          <p:cNvSpPr/>
          <p:nvPr/>
        </p:nvSpPr>
        <p:spPr>
          <a:xfrm>
            <a:off x="4754880" y="11887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9"/>
          <p:cNvSpPr/>
          <p:nvPr/>
        </p:nvSpPr>
        <p:spPr>
          <a:xfrm>
            <a:off x="4754880" y="11887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SOR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10"/>
          <p:cNvSpPr/>
          <p:nvPr/>
        </p:nvSpPr>
        <p:spPr>
          <a:xfrm>
            <a:off x="4754880" y="1481400"/>
            <a:ext cx="3931560" cy="3108600"/>
          </a:xfrm>
          <a:prstGeom prst="roundRect">
            <a:avLst>
              <a:gd name="adj" fmla="val 3529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4" name="Text 11"/>
          <p:cNvSpPr/>
          <p:nvPr/>
        </p:nvSpPr>
        <p:spPr>
          <a:xfrm>
            <a:off x="4937760" y="1600200"/>
            <a:ext cx="35658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Altı kalite boyutundan hangileri test edildi?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Hangi testler error, hangileri warn olmalı?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Hiçbir şey yakalamayan test var mı?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Shape 0"/>
          <p:cNvSpPr/>
          <p:nvPr/>
        </p:nvSpPr>
        <p:spPr>
          <a:xfrm>
            <a:off x="3931920" y="1188720"/>
            <a:ext cx="1279800" cy="127980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6" name="Image 0" descr="preencoded.png"/>
          <p:cNvPicPr/>
          <p:nvPr/>
        </p:nvPicPr>
        <p:blipFill>
          <a:blip r:embed="rId1"/>
          <a:stretch/>
        </p:blipFill>
        <p:spPr>
          <a:xfrm>
            <a:off x="4213440" y="1470240"/>
            <a:ext cx="716400" cy="71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7" name="Text 1"/>
          <p:cNvSpPr/>
          <p:nvPr/>
        </p:nvSpPr>
        <p:spPr>
          <a:xfrm>
            <a:off x="457200" y="265176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Ara — 15 dakika</a:t>
            </a:r>
            <a:endParaRPr b="0" lang="tr-TR" sz="3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2"/>
          <p:cNvSpPr/>
          <p:nvPr/>
        </p:nvSpPr>
        <p:spPr>
          <a:xfrm>
            <a:off x="914400" y="3291840"/>
            <a:ext cx="73148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Dönünce: data contract · breaking change · migration · katalog · governance · PR review · kapanış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Text 0"/>
          <p:cNvSpPr/>
          <p:nvPr/>
        </p:nvSpPr>
        <p:spPr>
          <a:xfrm>
            <a:off x="548640" y="137160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201" strike="noStrike" u="none">
                <a:solidFill>
                  <a:srgbClr val="a78bfa"/>
                </a:solidFill>
                <a:effectLst/>
                <a:uFillTx/>
                <a:latin typeface="Calibri"/>
                <a:ea typeface="Calibri"/>
              </a:rPr>
              <a:t>GÜN 2 · 15:30 · BLOK D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0" name="Text 1"/>
          <p:cNvSpPr/>
          <p:nvPr/>
        </p:nvSpPr>
        <p:spPr>
          <a:xfrm>
            <a:off x="548640" y="1783080"/>
            <a:ext cx="80463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Sözleşme, governance, kapanış</a:t>
            </a:r>
            <a:endParaRPr b="0" lang="tr-TR" sz="3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1" name="Text 2"/>
          <p:cNvSpPr/>
          <p:nvPr/>
        </p:nvSpPr>
        <p:spPr>
          <a:xfrm>
            <a:off x="548640" y="2880360"/>
            <a:ext cx="804636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Güven sayıdan gelmez, süreçten gelir: bu tablo her sabah şu testlerden geçti, şu sözleşmeye uydu, şu kişi sahibi.</a:t>
            </a:r>
            <a:endParaRPr b="0" lang="tr-TR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Data contract — dünkü instructions'ın resmi hali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3" name="Shape 1"/>
          <p:cNvSpPr/>
          <p:nvPr/>
        </p:nvSpPr>
        <p:spPr>
          <a:xfrm>
            <a:off x="457200" y="1005840"/>
            <a:ext cx="1965600" cy="1234080"/>
          </a:xfrm>
          <a:prstGeom prst="roundRect">
            <a:avLst>
              <a:gd name="adj" fmla="val 888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2"/>
          <p:cNvSpPr/>
          <p:nvPr/>
        </p:nvSpPr>
        <p:spPr>
          <a:xfrm>
            <a:off x="567000" y="107892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4fc3f7"/>
                </a:solidFill>
                <a:effectLst/>
                <a:uFillTx/>
                <a:latin typeface="Calibri"/>
                <a:ea typeface="Calibri"/>
              </a:rPr>
              <a:t>Schema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5" name="Text 3"/>
          <p:cNvSpPr/>
          <p:nvPr/>
        </p:nvSpPr>
        <p:spPr>
          <a:xfrm>
            <a:off x="567000" y="1417320"/>
            <a:ext cx="17370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kolon, tip, nullable, primary key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6" name="Shape 4"/>
          <p:cNvSpPr/>
          <p:nvPr/>
        </p:nvSpPr>
        <p:spPr>
          <a:xfrm>
            <a:off x="2541960" y="1005840"/>
            <a:ext cx="1965600" cy="1234080"/>
          </a:xfrm>
          <a:prstGeom prst="roundRect">
            <a:avLst>
              <a:gd name="adj" fmla="val 888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 5"/>
          <p:cNvSpPr/>
          <p:nvPr/>
        </p:nvSpPr>
        <p:spPr>
          <a:xfrm>
            <a:off x="2651760" y="107892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Semantic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6"/>
          <p:cNvSpPr/>
          <p:nvPr/>
        </p:nvSpPr>
        <p:spPr>
          <a:xfrm>
            <a:off x="2651760" y="1417320"/>
            <a:ext cx="17370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kolon ne demek — instructions'taki tanımlar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Shape 7"/>
          <p:cNvSpPr/>
          <p:nvPr/>
        </p:nvSpPr>
        <p:spPr>
          <a:xfrm>
            <a:off x="4626720" y="1005840"/>
            <a:ext cx="1965600" cy="1234080"/>
          </a:xfrm>
          <a:prstGeom prst="roundRect">
            <a:avLst>
              <a:gd name="adj" fmla="val 888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0" name="Text 8"/>
          <p:cNvSpPr/>
          <p:nvPr/>
        </p:nvSpPr>
        <p:spPr>
          <a:xfrm>
            <a:off x="4736520" y="107892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SLA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Text 9"/>
          <p:cNvSpPr/>
          <p:nvPr/>
        </p:nvSpPr>
        <p:spPr>
          <a:xfrm>
            <a:off x="4736520" y="1417320"/>
            <a:ext cx="17370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ne zaman hazır, kaç saat gecikme kabul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2" name="Shape 10"/>
          <p:cNvSpPr/>
          <p:nvPr/>
        </p:nvSpPr>
        <p:spPr>
          <a:xfrm>
            <a:off x="6711840" y="1005840"/>
            <a:ext cx="1965600" cy="1234080"/>
          </a:xfrm>
          <a:prstGeom prst="roundRect">
            <a:avLst>
              <a:gd name="adj" fmla="val 888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Text 11"/>
          <p:cNvSpPr/>
          <p:nvPr/>
        </p:nvSpPr>
        <p:spPr>
          <a:xfrm>
            <a:off x="6821280" y="107892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a78bfa"/>
                </a:solidFill>
                <a:effectLst/>
                <a:uFillTx/>
                <a:latin typeface="Calibri"/>
                <a:ea typeface="Calibri"/>
              </a:rPr>
              <a:t>Quality + Ownership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4" name="Text 12"/>
          <p:cNvSpPr/>
          <p:nvPr/>
        </p:nvSpPr>
        <p:spPr>
          <a:xfrm>
            <a:off x="6821280" y="1417320"/>
            <a:ext cx="17370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testler; sahip, tüketiciler, değişiklik politikası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13"/>
          <p:cNvSpPr/>
          <p:nvPr/>
        </p:nvSpPr>
        <p:spPr>
          <a:xfrm>
            <a:off x="457200" y="2423160"/>
            <a:ext cx="8229240" cy="2148480"/>
          </a:xfrm>
          <a:prstGeom prst="roundRect">
            <a:avLst>
              <a:gd name="adj" fmla="val 5106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6" name="Text 14"/>
          <p:cNvSpPr/>
          <p:nvPr/>
        </p:nvSpPr>
        <p:spPr>
          <a:xfrm>
            <a:off x="640080" y="2423160"/>
            <a:ext cx="7863480" cy="214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API sözleşmesinin veri versiyonu. Servisin API'sini değiştirirken versiyon, deprecation, changelog yaparsın. Tablonun kolonunu silerken? Çoğu yerde hiçbir şey; ertesi sabah 4 dashboard patlar. Sözleşme bu asimetriyi düzeltir: üretici (siz) ile tüketiciler (BI, DS, kampanya) arasında yazılı anlaşma. Dün instructions'a yazdığınız "aktif abone" tanımı bugün semantics bölümüne aynen taşınır; iki yerde farklıysa sözleşme çöptür.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8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D1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/contract fct_daily_usage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0" name="Shape 3"/>
          <p:cNvSpPr/>
          <p:nvPr/>
        </p:nvSpPr>
        <p:spPr>
          <a:xfrm>
            <a:off x="457200" y="89604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Text 4"/>
          <p:cNvSpPr/>
          <p:nvPr/>
        </p:nvSpPr>
        <p:spPr>
          <a:xfrm>
            <a:off x="457200" y="89604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PROMPT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2" name="Shape 5"/>
          <p:cNvSpPr/>
          <p:nvPr/>
        </p:nvSpPr>
        <p:spPr>
          <a:xfrm>
            <a:off x="457200" y="1188720"/>
            <a:ext cx="8229240" cy="1096920"/>
          </a:xfrm>
          <a:prstGeom prst="roundRect">
            <a:avLst>
              <a:gd name="adj" fmla="val 10000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Text 6"/>
          <p:cNvSpPr/>
          <p:nvPr/>
        </p:nvSpPr>
        <p:spPr>
          <a:xfrm>
            <a:off x="594360" y="1261800"/>
            <a:ext cx="7954920" cy="95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/contract  →  model: fct_daily_usage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(contracts/fct_daily_usage.yaml, ODCS benzeri: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schema: kolon / tip / required / pii · semantics: instructions'taki tanımlar AYNEN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sla: 07:00 hazır, 72 saat geç veri toleransı · quality: dünkü testler + tutarlılık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consumers: 3 tüketici, contact'lı · owner · version 1.0.0 · changelog)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4" name="Shape 7"/>
          <p:cNvSpPr/>
          <p:nvPr/>
        </p:nvSpPr>
        <p:spPr>
          <a:xfrm>
            <a:off x="457200" y="24505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Text 8"/>
          <p:cNvSpPr/>
          <p:nvPr/>
        </p:nvSpPr>
        <p:spPr>
          <a:xfrm>
            <a:off x="457200" y="24505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BEKLENEN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6" name="Shape 9"/>
          <p:cNvSpPr/>
          <p:nvPr/>
        </p:nvSpPr>
        <p:spPr>
          <a:xfrm>
            <a:off x="457200" y="2743200"/>
            <a:ext cx="8229240" cy="1828440"/>
          </a:xfrm>
          <a:prstGeom prst="roundRect">
            <a:avLst>
              <a:gd name="adj" fmla="val 6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10"/>
          <p:cNvSpPr/>
          <p:nvPr/>
        </p:nvSpPr>
        <p:spPr>
          <a:xfrm>
            <a:off x="640080" y="2834640"/>
            <a:ext cx="786348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contracts/fct_daily_usage.yaml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msisdn pii: true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semantics.active_subscriber = instructions'taki cümle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consumers: BI, churn modeli, kampanya — her biri contact'lı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9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D1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Test et, kendine sor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1" name="Text 3"/>
          <p:cNvSpPr/>
          <p:nvPr/>
        </p:nvSpPr>
        <p:spPr>
          <a:xfrm>
            <a:off x="457200" y="77724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/contract fct_daily_usage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2" name="Shape 4"/>
          <p:cNvSpPr/>
          <p:nvPr/>
        </p:nvSpPr>
        <p:spPr>
          <a:xfrm>
            <a:off x="457200" y="11887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Text 5"/>
          <p:cNvSpPr/>
          <p:nvPr/>
        </p:nvSpPr>
        <p:spPr>
          <a:xfrm>
            <a:off x="457200" y="11887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4" name="Shape 6"/>
          <p:cNvSpPr/>
          <p:nvPr/>
        </p:nvSpPr>
        <p:spPr>
          <a:xfrm>
            <a:off x="457200" y="1481400"/>
            <a:ext cx="3931560" cy="3108600"/>
          </a:xfrm>
          <a:prstGeom prst="roundRect">
            <a:avLst>
              <a:gd name="adj" fmla="val 352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5" name="Text 7"/>
          <p:cNvSpPr/>
          <p:nvPr/>
        </p:nvSpPr>
        <p:spPr>
          <a:xfrm>
            <a:off x="640080" y="1600200"/>
            <a:ext cx="35658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pip install datacontract-cli → datacontract test contracts/fct_daily_usage.yaml (DuckDB server bloğu)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Kurulum sorunluysa: "quality kurallarını doğrulayan SQL yaz" — aynı iş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semantics vs copilot-instructions.md: diff sıfır mı?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6" name="Shape 8"/>
          <p:cNvSpPr/>
          <p:nvPr/>
        </p:nvSpPr>
        <p:spPr>
          <a:xfrm>
            <a:off x="4754880" y="11887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Text 9"/>
          <p:cNvSpPr/>
          <p:nvPr/>
        </p:nvSpPr>
        <p:spPr>
          <a:xfrm>
            <a:off x="4754880" y="11887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SOR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8" name="Shape 10"/>
          <p:cNvSpPr/>
          <p:nvPr/>
        </p:nvSpPr>
        <p:spPr>
          <a:xfrm>
            <a:off x="4754880" y="1481400"/>
            <a:ext cx="3931560" cy="3108600"/>
          </a:xfrm>
          <a:prstGeom prst="roundRect">
            <a:avLst>
              <a:gd name="adj" fmla="val 3529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9" name="Text 11"/>
          <p:cNvSpPr/>
          <p:nvPr/>
        </p:nvSpPr>
        <p:spPr>
          <a:xfrm>
            <a:off x="4937760" y="1600200"/>
            <a:ext cx="35658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semantics'teki "aktif abone" instructions'takiyle birebir aynı mı?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Hangi kolonlar PII? cell_id?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consumers listesi dolu mu?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1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D2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Breaking change provası: data_mb → data_gb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Shape 3"/>
          <p:cNvSpPr/>
          <p:nvPr/>
        </p:nvSpPr>
        <p:spPr>
          <a:xfrm>
            <a:off x="457200" y="89604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4"/>
          <p:cNvSpPr/>
          <p:nvPr/>
        </p:nvSpPr>
        <p:spPr>
          <a:xfrm>
            <a:off x="457200" y="89604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PROMPT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Shape 5"/>
          <p:cNvSpPr/>
          <p:nvPr/>
        </p:nvSpPr>
        <p:spPr>
          <a:xfrm>
            <a:off x="457200" y="1188720"/>
            <a:ext cx="8229240" cy="1188360"/>
          </a:xfrm>
          <a:prstGeom prst="roundRect">
            <a:avLst>
              <a:gd name="adj" fmla="val 9231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6"/>
          <p:cNvSpPr/>
          <p:nvPr/>
        </p:nvSpPr>
        <p:spPr>
          <a:xfrm>
            <a:off x="594360" y="1261800"/>
            <a:ext cx="7954920" cy="10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Agent: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#file:contracts/fct_daily_usage.yaml — data_mb kolonunu data_gb yapmak istiyorum (birim değişimi).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1) Sözleşmeye göre bu hangi seviyede breaking? 2) Etkilenen consumer'lar? 3) 14 günlük deprecation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planı: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iki kolon birlikte yaşasın, sonra eskisi kalksın. 4) Sözleşmenin 2.0.0 versiyonu + changelog.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Shape 7"/>
          <p:cNvSpPr/>
          <p:nvPr/>
        </p:nvSpPr>
        <p:spPr>
          <a:xfrm>
            <a:off x="457200" y="2697480"/>
            <a:ext cx="3931560" cy="1874160"/>
          </a:xfrm>
          <a:prstGeom prst="roundRect">
            <a:avLst>
              <a:gd name="adj" fmla="val 5854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8"/>
          <p:cNvSpPr/>
          <p:nvPr/>
        </p:nvSpPr>
        <p:spPr>
          <a:xfrm>
            <a:off x="640080" y="278892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fb7185"/>
                </a:solidFill>
                <a:effectLst/>
                <a:uFillTx/>
                <a:latin typeface="Calibri"/>
                <a:ea typeface="Calibri"/>
              </a:rPr>
              <a:t>Ne oldu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9"/>
          <p:cNvSpPr/>
          <p:nvPr/>
        </p:nvSpPr>
        <p:spPr>
          <a:xfrm>
            <a:off x="640080" y="3200400"/>
            <a:ext cx="356580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Tip aynı (number), ad değişti, ANLAM değişti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Schema-level: "sadece rename"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Semantic-level: breaking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Semantic boyut olmasaydı churn modeli 1024 kat yanlış feature alırdı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10"/>
          <p:cNvSpPr/>
          <p:nvPr/>
        </p:nvSpPr>
        <p:spPr>
          <a:xfrm>
            <a:off x="4754880" y="2697480"/>
            <a:ext cx="3931560" cy="1874160"/>
          </a:xfrm>
          <a:prstGeom prst="roundRect">
            <a:avLst>
              <a:gd name="adj" fmla="val 5854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1" name="Text 11"/>
          <p:cNvSpPr/>
          <p:nvPr/>
        </p:nvSpPr>
        <p:spPr>
          <a:xfrm>
            <a:off x="4937760" y="278892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Ardından: migration (ADIM D3)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2" name="Text 12"/>
          <p:cNvSpPr/>
          <p:nvPr/>
        </p:nvSpPr>
        <p:spPr>
          <a:xfrm>
            <a:off x="4937760" y="3200400"/>
            <a:ext cx="356580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sql/migrations/001_add_data_gb.sql (ekle + doldur)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model iki kolonu da üretir, 14 gün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002_drop_data_mb.sql; her adımın down script'i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Tuzak: ALTER … RENAME COLUMN tek adımda = breaking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D4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5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Katalog ve lineage: dokümanı Copilot'a yazdır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Shape 3"/>
          <p:cNvSpPr/>
          <p:nvPr/>
        </p:nvSpPr>
        <p:spPr>
          <a:xfrm>
            <a:off x="457200" y="89604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Text 4"/>
          <p:cNvSpPr/>
          <p:nvPr/>
        </p:nvSpPr>
        <p:spPr>
          <a:xfrm>
            <a:off x="457200" y="89604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PROMPT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8" name="Shape 5"/>
          <p:cNvSpPr/>
          <p:nvPr/>
        </p:nvSpPr>
        <p:spPr>
          <a:xfrm>
            <a:off x="457200" y="1188720"/>
            <a:ext cx="8229240" cy="1618200"/>
          </a:xfrm>
          <a:prstGeom prst="roundRect">
            <a:avLst>
              <a:gd name="adj" fmla="val 6780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9" name="Text 6"/>
          <p:cNvSpPr/>
          <p:nvPr/>
        </p:nvSpPr>
        <p:spPr>
          <a:xfrm>
            <a:off x="594360" y="1261800"/>
            <a:ext cx="7954920" cy="147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Agent (@workspace):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@workspace msisdn kolonunu kullanan tüm dbt modelleri, testleri, DAG task'ları ve contract'ları listele.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Sonra models/staging/schema.yml ve models/marts/schema.yml'deki BOŞ ya da tek kelimelik description'ları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doldur: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her kolon için ne, birim, kaynak, örnek değer; iş tanımlarını copilot-instructions.md'den al. PII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kolonlarına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meta: {pii: true} ekle. docs/glossary.yml üret: aktif abone, churn, ARPU, CDR, MSISDN — tanım, sahip,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ilgili modeller.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Shape 7"/>
          <p:cNvSpPr/>
          <p:nvPr/>
        </p:nvSpPr>
        <p:spPr>
          <a:xfrm>
            <a:off x="457200" y="297180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Text 8"/>
          <p:cNvSpPr/>
          <p:nvPr/>
        </p:nvSpPr>
        <p:spPr>
          <a:xfrm>
            <a:off x="457200" y="297180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BEKLENEN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2" name="Shape 9"/>
          <p:cNvSpPr/>
          <p:nvPr/>
        </p:nvSpPr>
        <p:spPr>
          <a:xfrm>
            <a:off x="457200" y="3264480"/>
            <a:ext cx="8229240" cy="1307160"/>
          </a:xfrm>
          <a:prstGeom prst="roundRect">
            <a:avLst>
              <a:gd name="adj" fmla="val 8392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3" name="Text 10"/>
          <p:cNvSpPr/>
          <p:nvPr/>
        </p:nvSpPr>
        <p:spPr>
          <a:xfrm>
            <a:off x="640080" y="3355920"/>
            <a:ext cx="7863480" cy="11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msisdn listesi: 8+ model, testler, DAG, contract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40 kolon description'ı: birim + örnek değer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meta: {pii: true} msisdn'de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docs/glossary.yml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5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D4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Test et, kendine sor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3"/>
          <p:cNvSpPr/>
          <p:nvPr/>
        </p:nvSpPr>
        <p:spPr>
          <a:xfrm>
            <a:off x="457200" y="77724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Katalog ve lineage: dokümanı Copilot'a yazdır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Shape 4"/>
          <p:cNvSpPr/>
          <p:nvPr/>
        </p:nvSpPr>
        <p:spPr>
          <a:xfrm>
            <a:off x="457200" y="11887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5"/>
          <p:cNvSpPr/>
          <p:nvPr/>
        </p:nvSpPr>
        <p:spPr>
          <a:xfrm>
            <a:off x="457200" y="11887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Shape 6"/>
          <p:cNvSpPr/>
          <p:nvPr/>
        </p:nvSpPr>
        <p:spPr>
          <a:xfrm>
            <a:off x="457200" y="1481400"/>
            <a:ext cx="3931560" cy="3108600"/>
          </a:xfrm>
          <a:prstGeom prst="roundRect">
            <a:avLst>
              <a:gd name="adj" fmla="val 352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 7"/>
          <p:cNvSpPr/>
          <p:nvPr/>
        </p:nvSpPr>
        <p:spPr>
          <a:xfrm>
            <a:off x="640080" y="1600200"/>
            <a:ext cx="35658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dbt docs generate --profiles-dir . &amp;&amp; dbt docs serve → stg_cdr_events.msisdn'i seç, downstream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Listeyi dbt docs lineage'ıyla karşılaştır: eksik var mı?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"Abone numarası" gibi boş cümle → geri gönder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Shape 8"/>
          <p:cNvSpPr/>
          <p:nvPr/>
        </p:nvSpPr>
        <p:spPr>
          <a:xfrm>
            <a:off x="4754880" y="11887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9"/>
          <p:cNvSpPr/>
          <p:nvPr/>
        </p:nvSpPr>
        <p:spPr>
          <a:xfrm>
            <a:off x="4754880" y="11887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SOR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4" name="Shape 10"/>
          <p:cNvSpPr/>
          <p:nvPr/>
        </p:nvSpPr>
        <p:spPr>
          <a:xfrm>
            <a:off x="4754880" y="1481400"/>
            <a:ext cx="3931560" cy="3108600"/>
          </a:xfrm>
          <a:prstGeom prst="roundRect">
            <a:avLst>
              <a:gd name="adj" fmla="val 3529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11"/>
          <p:cNvSpPr/>
          <p:nvPr/>
        </p:nvSpPr>
        <p:spPr>
          <a:xfrm>
            <a:off x="4937760" y="1600200"/>
            <a:ext cx="35658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Copilot'un msisdn listesi dbt docs lineage'ıyla aynı mı?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Description'larda birim ve örnek değer var mı?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PII işareti sadece msisdn'de mi?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D5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Governance: maskeleme ve erişim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9" name="Shape 3"/>
          <p:cNvSpPr/>
          <p:nvPr/>
        </p:nvSpPr>
        <p:spPr>
          <a:xfrm>
            <a:off x="457200" y="89604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4"/>
          <p:cNvSpPr/>
          <p:nvPr/>
        </p:nvSpPr>
        <p:spPr>
          <a:xfrm>
            <a:off x="457200" y="89604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PROMPT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1" name="Shape 5"/>
          <p:cNvSpPr/>
          <p:nvPr/>
        </p:nvSpPr>
        <p:spPr>
          <a:xfrm>
            <a:off x="457200" y="1188720"/>
            <a:ext cx="8229240" cy="1444320"/>
          </a:xfrm>
          <a:prstGeom prst="roundRect">
            <a:avLst>
              <a:gd name="adj" fmla="val 7595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6"/>
          <p:cNvSpPr/>
          <p:nvPr/>
        </p:nvSpPr>
        <p:spPr>
          <a:xfrm>
            <a:off x="594360" y="1261800"/>
            <a:ext cx="7954920" cy="12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Agent (herkes, DuckDB):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sql/governance_masking.sql: gold_masked şeması ve fct_daily_usage view'ı —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msisdn yerine msisdn_hash = sha256(msisdn || salt); salt audit.settings tablosundan;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hash deterministic (join çalışsın), salt'lı (rainbow table işlemesin).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Test: aynı msisdn iki tabloda aynı hash mi?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Eğitmen demosu (Postgres): + campaign_analyst rolü için RLS (segment = current_setting('app.segment')),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CLS (raw msisdn'i sadece fraud_analyst), audit için mekanizma öner.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3" name="Shape 7"/>
          <p:cNvSpPr/>
          <p:nvPr/>
        </p:nvSpPr>
        <p:spPr>
          <a:xfrm>
            <a:off x="457200" y="27979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Text 8"/>
          <p:cNvSpPr/>
          <p:nvPr/>
        </p:nvSpPr>
        <p:spPr>
          <a:xfrm>
            <a:off x="457200" y="27979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BEKLENEN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5" name="Shape 9"/>
          <p:cNvSpPr/>
          <p:nvPr/>
        </p:nvSpPr>
        <p:spPr>
          <a:xfrm>
            <a:off x="457200" y="3090600"/>
            <a:ext cx="8229240" cy="1481040"/>
          </a:xfrm>
          <a:prstGeom prst="roundRect">
            <a:avLst>
              <a:gd name="adj" fmla="val 7407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6" name="Text 10"/>
          <p:cNvSpPr/>
          <p:nvPr/>
        </p:nvSpPr>
        <p:spPr>
          <a:xfrm>
            <a:off x="640080" y="3182040"/>
            <a:ext cx="7863480" cy="12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gold_masked.fct_daily_usage: msisdn_hash, diğer kolonlar aynı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audit.settings(salt) tablosu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Demo (Postgres): 3 sorgu, 3 kanıt — sadece YOUTH · permission denied · hash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8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D5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9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Test et, kendine sor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0" name="Text 3"/>
          <p:cNvSpPr/>
          <p:nvPr/>
        </p:nvSpPr>
        <p:spPr>
          <a:xfrm>
            <a:off x="457200" y="77724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Governance: maskeleme ve erişim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1" name="Shape 4"/>
          <p:cNvSpPr/>
          <p:nvPr/>
        </p:nvSpPr>
        <p:spPr>
          <a:xfrm>
            <a:off x="457200" y="11887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5"/>
          <p:cNvSpPr/>
          <p:nvPr/>
        </p:nvSpPr>
        <p:spPr>
          <a:xfrm>
            <a:off x="457200" y="11887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Shape 6"/>
          <p:cNvSpPr/>
          <p:nvPr/>
        </p:nvSpPr>
        <p:spPr>
          <a:xfrm>
            <a:off x="457200" y="1481400"/>
            <a:ext cx="3931560" cy="3108600"/>
          </a:xfrm>
          <a:prstGeom prst="roundRect">
            <a:avLst>
              <a:gd name="adj" fmla="val 352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7"/>
          <p:cNvSpPr/>
          <p:nvPr/>
        </p:nvSpPr>
        <p:spPr>
          <a:xfrm>
            <a:off x="640080" y="1600200"/>
            <a:ext cx="35658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select count(distinct msisdn_hash) from gold_masked.fct_daily_usage = count(distinct msisdn) from gold.fct_daily_usage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Aynı msisdn → aynı hash (join çalışır)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Postgres: set role campaign_analyst; set app.segment='YOUTH' → min(segment)=max(segment)='YOUTH'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5" name="Shape 8"/>
          <p:cNvSpPr/>
          <p:nvPr/>
        </p:nvSpPr>
        <p:spPr>
          <a:xfrm>
            <a:off x="4754880" y="118872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 9"/>
          <p:cNvSpPr/>
          <p:nvPr/>
        </p:nvSpPr>
        <p:spPr>
          <a:xfrm>
            <a:off x="4754880" y="118872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SOR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7" name="Shape 10"/>
          <p:cNvSpPr/>
          <p:nvPr/>
        </p:nvSpPr>
        <p:spPr>
          <a:xfrm>
            <a:off x="4754880" y="1481400"/>
            <a:ext cx="3931560" cy="3108600"/>
          </a:xfrm>
          <a:prstGeom prst="roundRect">
            <a:avLst>
              <a:gd name="adj" fmla="val 3529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11"/>
          <p:cNvSpPr/>
          <p:nvPr/>
        </p:nvSpPr>
        <p:spPr>
          <a:xfrm>
            <a:off x="4937760" y="1600200"/>
            <a:ext cx="35658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Hash salt'lı mı?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Aynı msisdn her tabloda aynı hash'i veriyor mu?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SELECT'leri audit etmek için Copilot ne önerdi? Postgres'te gerçekten var mı?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0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D6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1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PR ve Copilot code review — dört göz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2" name="Shape 3"/>
          <p:cNvSpPr/>
          <p:nvPr/>
        </p:nvSpPr>
        <p:spPr>
          <a:xfrm>
            <a:off x="457200" y="1005840"/>
            <a:ext cx="1279800" cy="1096920"/>
          </a:xfrm>
          <a:prstGeom prst="roundRect">
            <a:avLst>
              <a:gd name="adj" fmla="val 10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 4"/>
          <p:cNvSpPr/>
          <p:nvPr/>
        </p:nvSpPr>
        <p:spPr>
          <a:xfrm>
            <a:off x="530280" y="1078920"/>
            <a:ext cx="1133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instructions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5"/>
          <p:cNvSpPr/>
          <p:nvPr/>
        </p:nvSpPr>
        <p:spPr>
          <a:xfrm>
            <a:off x="530280" y="1600200"/>
            <a:ext cx="1133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kurallar yazılı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 6"/>
          <p:cNvSpPr/>
          <p:nvPr/>
        </p:nvSpPr>
        <p:spPr>
          <a:xfrm>
            <a:off x="1719000" y="1371600"/>
            <a:ext cx="18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tr-T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6" name="Shape 7"/>
          <p:cNvSpPr/>
          <p:nvPr/>
        </p:nvSpPr>
        <p:spPr>
          <a:xfrm>
            <a:off x="1856160" y="1005840"/>
            <a:ext cx="1279800" cy="1096920"/>
          </a:xfrm>
          <a:prstGeom prst="roundRect">
            <a:avLst>
              <a:gd name="adj" fmla="val 10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7" name="Text 8"/>
          <p:cNvSpPr/>
          <p:nvPr/>
        </p:nvSpPr>
        <p:spPr>
          <a:xfrm>
            <a:off x="1929240" y="1078920"/>
            <a:ext cx="1133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agent yazar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8" name="Text 9"/>
          <p:cNvSpPr/>
          <p:nvPr/>
        </p:nvSpPr>
        <p:spPr>
          <a:xfrm>
            <a:off x="1929240" y="1600200"/>
            <a:ext cx="1133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/stg-model, /dag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 10"/>
          <p:cNvSpPr/>
          <p:nvPr/>
        </p:nvSpPr>
        <p:spPr>
          <a:xfrm>
            <a:off x="3117960" y="1371600"/>
            <a:ext cx="18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tr-T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0" name="Shape 11"/>
          <p:cNvSpPr/>
          <p:nvPr/>
        </p:nvSpPr>
        <p:spPr>
          <a:xfrm>
            <a:off x="3255120" y="1005840"/>
            <a:ext cx="1279800" cy="1096920"/>
          </a:xfrm>
          <a:prstGeom prst="roundRect">
            <a:avLst>
              <a:gd name="adj" fmla="val 10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1" name="Text 12"/>
          <p:cNvSpPr/>
          <p:nvPr/>
        </p:nvSpPr>
        <p:spPr>
          <a:xfrm>
            <a:off x="3328560" y="1078920"/>
            <a:ext cx="1133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a78bfa"/>
                </a:solidFill>
                <a:effectLst/>
                <a:uFillTx/>
                <a:latin typeface="Calibri"/>
                <a:ea typeface="Calibri"/>
              </a:rPr>
              <a:t>reviewer agent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13"/>
          <p:cNvSpPr/>
          <p:nvPr/>
        </p:nvSpPr>
        <p:spPr>
          <a:xfrm>
            <a:off x="3328560" y="1600200"/>
            <a:ext cx="1133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11 madde, yerelde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3" name="Text 14"/>
          <p:cNvSpPr/>
          <p:nvPr/>
        </p:nvSpPr>
        <p:spPr>
          <a:xfrm>
            <a:off x="4517280" y="1371600"/>
            <a:ext cx="18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tr-T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4" name="Shape 15"/>
          <p:cNvSpPr/>
          <p:nvPr/>
        </p:nvSpPr>
        <p:spPr>
          <a:xfrm>
            <a:off x="4654440" y="1005840"/>
            <a:ext cx="1279800" cy="1096920"/>
          </a:xfrm>
          <a:prstGeom prst="roundRect">
            <a:avLst>
              <a:gd name="adj" fmla="val 10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5" name="Text 16"/>
          <p:cNvSpPr/>
          <p:nvPr/>
        </p:nvSpPr>
        <p:spPr>
          <a:xfrm>
            <a:off x="4727520" y="1078920"/>
            <a:ext cx="1133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siz onaylarsınız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 17"/>
          <p:cNvSpPr/>
          <p:nvPr/>
        </p:nvSpPr>
        <p:spPr>
          <a:xfrm>
            <a:off x="4727520" y="1600200"/>
            <a:ext cx="1133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asla atlanmaz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7" name="Text 18"/>
          <p:cNvSpPr/>
          <p:nvPr/>
        </p:nvSpPr>
        <p:spPr>
          <a:xfrm>
            <a:off x="5916240" y="1371600"/>
            <a:ext cx="18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tr-T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8" name="Shape 19"/>
          <p:cNvSpPr/>
          <p:nvPr/>
        </p:nvSpPr>
        <p:spPr>
          <a:xfrm>
            <a:off x="6053400" y="1005840"/>
            <a:ext cx="1279800" cy="1096920"/>
          </a:xfrm>
          <a:prstGeom prst="roundRect">
            <a:avLst>
              <a:gd name="adj" fmla="val 10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9" name="Text 20"/>
          <p:cNvSpPr/>
          <p:nvPr/>
        </p:nvSpPr>
        <p:spPr>
          <a:xfrm>
            <a:off x="6126480" y="1078920"/>
            <a:ext cx="1133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a78bfa"/>
                </a:solidFill>
                <a:effectLst/>
                <a:uFillTx/>
                <a:latin typeface="Calibri"/>
                <a:ea typeface="Calibri"/>
              </a:rPr>
              <a:t>PR'da Copilot review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 21"/>
          <p:cNvSpPr/>
          <p:nvPr/>
        </p:nvSpPr>
        <p:spPr>
          <a:xfrm>
            <a:off x="6126480" y="1600200"/>
            <a:ext cx="1133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aynı instructions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 22"/>
          <p:cNvSpPr/>
          <p:nvPr/>
        </p:nvSpPr>
        <p:spPr>
          <a:xfrm>
            <a:off x="7315200" y="1371600"/>
            <a:ext cx="18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tr-T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2" name="Shape 23"/>
          <p:cNvSpPr/>
          <p:nvPr/>
        </p:nvSpPr>
        <p:spPr>
          <a:xfrm>
            <a:off x="7452360" y="1005840"/>
            <a:ext cx="1279800" cy="1096920"/>
          </a:xfrm>
          <a:prstGeom prst="roundRect">
            <a:avLst>
              <a:gd name="adj" fmla="val 10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3" name="Text 24"/>
          <p:cNvSpPr/>
          <p:nvPr/>
        </p:nvSpPr>
        <p:spPr>
          <a:xfrm>
            <a:off x="7525440" y="1078920"/>
            <a:ext cx="1133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merge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4" name="Text 25"/>
          <p:cNvSpPr/>
          <p:nvPr/>
        </p:nvSpPr>
        <p:spPr>
          <a:xfrm>
            <a:off x="7525440" y="1600200"/>
            <a:ext cx="1133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95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5" name="Shape 26"/>
          <p:cNvSpPr/>
          <p:nvPr/>
        </p:nvSpPr>
        <p:spPr>
          <a:xfrm>
            <a:off x="457200" y="2313360"/>
            <a:ext cx="914040" cy="255600"/>
          </a:xfrm>
          <a:prstGeom prst="roundRect">
            <a:avLst>
              <a:gd name="adj" fmla="val 21429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Text 27"/>
          <p:cNvSpPr/>
          <p:nvPr/>
        </p:nvSpPr>
        <p:spPr>
          <a:xfrm>
            <a:off x="457200" y="231336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PROMPT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7" name="Shape 28"/>
          <p:cNvSpPr/>
          <p:nvPr/>
        </p:nvSpPr>
        <p:spPr>
          <a:xfrm>
            <a:off x="457200" y="2606040"/>
            <a:ext cx="8229240" cy="822600"/>
          </a:xfrm>
          <a:prstGeom prst="roundRect">
            <a:avLst>
              <a:gd name="adj" fmla="val 13333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8" name="Text 29"/>
          <p:cNvSpPr/>
          <p:nvPr/>
        </p:nvSpPr>
        <p:spPr>
          <a:xfrm>
            <a:off x="594360" y="2679120"/>
            <a:ext cx="7954920" cy="67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git checkout -b gun2/production &amp;&amp; git add -A &amp;&amp; git commit -m "airflow dag, consumer, observability,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contract, governance"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git push -u origin gun2/production → GitHub'da PR aç → Reviewers: Copilot → yorumları oku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9" name="Shape 30"/>
          <p:cNvSpPr/>
          <p:nvPr/>
        </p:nvSpPr>
        <p:spPr>
          <a:xfrm>
            <a:off x="457200" y="3657600"/>
            <a:ext cx="8229240" cy="914040"/>
          </a:xfrm>
          <a:prstGeom prst="roundRect">
            <a:avLst>
              <a:gd name="adj" fmla="val 12000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31"/>
          <p:cNvSpPr/>
          <p:nvPr/>
        </p:nvSpPr>
        <p:spPr>
          <a:xfrm>
            <a:off x="640080" y="3749040"/>
            <a:ext cx="7863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4fc3f7"/>
                </a:solidFill>
                <a:effectLst/>
                <a:uFillTx/>
                <a:latin typeface="Calibri"/>
                <a:ea typeface="Calibri"/>
              </a:rPr>
              <a:t>Beklenen yorumlar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32"/>
          <p:cNvSpPr/>
          <p:nvPr/>
        </p:nvSpPr>
        <p:spPr>
          <a:xfrm>
            <a:off x="640080" y="4160520"/>
            <a:ext cx="78634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trigger_rule eksikliği · eksik doc_md · now() kullanımı · şifre/URI gömülü mü — hepsi copilot-instructions.md'den; dün yazdığınız kurallar PR'da otomatik denetleniyor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2" name="Text 33"/>
          <p:cNvSpPr/>
          <p:nvPr/>
        </p:nvSpPr>
        <p:spPr>
          <a:xfrm>
            <a:off x="457200" y="46177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Kurumsal GitHub'da Copilot review kapalıysa eğitmen ekranında izleyin. Dört göz: ikisi Copilot, ikisi insan; Copilot'un ikisi de aynı dosyayı okuyor.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İki günde inşa edilen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4" name="Shape 1"/>
          <p:cNvSpPr/>
          <p:nvPr/>
        </p:nvSpPr>
        <p:spPr>
          <a:xfrm>
            <a:off x="457200" y="1005840"/>
            <a:ext cx="1279800" cy="1371240"/>
          </a:xfrm>
          <a:prstGeom prst="roundRect">
            <a:avLst>
              <a:gd name="adj" fmla="val 8571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2"/>
          <p:cNvSpPr/>
          <p:nvPr/>
        </p:nvSpPr>
        <p:spPr>
          <a:xfrm>
            <a:off x="502920" y="1051560"/>
            <a:ext cx="1188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4</a:t>
            </a:r>
            <a:endParaRPr b="0" lang="tr-TR" sz="3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6" name="Text 3"/>
          <p:cNvSpPr/>
          <p:nvPr/>
        </p:nvSpPr>
        <p:spPr>
          <a:xfrm>
            <a:off x="530280" y="1783080"/>
            <a:ext cx="113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AI ortam dosya seti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7" name="Shape 4"/>
          <p:cNvSpPr/>
          <p:nvPr/>
        </p:nvSpPr>
        <p:spPr>
          <a:xfrm>
            <a:off x="1856160" y="1005840"/>
            <a:ext cx="1279800" cy="1371240"/>
          </a:xfrm>
          <a:prstGeom prst="roundRect">
            <a:avLst>
              <a:gd name="adj" fmla="val 8571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8" name="Text 5"/>
          <p:cNvSpPr/>
          <p:nvPr/>
        </p:nvSpPr>
        <p:spPr>
          <a:xfrm>
            <a:off x="1901880" y="1051560"/>
            <a:ext cx="1188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9</a:t>
            </a:r>
            <a:endParaRPr b="0" lang="tr-TR" sz="3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9" name="Text 6"/>
          <p:cNvSpPr/>
          <p:nvPr/>
        </p:nvSpPr>
        <p:spPr>
          <a:xfrm>
            <a:off x="1929240" y="1783080"/>
            <a:ext cx="113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dbt modeli + 1 snapshot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0" name="Shape 7"/>
          <p:cNvSpPr/>
          <p:nvPr/>
        </p:nvSpPr>
        <p:spPr>
          <a:xfrm>
            <a:off x="3255120" y="1005840"/>
            <a:ext cx="1279800" cy="1371240"/>
          </a:xfrm>
          <a:prstGeom prst="roundRect">
            <a:avLst>
              <a:gd name="adj" fmla="val 8571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8"/>
          <p:cNvSpPr/>
          <p:nvPr/>
        </p:nvSpPr>
        <p:spPr>
          <a:xfrm>
            <a:off x="3300840" y="1051560"/>
            <a:ext cx="1188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30+</a:t>
            </a:r>
            <a:endParaRPr b="0" lang="tr-TR" sz="3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2" name="Text 9"/>
          <p:cNvSpPr/>
          <p:nvPr/>
        </p:nvSpPr>
        <p:spPr>
          <a:xfrm>
            <a:off x="3328560" y="1783080"/>
            <a:ext cx="113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3" name="Shape 10"/>
          <p:cNvSpPr/>
          <p:nvPr/>
        </p:nvSpPr>
        <p:spPr>
          <a:xfrm>
            <a:off x="4654440" y="1005840"/>
            <a:ext cx="1279800" cy="1371240"/>
          </a:xfrm>
          <a:prstGeom prst="roundRect">
            <a:avLst>
              <a:gd name="adj" fmla="val 8571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4" name="Text 11"/>
          <p:cNvSpPr/>
          <p:nvPr/>
        </p:nvSpPr>
        <p:spPr>
          <a:xfrm>
            <a:off x="4700160" y="1051560"/>
            <a:ext cx="1188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1</a:t>
            </a:r>
            <a:endParaRPr b="0" lang="tr-TR" sz="3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12"/>
          <p:cNvSpPr/>
          <p:nvPr/>
        </p:nvSpPr>
        <p:spPr>
          <a:xfrm>
            <a:off x="4727520" y="1783080"/>
            <a:ext cx="113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DAG · consumer · Spark job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6" name="Shape 13"/>
          <p:cNvSpPr/>
          <p:nvPr/>
        </p:nvSpPr>
        <p:spPr>
          <a:xfrm>
            <a:off x="6053400" y="1005840"/>
            <a:ext cx="1279800" cy="1371240"/>
          </a:xfrm>
          <a:prstGeom prst="roundRect">
            <a:avLst>
              <a:gd name="adj" fmla="val 8571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7" name="Text 14"/>
          <p:cNvSpPr/>
          <p:nvPr/>
        </p:nvSpPr>
        <p:spPr>
          <a:xfrm>
            <a:off x="6099120" y="1051560"/>
            <a:ext cx="1188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1</a:t>
            </a:r>
            <a:endParaRPr b="0" lang="tr-TR" sz="3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8" name="Text 15"/>
          <p:cNvSpPr/>
          <p:nvPr/>
        </p:nvSpPr>
        <p:spPr>
          <a:xfrm>
            <a:off x="6126480" y="1783080"/>
            <a:ext cx="113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contract · governance script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9" name="Shape 16"/>
          <p:cNvSpPr/>
          <p:nvPr/>
        </p:nvSpPr>
        <p:spPr>
          <a:xfrm>
            <a:off x="7452360" y="1005840"/>
            <a:ext cx="1279800" cy="1371240"/>
          </a:xfrm>
          <a:prstGeom prst="roundRect">
            <a:avLst>
              <a:gd name="adj" fmla="val 8571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 17"/>
          <p:cNvSpPr/>
          <p:nvPr/>
        </p:nvSpPr>
        <p:spPr>
          <a:xfrm>
            <a:off x="7498080" y="1051560"/>
            <a:ext cx="1188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40</a:t>
            </a:r>
            <a:endParaRPr b="0" lang="tr-TR" sz="3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18"/>
          <p:cNvSpPr/>
          <p:nvPr/>
        </p:nvSpPr>
        <p:spPr>
          <a:xfrm>
            <a:off x="7525440" y="1783080"/>
            <a:ext cx="113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kolon dokümanı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2" name="Shape 19"/>
          <p:cNvSpPr/>
          <p:nvPr/>
        </p:nvSpPr>
        <p:spPr>
          <a:xfrm>
            <a:off x="457200" y="2560320"/>
            <a:ext cx="3931560" cy="2011320"/>
          </a:xfrm>
          <a:prstGeom prst="roundRect">
            <a:avLst>
              <a:gd name="adj" fmla="val 5455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3" name="Text 20"/>
          <p:cNvSpPr/>
          <p:nvPr/>
        </p:nvSpPr>
        <p:spPr>
          <a:xfrm>
            <a:off x="640080" y="2651760"/>
            <a:ext cx="3565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Satır olarak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4" name="Text 21"/>
          <p:cNvSpPr/>
          <p:nvPr/>
        </p:nvSpPr>
        <p:spPr>
          <a:xfrm>
            <a:off x="640080" y="2971800"/>
            <a:ext cx="3565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%85 Copilot</a:t>
            </a:r>
            <a:endParaRPr b="0" lang="tr-TR" sz="3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 22"/>
          <p:cNvSpPr/>
          <p:nvPr/>
        </p:nvSpPr>
        <p:spPr>
          <a:xfrm>
            <a:off x="640080" y="3749040"/>
            <a:ext cx="3565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SQL, YAML, DAG, consumer, doküman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6" name="Shape 23"/>
          <p:cNvSpPr/>
          <p:nvPr/>
        </p:nvSpPr>
        <p:spPr>
          <a:xfrm>
            <a:off x="4754880" y="2560320"/>
            <a:ext cx="3931560" cy="2011320"/>
          </a:xfrm>
          <a:prstGeom prst="roundRect">
            <a:avLst>
              <a:gd name="adj" fmla="val 5455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 24"/>
          <p:cNvSpPr/>
          <p:nvPr/>
        </p:nvSpPr>
        <p:spPr>
          <a:xfrm>
            <a:off x="4937760" y="2651760"/>
            <a:ext cx="3565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Karar olarak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8" name="Text 25"/>
          <p:cNvSpPr/>
          <p:nvPr/>
        </p:nvSpPr>
        <p:spPr>
          <a:xfrm>
            <a:off x="4937760" y="2971800"/>
            <a:ext cx="3565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%0 Copilot</a:t>
            </a:r>
            <a:endParaRPr b="0" lang="tr-TR" sz="3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9" name="Text 26"/>
          <p:cNvSpPr/>
          <p:nvPr/>
        </p:nvSpPr>
        <p:spPr>
          <a:xfrm>
            <a:off x="4937760" y="3749040"/>
            <a:ext cx="3565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Grain, watermark kolonu, PII listesi, severity, partition anahtarı, alarm eşiği, deprecation süresi — hepsini biz verdik.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Repo standardı — Pazartesi kopyalanacak liste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11" name="Table 0"/>
          <p:cNvGraphicFramePr/>
          <p:nvPr/>
        </p:nvGraphicFramePr>
        <p:xfrm>
          <a:off x="457200" y="1005840"/>
          <a:ext cx="8229240" cy="3291840"/>
        </p:xfrm>
        <a:graphic>
          <a:graphicData uri="http://schemas.openxmlformats.org/drawingml/2006/table">
            <a:tbl>
              <a:tblPr/>
              <a:tblGrid>
                <a:gridCol w="3017520"/>
                <a:gridCol w="3383280"/>
                <a:gridCol w="1828800"/>
              </a:tblGrid>
              <a:tr h="411480"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50" strike="noStrike" u="none">
                          <a:solidFill>
                            <a:srgbClr val="f1f5f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Dosya</a:t>
                      </a:r>
                      <a:endParaRPr b="0" lang="tr-TR" sz="115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24365a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50" strike="noStrike" u="none">
                          <a:solidFill>
                            <a:srgbClr val="f1f5f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Ne için</a:t>
                      </a:r>
                      <a:endParaRPr b="0" lang="tr-TR" sz="115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24365a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50" strike="noStrike" u="none">
                          <a:solidFill>
                            <a:srgbClr val="f1f5f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Kim yazar</a:t>
                      </a:r>
                      <a:endParaRPr b="0" lang="tr-TR" sz="115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24365a"/>
                    </a:solidFill>
                  </a:tcPr>
                </a:tc>
              </a:tr>
              <a:tr h="411480"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trike="noStrike" u="none">
                          <a:solidFill>
                            <a:srgbClr val="f5b84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.github/copilot-instructions.md</a:t>
                      </a:r>
                      <a:endParaRPr b="0" lang="tr-TR" sz="10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50" strike="noStrike" u="none">
                          <a:solidFill>
                            <a:srgbClr val="f1f5f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Şema gerçekleri, iş tanımları, genel kurallar</a:t>
                      </a:r>
                      <a:endParaRPr b="0" lang="tr-TR" sz="105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50" strike="noStrike" u="none">
                          <a:solidFill>
                            <a:srgbClr val="9fb0c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Takım, PR ile</a:t>
                      </a:r>
                      <a:endParaRPr b="0" lang="tr-TR" sz="105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</a:tr>
              <a:tr h="411480"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trike="noStrike" u="none">
                          <a:solidFill>
                            <a:srgbClr val="f5b84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.github/instructions/*.instructions.md</a:t>
                      </a:r>
                      <a:endParaRPr b="0" lang="tr-TR" sz="10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50" strike="noStrike" u="none">
                          <a:solidFill>
                            <a:srgbClr val="f1f5f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Katman kuralları (applyTo)</a:t>
                      </a:r>
                      <a:endParaRPr b="0" lang="tr-TR" sz="105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50" strike="noStrike" u="none">
                          <a:solidFill>
                            <a:srgbClr val="9fb0c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Katmanın sahibi</a:t>
                      </a:r>
                      <a:endParaRPr b="0" lang="tr-TR" sz="105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</a:tr>
              <a:tr h="411480"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trike="noStrike" u="none">
                          <a:solidFill>
                            <a:srgbClr val="f5b84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.github/prompts/*.prompt.md</a:t>
                      </a:r>
                      <a:endParaRPr b="0" lang="tr-TR" sz="10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50" strike="noStrike" u="none">
                          <a:solidFill>
                            <a:srgbClr val="f1f5f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Tekrar eden işler: staging, incremental, test, DAG, contract</a:t>
                      </a:r>
                      <a:endParaRPr b="0" lang="tr-TR" sz="105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50" strike="noStrike" u="none">
                          <a:solidFill>
                            <a:srgbClr val="9fb0c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İlk yazan, herkes iyileştirir</a:t>
                      </a:r>
                      <a:endParaRPr b="0" lang="tr-TR" sz="105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</a:tr>
              <a:tr h="411480"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trike="noStrike" u="none">
                          <a:solidFill>
                            <a:srgbClr val="f5b84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.github/agents/data-reviewer.agent.md</a:t>
                      </a:r>
                      <a:endParaRPr b="0" lang="tr-TR" sz="10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50" strike="noStrike" u="none">
                          <a:solidFill>
                            <a:srgbClr val="f1f5f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Yazan ≠ denetleyen</a:t>
                      </a:r>
                      <a:endParaRPr b="0" lang="tr-TR" sz="105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50" strike="noStrike" u="none">
                          <a:solidFill>
                            <a:srgbClr val="9fb0c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Quality gatekeeper</a:t>
                      </a:r>
                      <a:endParaRPr b="0" lang="tr-TR" sz="105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</a:tr>
              <a:tr h="411480"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trike="noStrike" u="none">
                          <a:solidFill>
                            <a:srgbClr val="f5b84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.vscode/mcp.json</a:t>
                      </a:r>
                      <a:endParaRPr b="0" lang="tr-TR" sz="10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50" strike="noStrike" u="none">
                          <a:solidFill>
                            <a:srgbClr val="f1f5f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Copilot'un veritabanına salt-okunur erişimi</a:t>
                      </a:r>
                      <a:endParaRPr b="0" lang="tr-TR" sz="105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50" strike="noStrike" u="none">
                          <a:solidFill>
                            <a:srgbClr val="9fb0c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Platform ekibi</a:t>
                      </a:r>
                      <a:endParaRPr b="0" lang="tr-TR" sz="105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</a:tr>
              <a:tr h="411480"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trike="noStrike" u="none">
                          <a:solidFill>
                            <a:srgbClr val="f5b84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REVIEW_CHECKLIST.md</a:t>
                      </a:r>
                      <a:endParaRPr b="0" lang="tr-TR" sz="10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50" strike="noStrike" u="none">
                          <a:solidFill>
                            <a:srgbClr val="f1f5f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İnsan review'ı, 12 soru</a:t>
                      </a:r>
                      <a:endParaRPr b="0" lang="tr-TR" sz="105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50" strike="noStrike" u="none">
                          <a:solidFill>
                            <a:srgbClr val="9fb0c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Takım</a:t>
                      </a:r>
                      <a:endParaRPr b="0" lang="tr-TR" sz="105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</a:tr>
              <a:tr h="411480"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00" strike="noStrike" u="none">
                          <a:solidFill>
                            <a:srgbClr val="f5b84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contracts/*.yaml</a:t>
                      </a:r>
                      <a:endParaRPr b="0" lang="tr-TR" sz="10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50" strike="noStrike" u="none">
                          <a:solidFill>
                            <a:srgbClr val="f1f5f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Her gold tablo için sözleşme</a:t>
                      </a:r>
                      <a:endParaRPr b="0" lang="tr-TR" sz="105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050" strike="noStrike" u="none">
                          <a:solidFill>
                            <a:srgbClr val="9fb0c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Data product owner</a:t>
                      </a:r>
                      <a:endParaRPr b="0" lang="tr-TR" sz="105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</a:tr>
            </a:tbl>
          </a:graphicData>
        </a:graphic>
      </p:graphicFrame>
      <p:sp>
        <p:nvSpPr>
          <p:cNvPr id="712" name="Text 1"/>
          <p:cNvSpPr/>
          <p:nvPr/>
        </p:nvSpPr>
        <p:spPr>
          <a:xfrm>
            <a:off x="457200" y="46177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Bu yedi dosya bir gün işi. Pazartesi ilk üçünü yazın; instructions'ı bugünkünden kopyalayın, iş tanımlarını kendinizinkiyle değiştirin.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Üç yeni rol ve 30 / 60 / 90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4" name="Shape 1"/>
          <p:cNvSpPr/>
          <p:nvPr/>
        </p:nvSpPr>
        <p:spPr>
          <a:xfrm>
            <a:off x="457200" y="960120"/>
            <a:ext cx="2651400" cy="1462680"/>
          </a:xfrm>
          <a:prstGeom prst="roundRect">
            <a:avLst>
              <a:gd name="adj" fmla="val 75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Shape 2"/>
          <p:cNvSpPr/>
          <p:nvPr/>
        </p:nvSpPr>
        <p:spPr>
          <a:xfrm>
            <a:off x="594360" y="1097280"/>
            <a:ext cx="502560" cy="50256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6" name="Image 0" descr="preencoded.png"/>
          <p:cNvPicPr/>
          <p:nvPr/>
        </p:nvPicPr>
        <p:blipFill>
          <a:blip r:embed="rId1"/>
          <a:stretch/>
        </p:blipFill>
        <p:spPr>
          <a:xfrm>
            <a:off x="704880" y="1207800"/>
            <a:ext cx="2811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7" name="Text 3"/>
          <p:cNvSpPr/>
          <p:nvPr/>
        </p:nvSpPr>
        <p:spPr>
          <a:xfrm>
            <a:off x="1234440" y="1051560"/>
            <a:ext cx="1828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Data Product Owner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8" name="Text 4"/>
          <p:cNvSpPr/>
          <p:nvPr/>
        </p:nvSpPr>
        <p:spPr>
          <a:xfrm>
            <a:off x="594360" y="1691640"/>
            <a:ext cx="2377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Sözleşmeyi yazan, SLA'yı veren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9" name="Shape 5"/>
          <p:cNvSpPr/>
          <p:nvPr/>
        </p:nvSpPr>
        <p:spPr>
          <a:xfrm>
            <a:off x="3246120" y="960120"/>
            <a:ext cx="2651400" cy="1462680"/>
          </a:xfrm>
          <a:prstGeom prst="roundRect">
            <a:avLst>
              <a:gd name="adj" fmla="val 75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0" name="Shape 6"/>
          <p:cNvSpPr/>
          <p:nvPr/>
        </p:nvSpPr>
        <p:spPr>
          <a:xfrm>
            <a:off x="3383280" y="1097280"/>
            <a:ext cx="502560" cy="502560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1" name="Image 1" descr="preencoded.png"/>
          <p:cNvPicPr/>
          <p:nvPr/>
        </p:nvPicPr>
        <p:blipFill>
          <a:blip r:embed="rId2"/>
          <a:stretch/>
        </p:blipFill>
        <p:spPr>
          <a:xfrm>
            <a:off x="3493800" y="1207800"/>
            <a:ext cx="2811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2" name="Text 7"/>
          <p:cNvSpPr/>
          <p:nvPr/>
        </p:nvSpPr>
        <p:spPr>
          <a:xfrm>
            <a:off x="4023360" y="1051560"/>
            <a:ext cx="1828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Quality Gatekeeper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 8"/>
          <p:cNvSpPr/>
          <p:nvPr/>
        </p:nvSpPr>
        <p:spPr>
          <a:xfrm>
            <a:off x="3383280" y="1691640"/>
            <a:ext cx="2377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Reviewer agent'ın insan tarafı; hangi test error, karar veren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4" name="Shape 9"/>
          <p:cNvSpPr/>
          <p:nvPr/>
        </p:nvSpPr>
        <p:spPr>
          <a:xfrm>
            <a:off x="6035040" y="960120"/>
            <a:ext cx="2651400" cy="1462680"/>
          </a:xfrm>
          <a:prstGeom prst="roundRect">
            <a:avLst>
              <a:gd name="adj" fmla="val 75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5" name="Shape 10"/>
          <p:cNvSpPr/>
          <p:nvPr/>
        </p:nvSpPr>
        <p:spPr>
          <a:xfrm>
            <a:off x="6172200" y="1097280"/>
            <a:ext cx="502560" cy="50256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26" name="Image 2" descr="preencoded.png"/>
          <p:cNvPicPr/>
          <p:nvPr/>
        </p:nvPicPr>
        <p:blipFill>
          <a:blip r:embed="rId3"/>
          <a:stretch/>
        </p:blipFill>
        <p:spPr>
          <a:xfrm>
            <a:off x="6282720" y="1207800"/>
            <a:ext cx="2811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7" name="Text 11"/>
          <p:cNvSpPr/>
          <p:nvPr/>
        </p:nvSpPr>
        <p:spPr>
          <a:xfrm>
            <a:off x="6812280" y="1051560"/>
            <a:ext cx="1828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a78bfa"/>
                </a:solidFill>
                <a:effectLst/>
                <a:uFillTx/>
                <a:latin typeface="Calibri"/>
                <a:ea typeface="Calibri"/>
              </a:rPr>
              <a:t>Contract Steward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8" name="Text 12"/>
          <p:cNvSpPr/>
          <p:nvPr/>
        </p:nvSpPr>
        <p:spPr>
          <a:xfrm>
            <a:off x="6172200" y="1691640"/>
            <a:ext cx="2377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Breaking change'i consumers listesine göre yöneten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9" name="Shape 13"/>
          <p:cNvSpPr/>
          <p:nvPr/>
        </p:nvSpPr>
        <p:spPr>
          <a:xfrm>
            <a:off x="457200" y="2560320"/>
            <a:ext cx="8229240" cy="585000"/>
          </a:xfrm>
          <a:prstGeom prst="roundRect">
            <a:avLst>
              <a:gd name="adj" fmla="val 18750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0" name="Text 14"/>
          <p:cNvSpPr/>
          <p:nvPr/>
        </p:nvSpPr>
        <p:spPr>
          <a:xfrm>
            <a:off x="640080" y="2560320"/>
            <a:ext cx="109692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30 gün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1" name="Text 15"/>
          <p:cNvSpPr/>
          <p:nvPr/>
        </p:nvSpPr>
        <p:spPr>
          <a:xfrm>
            <a:off x="1737360" y="2560320"/>
            <a:ext cx="676620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instructions + 3 prompt dosyası + reviewer agent takım reposunda; her Copilot çıktısında "doğrulama sorgusu ekle" refleksi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2" name="Shape 16"/>
          <p:cNvSpPr/>
          <p:nvPr/>
        </p:nvSpPr>
        <p:spPr>
          <a:xfrm>
            <a:off x="457200" y="3218760"/>
            <a:ext cx="8229240" cy="585000"/>
          </a:xfrm>
          <a:prstGeom prst="roundRect">
            <a:avLst>
              <a:gd name="adj" fmla="val 18750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 17"/>
          <p:cNvSpPr/>
          <p:nvPr/>
        </p:nvSpPr>
        <p:spPr>
          <a:xfrm>
            <a:off x="640080" y="3218760"/>
            <a:ext cx="109692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60 gün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4" name="Text 18"/>
          <p:cNvSpPr/>
          <p:nvPr/>
        </p:nvSpPr>
        <p:spPr>
          <a:xfrm>
            <a:off x="1737360" y="3218760"/>
            <a:ext cx="676620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en kritik 3 gold tablo için contract; en az bir tutarlılık testi; PR'da Copilot review açık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5" name="Shape 19"/>
          <p:cNvSpPr/>
          <p:nvPr/>
        </p:nvSpPr>
        <p:spPr>
          <a:xfrm>
            <a:off x="457200" y="3877200"/>
            <a:ext cx="8229240" cy="585000"/>
          </a:xfrm>
          <a:prstGeom prst="roundRect">
            <a:avLst>
              <a:gd name="adj" fmla="val 18750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6" name="Text 20"/>
          <p:cNvSpPr/>
          <p:nvPr/>
        </p:nvSpPr>
        <p:spPr>
          <a:xfrm>
            <a:off x="640080" y="3877200"/>
            <a:ext cx="109692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90 gün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 21"/>
          <p:cNvSpPr/>
          <p:nvPr/>
        </p:nvSpPr>
        <p:spPr>
          <a:xfrm>
            <a:off x="1737360" y="3877200"/>
            <a:ext cx="676620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katalog (dbt docs → DataHub); her gold tablonun yazılı sahibi; breaking change süreci: contract PR → consumer bildirimi → deprecation → versiyon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8" name="Text 22"/>
          <p:cNvSpPr/>
          <p:nvPr/>
        </p:nvSpPr>
        <p:spPr>
          <a:xfrm>
            <a:off x="457200" y="46177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İlk sözleşme için iyi aday: ekibinizde en çok şikayet gelen tablo.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Copilot'un kalıp hataları — iki günde gördükleriniz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0" name="Shape 1"/>
          <p:cNvSpPr/>
          <p:nvPr/>
        </p:nvSpPr>
        <p:spPr>
          <a:xfrm>
            <a:off x="457200" y="914400"/>
            <a:ext cx="4023000" cy="438480"/>
          </a:xfrm>
          <a:prstGeom prst="roundRect">
            <a:avLst>
              <a:gd name="adj" fmla="val 25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1" name="Shape 2"/>
          <p:cNvSpPr/>
          <p:nvPr/>
        </p:nvSpPr>
        <p:spPr>
          <a:xfrm>
            <a:off x="567000" y="996840"/>
            <a:ext cx="273960" cy="27396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2" name="Text 3"/>
          <p:cNvSpPr/>
          <p:nvPr/>
        </p:nvSpPr>
        <p:spPr>
          <a:xfrm>
            <a:off x="567000" y="99684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1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4"/>
          <p:cNvSpPr/>
          <p:nvPr/>
        </p:nvSpPr>
        <p:spPr>
          <a:xfrm>
            <a:off x="960120" y="914400"/>
            <a:ext cx="34286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"Aktif"i üç farklı anladı (tanım eksik)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4" name="Shape 5"/>
          <p:cNvSpPr/>
          <p:nvPr/>
        </p:nvSpPr>
        <p:spPr>
          <a:xfrm>
            <a:off x="4663440" y="914400"/>
            <a:ext cx="4023000" cy="438480"/>
          </a:xfrm>
          <a:prstGeom prst="roundRect">
            <a:avLst>
              <a:gd name="adj" fmla="val 25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5" name="Shape 6"/>
          <p:cNvSpPr/>
          <p:nvPr/>
        </p:nvSpPr>
        <p:spPr>
          <a:xfrm>
            <a:off x="4773240" y="996840"/>
            <a:ext cx="273960" cy="27396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6" name="Text 7"/>
          <p:cNvSpPr/>
          <p:nvPr/>
        </p:nvSpPr>
        <p:spPr>
          <a:xfrm>
            <a:off x="4773240" y="99684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7" name="Text 8"/>
          <p:cNvSpPr/>
          <p:nvPr/>
        </p:nvSpPr>
        <p:spPr>
          <a:xfrm>
            <a:off x="5166360" y="914400"/>
            <a:ext cx="34286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status='ACTIVE' → varyantlar kayıp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8" name="Shape 9"/>
          <p:cNvSpPr/>
          <p:nvPr/>
        </p:nvSpPr>
        <p:spPr>
          <a:xfrm>
            <a:off x="457200" y="1417320"/>
            <a:ext cx="4023000" cy="438480"/>
          </a:xfrm>
          <a:prstGeom prst="roundRect">
            <a:avLst>
              <a:gd name="adj" fmla="val 25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9" name="Shape 10"/>
          <p:cNvSpPr/>
          <p:nvPr/>
        </p:nvSpPr>
        <p:spPr>
          <a:xfrm>
            <a:off x="567000" y="1499760"/>
            <a:ext cx="273960" cy="27396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0" name="Text 11"/>
          <p:cNvSpPr/>
          <p:nvPr/>
        </p:nvSpPr>
        <p:spPr>
          <a:xfrm>
            <a:off x="567000" y="149976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3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1" name="Text 12"/>
          <p:cNvSpPr/>
          <p:nvPr/>
        </p:nvSpPr>
        <p:spPr>
          <a:xfrm>
            <a:off x="960120" y="1417320"/>
            <a:ext cx="34286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DISTINCT ile dedup (hiçbir şey silmez)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2" name="Shape 13"/>
          <p:cNvSpPr/>
          <p:nvPr/>
        </p:nvSpPr>
        <p:spPr>
          <a:xfrm>
            <a:off x="4663440" y="1417320"/>
            <a:ext cx="4023000" cy="438480"/>
          </a:xfrm>
          <a:prstGeom prst="roundRect">
            <a:avLst>
              <a:gd name="adj" fmla="val 25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3" name="Shape 14"/>
          <p:cNvSpPr/>
          <p:nvPr/>
        </p:nvSpPr>
        <p:spPr>
          <a:xfrm>
            <a:off x="4773240" y="1499760"/>
            <a:ext cx="273960" cy="27396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4" name="Text 15"/>
          <p:cNvSpPr/>
          <p:nvPr/>
        </p:nvSpPr>
        <p:spPr>
          <a:xfrm>
            <a:off x="4773240" y="149976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4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5" name="Text 16"/>
          <p:cNvSpPr/>
          <p:nvPr/>
        </p:nvSpPr>
        <p:spPr>
          <a:xfrm>
            <a:off x="5166360" y="1417320"/>
            <a:ext cx="34286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'+' || right(…) → +90 öneki yok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6" name="Shape 17"/>
          <p:cNvSpPr/>
          <p:nvPr/>
        </p:nvSpPr>
        <p:spPr>
          <a:xfrm>
            <a:off x="457200" y="1920240"/>
            <a:ext cx="4023000" cy="438480"/>
          </a:xfrm>
          <a:prstGeom prst="roundRect">
            <a:avLst>
              <a:gd name="adj" fmla="val 25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7" name="Shape 18"/>
          <p:cNvSpPr/>
          <p:nvPr/>
        </p:nvSpPr>
        <p:spPr>
          <a:xfrm>
            <a:off x="567000" y="2002680"/>
            <a:ext cx="273960" cy="27396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8" name="Text 19"/>
          <p:cNvSpPr/>
          <p:nvPr/>
        </p:nvSpPr>
        <p:spPr>
          <a:xfrm>
            <a:off x="567000" y="200268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5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9" name="Text 20"/>
          <p:cNvSpPr/>
          <p:nvPr/>
        </p:nvSpPr>
        <p:spPr>
          <a:xfrm>
            <a:off x="960120" y="1920240"/>
            <a:ext cx="34286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Nested Loop: ifade filtresi, rows=1 tahmini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0" name="Shape 21"/>
          <p:cNvSpPr/>
          <p:nvPr/>
        </p:nvSpPr>
        <p:spPr>
          <a:xfrm>
            <a:off x="4663440" y="1920240"/>
            <a:ext cx="4023000" cy="438480"/>
          </a:xfrm>
          <a:prstGeom prst="roundRect">
            <a:avLst>
              <a:gd name="adj" fmla="val 25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1" name="Shape 22"/>
          <p:cNvSpPr/>
          <p:nvPr/>
        </p:nvSpPr>
        <p:spPr>
          <a:xfrm>
            <a:off x="4773240" y="2002680"/>
            <a:ext cx="273960" cy="27396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2" name="Text 23"/>
          <p:cNvSpPr/>
          <p:nvPr/>
        </p:nvSpPr>
        <p:spPr>
          <a:xfrm>
            <a:off x="4773240" y="200268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6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3" name="Text 24"/>
          <p:cNvSpPr/>
          <p:nvPr/>
        </p:nvSpPr>
        <p:spPr>
          <a:xfrm>
            <a:off x="5166360" y="1920240"/>
            <a:ext cx="34286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Yorumda {{ ref() }} → döngü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4" name="Shape 25"/>
          <p:cNvSpPr/>
          <p:nvPr/>
        </p:nvSpPr>
        <p:spPr>
          <a:xfrm>
            <a:off x="457200" y="2423160"/>
            <a:ext cx="4023000" cy="438480"/>
          </a:xfrm>
          <a:prstGeom prst="roundRect">
            <a:avLst>
              <a:gd name="adj" fmla="val 25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5" name="Shape 26"/>
          <p:cNvSpPr/>
          <p:nvPr/>
        </p:nvSpPr>
        <p:spPr>
          <a:xfrm>
            <a:off x="567000" y="2505600"/>
            <a:ext cx="273960" cy="27396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6" name="Text 27"/>
          <p:cNvSpPr/>
          <p:nvPr/>
        </p:nvSpPr>
        <p:spPr>
          <a:xfrm>
            <a:off x="567000" y="250560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7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7" name="Text 28"/>
          <p:cNvSpPr/>
          <p:nvPr/>
        </p:nvSpPr>
        <p:spPr>
          <a:xfrm>
            <a:off x="960120" y="2423160"/>
            <a:ext cx="34286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Totoloji test; regex testi yok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8" name="Shape 29"/>
          <p:cNvSpPr/>
          <p:nvPr/>
        </p:nvSpPr>
        <p:spPr>
          <a:xfrm>
            <a:off x="4663440" y="2423160"/>
            <a:ext cx="4023000" cy="438480"/>
          </a:xfrm>
          <a:prstGeom prst="roundRect">
            <a:avLst>
              <a:gd name="adj" fmla="val 25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9" name="Shape 30"/>
          <p:cNvSpPr/>
          <p:nvPr/>
        </p:nvSpPr>
        <p:spPr>
          <a:xfrm>
            <a:off x="4773240" y="2505600"/>
            <a:ext cx="273960" cy="27396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31"/>
          <p:cNvSpPr/>
          <p:nvPr/>
        </p:nvSpPr>
        <p:spPr>
          <a:xfrm>
            <a:off x="4773240" y="250560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8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1" name="Text 32"/>
          <p:cNvSpPr/>
          <p:nvPr/>
        </p:nvSpPr>
        <p:spPr>
          <a:xfrm>
            <a:off x="5166360" y="2423160"/>
            <a:ext cx="34286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Watermark event_ts'ten / now() ile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2" name="Shape 33"/>
          <p:cNvSpPr/>
          <p:nvPr/>
        </p:nvSpPr>
        <p:spPr>
          <a:xfrm>
            <a:off x="457200" y="2926080"/>
            <a:ext cx="4023000" cy="438480"/>
          </a:xfrm>
          <a:prstGeom prst="roundRect">
            <a:avLst>
              <a:gd name="adj" fmla="val 25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3" name="Shape 34"/>
          <p:cNvSpPr/>
          <p:nvPr/>
        </p:nvSpPr>
        <p:spPr>
          <a:xfrm>
            <a:off x="567000" y="3008520"/>
            <a:ext cx="273960" cy="27396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4" name="Text 35"/>
          <p:cNvSpPr/>
          <p:nvPr/>
        </p:nvSpPr>
        <p:spPr>
          <a:xfrm>
            <a:off x="567000" y="300852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9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5" name="Text 36"/>
          <p:cNvSpPr/>
          <p:nvPr/>
        </p:nvSpPr>
        <p:spPr>
          <a:xfrm>
            <a:off x="960120" y="2926080"/>
            <a:ext cx="34286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Geç gelenleri toplayıp günü ezmek (19→1)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6" name="Shape 37"/>
          <p:cNvSpPr/>
          <p:nvPr/>
        </p:nvSpPr>
        <p:spPr>
          <a:xfrm>
            <a:off x="4663440" y="2926080"/>
            <a:ext cx="4023000" cy="438480"/>
          </a:xfrm>
          <a:prstGeom prst="roundRect">
            <a:avLst>
              <a:gd name="adj" fmla="val 25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Shape 38"/>
          <p:cNvSpPr/>
          <p:nvPr/>
        </p:nvSpPr>
        <p:spPr>
          <a:xfrm>
            <a:off x="4773240" y="3008520"/>
            <a:ext cx="273960" cy="27396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8" name="Text 39"/>
          <p:cNvSpPr/>
          <p:nvPr/>
        </p:nvSpPr>
        <p:spPr>
          <a:xfrm>
            <a:off x="4773240" y="300852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9" name="Text 40"/>
          <p:cNvSpPr/>
          <p:nvPr/>
        </p:nvSpPr>
        <p:spPr>
          <a:xfrm>
            <a:off x="5166360" y="2926080"/>
            <a:ext cx="34286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SCD2 join'i valid_to IS NULL ile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0" name="Shape 41"/>
          <p:cNvSpPr/>
          <p:nvPr/>
        </p:nvSpPr>
        <p:spPr>
          <a:xfrm>
            <a:off x="457200" y="3429000"/>
            <a:ext cx="4023000" cy="438480"/>
          </a:xfrm>
          <a:prstGeom prst="roundRect">
            <a:avLst>
              <a:gd name="adj" fmla="val 25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1" name="Shape 42"/>
          <p:cNvSpPr/>
          <p:nvPr/>
        </p:nvSpPr>
        <p:spPr>
          <a:xfrm>
            <a:off x="567000" y="3511440"/>
            <a:ext cx="273960" cy="27396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Text 43"/>
          <p:cNvSpPr/>
          <p:nvPr/>
        </p:nvSpPr>
        <p:spPr>
          <a:xfrm>
            <a:off x="567000" y="351144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3" name="Text 44"/>
          <p:cNvSpPr/>
          <p:nvPr/>
        </p:nvSpPr>
        <p:spPr>
          <a:xfrm>
            <a:off x="960120" y="3429000"/>
            <a:ext cx="34286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catchup, now(), poke, trigger_rule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4" name="Shape 45"/>
          <p:cNvSpPr/>
          <p:nvPr/>
        </p:nvSpPr>
        <p:spPr>
          <a:xfrm>
            <a:off x="4663440" y="3429000"/>
            <a:ext cx="4023000" cy="438480"/>
          </a:xfrm>
          <a:prstGeom prst="roundRect">
            <a:avLst>
              <a:gd name="adj" fmla="val 25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5" name="Shape 46"/>
          <p:cNvSpPr/>
          <p:nvPr/>
        </p:nvSpPr>
        <p:spPr>
          <a:xfrm>
            <a:off x="4773240" y="3511440"/>
            <a:ext cx="273960" cy="27396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6" name="Text 47"/>
          <p:cNvSpPr/>
          <p:nvPr/>
        </p:nvSpPr>
        <p:spPr>
          <a:xfrm>
            <a:off x="4773240" y="351144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7" name="Text 48"/>
          <p:cNvSpPr/>
          <p:nvPr/>
        </p:nvSpPr>
        <p:spPr>
          <a:xfrm>
            <a:off x="5166360" y="3429000"/>
            <a:ext cx="34286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Offset commit'i DB commit'inden önce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8" name="Shape 49"/>
          <p:cNvSpPr/>
          <p:nvPr/>
        </p:nvSpPr>
        <p:spPr>
          <a:xfrm>
            <a:off x="457200" y="3931920"/>
            <a:ext cx="4023000" cy="438480"/>
          </a:xfrm>
          <a:prstGeom prst="roundRect">
            <a:avLst>
              <a:gd name="adj" fmla="val 25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9" name="Shape 50"/>
          <p:cNvSpPr/>
          <p:nvPr/>
        </p:nvSpPr>
        <p:spPr>
          <a:xfrm>
            <a:off x="567000" y="4014360"/>
            <a:ext cx="273960" cy="27396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0" name="Text 51"/>
          <p:cNvSpPr/>
          <p:nvPr/>
        </p:nvSpPr>
        <p:spPr>
          <a:xfrm>
            <a:off x="567000" y="401436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13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1" name="Text 52"/>
          <p:cNvSpPr/>
          <p:nvPr/>
        </p:nvSpPr>
        <p:spPr>
          <a:xfrm>
            <a:off x="960120" y="3931920"/>
            <a:ext cx="34286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Fact'i broadcast etmek (OOM)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2" name="Shape 53"/>
          <p:cNvSpPr/>
          <p:nvPr/>
        </p:nvSpPr>
        <p:spPr>
          <a:xfrm>
            <a:off x="4663440" y="3931920"/>
            <a:ext cx="4023000" cy="438480"/>
          </a:xfrm>
          <a:prstGeom prst="roundRect">
            <a:avLst>
              <a:gd name="adj" fmla="val 25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3" name="Shape 54"/>
          <p:cNvSpPr/>
          <p:nvPr/>
        </p:nvSpPr>
        <p:spPr>
          <a:xfrm>
            <a:off x="4773240" y="4014360"/>
            <a:ext cx="273960" cy="27396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4" name="Text 55"/>
          <p:cNvSpPr/>
          <p:nvPr/>
        </p:nvSpPr>
        <p:spPr>
          <a:xfrm>
            <a:off x="4773240" y="401436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14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5" name="Text 56"/>
          <p:cNvSpPr/>
          <p:nvPr/>
        </p:nvSpPr>
        <p:spPr>
          <a:xfrm>
            <a:off x="5166360" y="3931920"/>
            <a:ext cx="34286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SELECT trigger uydurmak (Postgres'te yok)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6" name="Text 57"/>
          <p:cNvSpPr/>
          <p:nvPr/>
        </p:nvSpPr>
        <p:spPr>
          <a:xfrm>
            <a:off x="457200" y="46177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Her hata bir kalıp; kalıbı bilen mühendis onu 10 saniyede yakalar. Her biri instructions'a bir satır, checklist'e bir soru oldu.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Text 0"/>
          <p:cNvSpPr/>
          <p:nvPr/>
        </p:nvSpPr>
        <p:spPr>
          <a:xfrm>
            <a:off x="548640" y="731520"/>
            <a:ext cx="8046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201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Son söz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8" name="Text 1"/>
          <p:cNvSpPr/>
          <p:nvPr/>
        </p:nvSpPr>
        <p:spPr>
          <a:xfrm>
            <a:off x="548640" y="1280160"/>
            <a:ext cx="804636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İki gündür Copilot'un kötü olduğunu göstermedim. Tam tersi: inanılmaz hızlı, inanılmaz kapsamlı. Ama her hatası bir kalıp, ve kalıbı bilen mühendis o hatayı 10 saniyede yakalıyor.</a:t>
            </a:r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9" name="Text 2"/>
          <p:cNvSpPr/>
          <p:nvPr/>
        </p:nvSpPr>
        <p:spPr>
          <a:xfrm>
            <a:off x="548640" y="2560320"/>
            <a:ext cx="8046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Copilot yazar; siz karar verir, tanımlar, doğrular, sahiplenirsiniz.</a:t>
            </a:r>
            <a:endParaRPr b="0" lang="tr-TR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0" name="Shape 3"/>
          <p:cNvSpPr/>
          <p:nvPr/>
        </p:nvSpPr>
        <p:spPr>
          <a:xfrm>
            <a:off x="548640" y="3291840"/>
            <a:ext cx="8046360" cy="822600"/>
          </a:xfrm>
          <a:prstGeom prst="roundRect">
            <a:avLst>
              <a:gd name="adj" fmla="val 13333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4"/>
          <p:cNvSpPr/>
          <p:nvPr/>
        </p:nvSpPr>
        <p:spPr>
          <a:xfrm>
            <a:off x="777240" y="3291840"/>
            <a:ext cx="75891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"Veri taşıyan değil, veri ürünü inşa eden mühendis" — bu cümle artık sizin. Pazartesi ilk iş: instructions dosyası.</a:t>
            </a:r>
            <a:endParaRPr b="0" lang="tr-T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2" name="Text 5"/>
          <p:cNvSpPr/>
          <p:nvPr/>
        </p:nvSpPr>
        <p:spPr>
          <a:xfrm>
            <a:off x="548640" y="438912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Halit Enes Kalaycı · halitkalayci.com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127</TotalTime>
  <Application>LibreOffice/25.2.7.2$Windows_X86_64 LibreOffice_project/5cbfd1ab6520636bb5f7b99185aa69bd7456825d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2026-09-23T21:08:20Z</dcterms:created>
  <dc:creator>Halit Enes Kalaycı</dc:creator>
  <dc:description/>
  <dc:language>tr-TR</dc:language>
  <cp:lastModifiedBy/>
  <dcterms:modified xsi:type="dcterms:W3CDTF">2026-09-24T02:18:41Z</dcterms:modified>
  <cp:revision>2</cp:revision>
  <dc:subject>PptxGenJS Presentation</dc:subject>
  <dc:title>AI Destekli Veri Mühendisliği — Gün 2 (Katılımcı)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64</vt:i4>
  </property>
  <property fmtid="{D5CDD505-2E9C-101B-9397-08002B2CF9AE}" pid="3" name="PresentationFormat">
    <vt:lpwstr>On-screen Show (16:9)</vt:lpwstr>
  </property>
  <property fmtid="{D5CDD505-2E9C-101B-9397-08002B2CF9AE}" pid="4" name="Slides">
    <vt:i4>64</vt:i4>
  </property>
</Properties>
</file>