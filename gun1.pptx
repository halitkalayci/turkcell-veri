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tr-T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Slaytı taşımak için tıklayın</a:t>
            </a:r>
            <a:endParaRPr lang="tr-T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Notların biçimini düzenlemek için tıklayın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6F7BAD-ADC0-425F-A3E8-8D6C58561009}" type="slidenum"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5011A9-E724-4FA8-860A-596C2B6197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9C7859-246F-4959-8429-6F8E1E4877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002721-CAD2-4C73-BD7E-6234460615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C06D46-D4A6-4D8D-8155-218B17412A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F40D54-30DB-41A3-8709-0787CCC12B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95F614-4B88-46FF-B435-453FA3109B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0155A4-0E01-4989-B4F0-093DAC12A5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0B25AB-7936-4A78-9CE8-2E14D5B680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593253-E847-4C86-825E-8AD9157FB8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695D77-7775-4103-9163-95F9E76D52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0443B8-E9D7-4C55-8E93-D283FCE9C6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502D9A-0388-4D30-B86D-FF781481B6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7F7B09-228F-40ED-8190-36C865FE29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EFFA4D-CE01-40BE-B150-B11C3E01A9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C12FB6-DF75-4EF2-89DA-F89B4EE408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9AAFBE-7EA6-4A5A-83DC-E889B0D0FE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1005E5-5D35-4905-8810-C0D79249A3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42FD72-A42E-4D51-ABAE-86011EE639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253FE1-CE7C-4146-B6A7-AACB7FB256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06A5F8-DE6D-4713-8F77-61E61F34F9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A40FEC-6D3B-4A72-B32E-B36A36DAE8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CEAFE4-0182-4F68-882F-BF9B0F1D0E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EF58AA-A9C3-40AA-B11E-1396A45904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9A58C2-DCF6-462B-8AB2-9EF0FCBDD9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00B7A0-0464-4174-8D6F-FD89A8B362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A93685-E08F-4A6F-829C-4294DA9E0B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0BEFFF-8D0A-4605-89F9-A634CE3539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0D7CD3-612F-455A-9A94-1F54D2DC9A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A82108-C6D4-43EF-B651-855CFA594F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53DDF1-2612-4549-AEAE-51C0AB503D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893F97-DCB2-4DD2-BD72-0E1B36A9FD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F51CA6-7A51-4E6F-890D-0418C0FA59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E3B2F0-AFE0-4D31-BA0E-162E9E32BA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EC59A3-4525-4991-8634-4004303ADE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8DA576-9983-4E01-A794-03424293D4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D6DEFF-0C61-4E4F-A7AE-4F60A7893D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0D1BE5-4017-4C9C-9D7D-82CB41934B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8B08E1-1FA7-433C-A5AE-BD9E7F6B0E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91A134-10FC-4D1F-8B45-A2D5D80FD1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40FDB5-514D-4E11-ACB1-7841705E5A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C3A230-0A3D-4597-A568-2B2FCF0AEA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C05C6D-9460-4C09-8A1C-1D47B3A432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E8494D-E781-43BA-948A-92ACB665BA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832F3D-D106-40B6-B9FB-4C2F97B582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C53E7A-2628-4189-A51F-B9C326E219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189168-F568-402F-B242-C3E81754B3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4F182E-EEDB-47E1-92BF-8161061F89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35805C-E2EF-4E6B-9196-EF339D6195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52CD91-90CF-4BBE-9C7A-520C6144D1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9FA565-C8B2-48C0-8BC5-D9B3401A87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tr-T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tr-T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lang="tr-T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1188720"/>
            <a:ext cx="8046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 Destekli Veri Mühendisliği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1965960"/>
            <a:ext cx="8046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Gün 1 · Copilot'u veri mühendisi yapmak · dbt ile Silver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8640" y="2743200"/>
            <a:ext cx="8046000" cy="1005120"/>
          </a:xfrm>
          <a:prstGeom prst="roundRect">
            <a:avLst>
              <a:gd name="adj" fmla="val 1090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2743200"/>
            <a:ext cx="7588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"Veri taşıyan değil; veri ürünü inşa eden mühendis."</a:t>
            </a:r>
            <a:endParaRPr lang="tr-T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429768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Halit Enes Kalaycı · Turkcell · Eylül 2026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Gün 1'in haritası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457200" y="1051560"/>
            <a:ext cx="4022640" cy="3336840"/>
          </a:xfrm>
          <a:prstGeom prst="roundRect">
            <a:avLst>
              <a:gd name="adj" fmla="val 328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85800" y="118872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Sabah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85800" y="150876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Copilot'u veri mühendisi yapmak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85800" y="2057400"/>
            <a:ext cx="3565440" cy="22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Modern mimari: ELT, medallion, warehouse/lake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instructions · applyTo · MCP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Prompt ve context engineering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Prompt dosyaları · reviewer agent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İlk doğru sorgu: 8237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4663440" y="1051560"/>
            <a:ext cx="4022640" cy="3336840"/>
          </a:xfrm>
          <a:prstGeom prst="roundRect">
            <a:avLst>
              <a:gd name="adj" fmla="val 328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4892040" y="118872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Öğleden sonra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4892040" y="1508760"/>
            <a:ext cx="3565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dbt: Silver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4892040" y="2057400"/>
            <a:ext cx="3565440" cy="22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nedir, materialization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Proje iskeleti, sources.yml, freshness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Staging: dedup + normalize + test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gücü: her test neyi yakalar?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Fact, dimension, grain → Gold Gün 2 sabah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Format: eğitmen Copilot'la canlı kurar, siz aynı prompt'la kendi makinenizde. Her adımın referans çözümü var; geride kalan oradan alır.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İki gün sonra bu ekran sizde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457200" y="1051560"/>
            <a:ext cx="4022640" cy="127944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640080" y="1234440"/>
            <a:ext cx="547920" cy="5479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0" descr="preencoded.png"/>
          <p:cNvPicPr/>
          <p:nvPr/>
        </p:nvPicPr>
        <p:blipFill>
          <a:blip r:embed="rId1"/>
          <a:stretch/>
        </p:blipFill>
        <p:spPr>
          <a:xfrm>
            <a:off x="760680" y="1355040"/>
            <a:ext cx="30636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3"/>
          <p:cNvSpPr/>
          <p:nvPr/>
        </p:nvSpPr>
        <p:spPr>
          <a:xfrm>
            <a:off x="1371600" y="123444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lineage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1371600" y="1645920"/>
            <a:ext cx="2925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raw → silver → gold, 9 model, 30+ test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4663440" y="1051560"/>
            <a:ext cx="4022640" cy="127944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4846320" y="1234440"/>
            <a:ext cx="547920" cy="5479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1" descr="preencoded.png"/>
          <p:cNvPicPr/>
          <p:nvPr/>
        </p:nvPicPr>
        <p:blipFill>
          <a:blip r:embed="rId2"/>
          <a:stretch/>
        </p:blipFill>
        <p:spPr>
          <a:xfrm>
            <a:off x="4966920" y="1355040"/>
            <a:ext cx="30636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7"/>
          <p:cNvSpPr/>
          <p:nvPr/>
        </p:nvSpPr>
        <p:spPr>
          <a:xfrm>
            <a:off x="5577840" y="123444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 DAG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5577840" y="1645920"/>
            <a:ext cx="2925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Her gece 03:00, retry'lı, idempotent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457200" y="2468880"/>
            <a:ext cx="4022640" cy="127944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640080" y="2651760"/>
            <a:ext cx="547920" cy="5479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2" descr="preencoded.png"/>
          <p:cNvPicPr/>
          <p:nvPr/>
        </p:nvPicPr>
        <p:blipFill>
          <a:blip r:embed="rId3"/>
          <a:stretch/>
        </p:blipFill>
        <p:spPr>
          <a:xfrm>
            <a:off x="760680" y="2772360"/>
            <a:ext cx="30636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1"/>
          <p:cNvSpPr/>
          <p:nvPr/>
        </p:nvSpPr>
        <p:spPr>
          <a:xfrm>
            <a:off x="1371600" y="265176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Data contract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1371600" y="3063240"/>
            <a:ext cx="2925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Şema + tanım + SLA + sahip, YAML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4663440" y="2468880"/>
            <a:ext cx="4022640" cy="127944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4846320" y="2651760"/>
            <a:ext cx="547920" cy="5479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3" descr="preencoded.png"/>
          <p:cNvPicPr/>
          <p:nvPr/>
        </p:nvPicPr>
        <p:blipFill>
          <a:blip r:embed="rId4"/>
          <a:stretch/>
        </p:blipFill>
        <p:spPr>
          <a:xfrm>
            <a:off x="4966920" y="2772360"/>
            <a:ext cx="306360" cy="3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5"/>
          <p:cNvSpPr/>
          <p:nvPr/>
        </p:nvSpPr>
        <p:spPr>
          <a:xfrm>
            <a:off x="5577840" y="265176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gold.fct_daily_usage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5577840" y="3063240"/>
            <a:ext cx="29253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Abone × gün, incremental, geç veriye dayanıklı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457200" y="3931920"/>
            <a:ext cx="8228880" cy="685080"/>
          </a:xfrm>
          <a:prstGeom prst="roundRect">
            <a:avLst>
              <a:gd name="adj" fmla="val 160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640080" y="3931920"/>
            <a:ext cx="7863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SQL'i, dbt modelini, DAG'ı biz yazmayacağız; Copilot yazacak. Bizim işimiz: doğru ortamı kurmak ve yazdığını denetlemek.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Bugünün verisi: sentetik telekom, bilerek kirli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457200" y="1051560"/>
            <a:ext cx="3931200" cy="3519720"/>
          </a:xfrm>
          <a:prstGeom prst="roundRect">
            <a:avLst>
              <a:gd name="adj" fmla="val 311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640080" y="11430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8 ham tablo (raw şeması)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40080" y="155448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subscribers — 10.150 satır, 10.000 abone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cdr_events — 305.942 olay (voice/sms/data)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recharges — 60.000 yükleme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plans, plan_changes, campaigns, campaign_responses, corporate_accounts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640080" y="384048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CDR = Call Detail Record. MSISDN = telefon numarası. E.164 = +905XXXXXXXXX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4754880" y="1051560"/>
            <a:ext cx="3931200" cy="3519720"/>
          </a:xfrm>
          <a:prstGeom prst="roundRect">
            <a:avLst>
              <a:gd name="adj" fmla="val 311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4937760" y="11430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Kirlilik (gerçek hayat böyle)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4937760" y="155448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msisdn 4 formatta: +905…, 05…, 905…, 5…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event_id %2 duplicate (5.942 satır)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ingested_at, event_ts'ten 72 saate kadar geç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status: ACTIVE / active / Aktif / churned …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aynı abone 2 kayıt (eski CHURNED + yeni ACTIVE)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event_type'ta 968 geçersiz (mms)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Kuracağımız boru: kaynaktan tüketiciye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457200" y="1051560"/>
            <a:ext cx="1279440" cy="132516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530280" y="1124640"/>
            <a:ext cx="113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KAYNAK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548640" y="1463040"/>
            <a:ext cx="1096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CDR, CRM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Kafka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719000" y="150876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1856160" y="1051560"/>
            <a:ext cx="1279440" cy="132516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1929240" y="1124640"/>
            <a:ext cx="113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INGESTION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1947600" y="1463040"/>
            <a:ext cx="1096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COPY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consumer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3117960" y="150876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3255120" y="1051560"/>
            <a:ext cx="1279440" cy="132516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3328560" y="1124640"/>
            <a:ext cx="113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D7F32"/>
                </a:solidFill>
                <a:effectLst/>
                <a:uFillTx/>
                <a:latin typeface="Calibri"/>
                <a:ea typeface="Calibri"/>
              </a:rPr>
              <a:t>BRONZE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3346560" y="1463040"/>
            <a:ext cx="1096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olduğu gibi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append-only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4517280" y="150876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4654440" y="1051560"/>
            <a:ext cx="1279440" cy="132516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4727520" y="1124640"/>
            <a:ext cx="113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C0C0"/>
                </a:solidFill>
                <a:effectLst/>
                <a:uFillTx/>
                <a:latin typeface="Calibri"/>
                <a:ea typeface="Calibri"/>
              </a:rPr>
              <a:t>SILVER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4745880" y="1463040"/>
            <a:ext cx="1096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dedup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normalize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5916240" y="150876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6053400" y="1051560"/>
            <a:ext cx="1279440" cy="132516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6126480" y="1124640"/>
            <a:ext cx="113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GOLD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6144840" y="1463040"/>
            <a:ext cx="1096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grain, tanım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sahip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7315200" y="150876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1"/>
          <p:cNvSpPr/>
          <p:nvPr/>
        </p:nvSpPr>
        <p:spPr>
          <a:xfrm>
            <a:off x="7452360" y="1051560"/>
            <a:ext cx="1279440" cy="132516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7525440" y="1124640"/>
            <a:ext cx="113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TÜKETİCİ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3"/>
          <p:cNvSpPr/>
          <p:nvPr/>
        </p:nvSpPr>
        <p:spPr>
          <a:xfrm>
            <a:off x="7543800" y="1463040"/>
            <a:ext cx="1096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BI · ML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4"/>
          <p:cNvSpPr/>
          <p:nvPr/>
        </p:nvSpPr>
        <p:spPr>
          <a:xfrm>
            <a:off x="457200" y="2423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dbt: source() → ref() · veri sadece ileri akar, geri yazan yok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5"/>
          <p:cNvSpPr/>
          <p:nvPr/>
        </p:nvSpPr>
        <p:spPr>
          <a:xfrm>
            <a:off x="457200" y="2788920"/>
            <a:ext cx="8228880" cy="474840"/>
          </a:xfrm>
          <a:prstGeom prst="roundRect">
            <a:avLst>
              <a:gd name="adj" fmla="val 23077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640080" y="2788920"/>
            <a:ext cx="19195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Airflow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7"/>
          <p:cNvSpPr/>
          <p:nvPr/>
        </p:nvSpPr>
        <p:spPr>
          <a:xfrm>
            <a:off x="2560320" y="2788920"/>
            <a:ext cx="5942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her gece 03:00 · bekle → yükle → doğrula → dbt run/test → snapshot → marts · retry · idempotent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8"/>
          <p:cNvSpPr/>
          <p:nvPr/>
        </p:nvSpPr>
        <p:spPr>
          <a:xfrm>
            <a:off x="457200" y="3337560"/>
            <a:ext cx="8228880" cy="474840"/>
          </a:xfrm>
          <a:prstGeom prst="roundRect">
            <a:avLst>
              <a:gd name="adj" fmla="val 23077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9"/>
          <p:cNvSpPr/>
          <p:nvPr/>
        </p:nvSpPr>
        <p:spPr>
          <a:xfrm>
            <a:off x="640080" y="3337560"/>
            <a:ext cx="19195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Observability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2560320" y="3337560"/>
            <a:ext cx="5942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freshness · volume · quality · DAG başarı → alarm, sahibi olan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457200" y="3886200"/>
            <a:ext cx="8228880" cy="474840"/>
          </a:xfrm>
          <a:prstGeom prst="roundRect">
            <a:avLst>
              <a:gd name="adj" fmla="val 23077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2"/>
          <p:cNvSpPr/>
          <p:nvPr/>
        </p:nvSpPr>
        <p:spPr>
          <a:xfrm>
            <a:off x="640080" y="3886200"/>
            <a:ext cx="19195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Contract + Governance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3"/>
          <p:cNvSpPr/>
          <p:nvPr/>
        </p:nvSpPr>
        <p:spPr>
          <a:xfrm>
            <a:off x="2560320" y="3886200"/>
            <a:ext cx="5942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şema · tanım · SLA · sahip · PII maskeleme · RLS/CLS · katalog · lineage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4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Copilot akışı her katmanı üretir: instructions → prompt dosyası → agent yazar → reviewer denetler → MÜHENDİS KARAR VERİR → PR review.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137160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GÜN 1 · SABAH · M1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48640" y="1783080"/>
            <a:ext cx="8046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Modern veri mimarisi ve Copilot'u veri mühendisi yapmak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288036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ETL'den ELT'ye, boru yazandan veri ürünü sahibine, bağlamsız Copilot'tan sözleşmeli Copilot'a.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Tez: pipeline yazan → veri ürünü sahibi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457200" y="1051560"/>
            <a:ext cx="3931200" cy="3016800"/>
          </a:xfrm>
          <a:prstGeom prst="roundRect">
            <a:avLst>
              <a:gd name="adj" fmla="val 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640080" y="11430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Pipeline yazan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640080" y="1554480"/>
            <a:ext cx="356544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Ticket gelir, SQL yazılır, tablo dolar, ticket kapanır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Rakam yanlışsa: yeni ticket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"Aktif abone" ne demek? — kim istediyse o bilir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Değeri: SQL yazma hızı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4754880" y="1051560"/>
            <a:ext cx="3931200" cy="3016800"/>
          </a:xfrm>
          <a:prstGeom prst="roundRect">
            <a:avLst>
              <a:gd name="adj" fmla="val 3636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4937760" y="11430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Veri ürünü sahibi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4937760" y="1554480"/>
            <a:ext cx="356544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Önce sorar: aktif ne demek? Tanımı yazar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SLA: 07:00'de hazır. Sözleşme. Sahip: ben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Sonra pipeline'ı yazar (ya da yazdırır)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Değeri: hangi SQL'in doğru olduğunu bilmek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457200" y="4160520"/>
            <a:ext cx="8228880" cy="502200"/>
          </a:xfrm>
          <a:prstGeom prst="roundRect">
            <a:avLst>
              <a:gd name="adj" fmla="val 21818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640080" y="4160520"/>
            <a:ext cx="7863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Copilot birinci kısmı dakikaya indirdi. Değer ikinci kısma kaydı.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Üç rol — Copilot ortadakini vuruyor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457200" y="1051560"/>
            <a:ext cx="2651040" cy="301680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1325880" y="1234440"/>
            <a:ext cx="913680" cy="9136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1527120" y="143568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3"/>
          <p:cNvSpPr/>
          <p:nvPr/>
        </p:nvSpPr>
        <p:spPr>
          <a:xfrm>
            <a:off x="594360" y="228600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Data Engineer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640080" y="2697480"/>
            <a:ext cx="2285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Veriyi güvenilir taşır ve saklar: ingestion, storage, orchestration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640080" y="35204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Yarın: Airflow, Kafka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3246120" y="1051560"/>
            <a:ext cx="2651040" cy="301680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4114800" y="1234440"/>
            <a:ext cx="913680" cy="91368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1" descr="preencoded.png"/>
          <p:cNvPicPr/>
          <p:nvPr/>
        </p:nvPicPr>
        <p:blipFill>
          <a:blip r:embed="rId2"/>
          <a:stretch/>
        </p:blipFill>
        <p:spPr>
          <a:xfrm>
            <a:off x="4316040" y="143568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8"/>
          <p:cNvSpPr/>
          <p:nvPr/>
        </p:nvSpPr>
        <p:spPr>
          <a:xfrm>
            <a:off x="3383280" y="228600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Analytics Engineer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3429000" y="2697480"/>
            <a:ext cx="2285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Veriyi anlamlı hale getirir: dbt, modelleme, test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3429000" y="35204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Bugün öğleden sonra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6035040" y="1051560"/>
            <a:ext cx="2651040" cy="301680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2"/>
          <p:cNvSpPr/>
          <p:nvPr/>
        </p:nvSpPr>
        <p:spPr>
          <a:xfrm>
            <a:off x="6903720" y="1234440"/>
            <a:ext cx="913680" cy="9136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2" descr="preencoded.png"/>
          <p:cNvPicPr/>
          <p:nvPr/>
        </p:nvPicPr>
        <p:blipFill>
          <a:blip r:embed="rId3"/>
          <a:stretch/>
        </p:blipFill>
        <p:spPr>
          <a:xfrm>
            <a:off x="7104960" y="143568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13"/>
          <p:cNvSpPr/>
          <p:nvPr/>
        </p:nvSpPr>
        <p:spPr>
          <a:xfrm>
            <a:off x="6172200" y="228600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Data Scientist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6217920" y="2697480"/>
            <a:ext cx="2285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Tahmin üretir: model, feature, deney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6217920" y="35204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Gold'un tüketicisi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Değeriniz "iyi SQL yazarım" ise eriyor; "hangi SQL'in doğru olduğunu bilirim" ise katlanıyor.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Modern data stack: Copilot nerede güçlü?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457200" y="1188720"/>
            <a:ext cx="1553760" cy="2376720"/>
          </a:xfrm>
          <a:prstGeom prst="roundRect">
            <a:avLst>
              <a:gd name="adj" fmla="val 705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548640" y="1280160"/>
            <a:ext cx="1370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Ingestion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548640" y="1737360"/>
            <a:ext cx="1370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Fivetran, Airbyte, Debezium, Kafka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594360" y="2926080"/>
            <a:ext cx="1279440" cy="456480"/>
          </a:xfrm>
          <a:prstGeom prst="roundRect">
            <a:avLst>
              <a:gd name="adj" fmla="val 16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594360" y="29260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Kod kısmında iyi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1993320" y="210312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2139840" y="1188720"/>
            <a:ext cx="1553760" cy="2376720"/>
          </a:xfrm>
          <a:prstGeom prst="roundRect">
            <a:avLst>
              <a:gd name="adj" fmla="val 705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2231280" y="1280160"/>
            <a:ext cx="1370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Storage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2231280" y="1737360"/>
            <a:ext cx="1370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Snowflake, BigQuery, Databricks, Postgres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2277000" y="2926080"/>
            <a:ext cx="1279440" cy="456480"/>
          </a:xfrm>
          <a:prstGeom prst="roundRect">
            <a:avLst>
              <a:gd name="adj" fmla="val 16000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2277000" y="29260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Karar sizin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3675960" y="210312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3822120" y="1188720"/>
            <a:ext cx="1553760" cy="2376720"/>
          </a:xfrm>
          <a:prstGeom prst="roundRect">
            <a:avLst>
              <a:gd name="adj" fmla="val 705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3913560" y="1280160"/>
            <a:ext cx="1370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Transformation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3913560" y="1737360"/>
            <a:ext cx="1370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dbt, Spark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6"/>
          <p:cNvSpPr/>
          <p:nvPr/>
        </p:nvSpPr>
        <p:spPr>
          <a:xfrm>
            <a:off x="3959280" y="2926080"/>
            <a:ext cx="1279440" cy="456480"/>
          </a:xfrm>
          <a:prstGeom prst="roundRect">
            <a:avLst>
              <a:gd name="adj" fmla="val 16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3959280" y="29260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EN GÜÇLÜ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5358240" y="210312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5504760" y="1188720"/>
            <a:ext cx="1553760" cy="2376720"/>
          </a:xfrm>
          <a:prstGeom prst="roundRect">
            <a:avLst>
              <a:gd name="adj" fmla="val 705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5596200" y="1280160"/>
            <a:ext cx="1370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Serving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5596200" y="1737360"/>
            <a:ext cx="1370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BI, API, feature store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2"/>
          <p:cNvSpPr/>
          <p:nvPr/>
        </p:nvSpPr>
        <p:spPr>
          <a:xfrm>
            <a:off x="5641920" y="2926080"/>
            <a:ext cx="1279440" cy="456480"/>
          </a:xfrm>
          <a:prstGeom prst="roundRect">
            <a:avLst>
              <a:gd name="adj" fmla="val 16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3"/>
          <p:cNvSpPr/>
          <p:nvPr/>
        </p:nvSpPr>
        <p:spPr>
          <a:xfrm>
            <a:off x="5641920" y="29260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Orta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4"/>
          <p:cNvSpPr/>
          <p:nvPr/>
        </p:nvSpPr>
        <p:spPr>
          <a:xfrm>
            <a:off x="7040880" y="210312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5"/>
          <p:cNvSpPr/>
          <p:nvPr/>
        </p:nvSpPr>
        <p:spPr>
          <a:xfrm>
            <a:off x="7187040" y="1188720"/>
            <a:ext cx="1553760" cy="2376720"/>
          </a:xfrm>
          <a:prstGeom prst="roundRect">
            <a:avLst>
              <a:gd name="adj" fmla="val 705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6"/>
          <p:cNvSpPr/>
          <p:nvPr/>
        </p:nvSpPr>
        <p:spPr>
          <a:xfrm>
            <a:off x="7278480" y="1280160"/>
            <a:ext cx="1370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Observability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7"/>
          <p:cNvSpPr/>
          <p:nvPr/>
        </p:nvSpPr>
        <p:spPr>
          <a:xfrm>
            <a:off x="7278480" y="1737360"/>
            <a:ext cx="1370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Monte Carlo, Elementary, alert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8"/>
          <p:cNvSpPr/>
          <p:nvPr/>
        </p:nvSpPr>
        <p:spPr>
          <a:xfrm>
            <a:off x="7324200" y="2926080"/>
            <a:ext cx="1279440" cy="456480"/>
          </a:xfrm>
          <a:prstGeom prst="roundRect">
            <a:avLst>
              <a:gd name="adj" fmla="val 16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9"/>
          <p:cNvSpPr/>
          <p:nvPr/>
        </p:nvSpPr>
        <p:spPr>
          <a:xfrm>
            <a:off x="7324200" y="29260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Kural üretmede iyi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0"/>
          <p:cNvSpPr/>
          <p:nvPr/>
        </p:nvSpPr>
        <p:spPr>
          <a:xfrm>
            <a:off x="457200" y="379476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640080" y="3794760"/>
            <a:ext cx="7863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Storage seçimi bir mimari karar: Copilot'a sorarsan güzel bir liste yazar, "bağlıdır" der. CDR hacminizi, regülasyonu, ekibi bilmez. Bu iki günde Copilot'un güçlü olduğu katmanlarda hızlanacağız, zayıf olduğu katmanlarda karar vermeyi konuşacağız.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ETL'den ELT'ye — sıra değişti, felsefe değişti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457200" y="1051560"/>
            <a:ext cx="3931200" cy="2925360"/>
          </a:xfrm>
          <a:prstGeom prst="roundRect">
            <a:avLst>
              <a:gd name="adj" fmla="val 375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640080" y="11430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ETL — warehouse zayıfken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640080" y="1554480"/>
            <a:ext cx="356544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Oracle/Teradata pahalı: disk, CPU, lisans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Dönüşüm dışarıda: Informatica, DataStage, SSIS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Sadece "hazır" sonuç yüklenir; ham veri saklanmaz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Fotoğrafta JPEG: işlenmiş, küçük, geri dönüşsüz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4754880" y="1051560"/>
            <a:ext cx="3931200" cy="2925360"/>
          </a:xfrm>
          <a:prstGeom prst="roundRect">
            <a:avLst>
              <a:gd name="adj" fmla="val 375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4937760" y="11430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ELT — warehouse güçlenince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4937760" y="1554480"/>
            <a:ext cx="356544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Depolama ucuz, compute ayrık, SQL motoru MPP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Önce yükle, dönüşümü warehouse içinde SQL ile yap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Ham veri saklanır → Bronze; yeniden işle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Fotoğrafta RAW: büyük, ham, sonra istediğin gibi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E = Extract, T = Transform, L = Load. Fark sadece sıra; arkasında bir mimari felsefe değişimi var.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ELT bizim projede · ETL nerede kalır?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457200" y="1005840"/>
            <a:ext cx="393120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640080" y="10058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E + L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1645920" y="100584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generate_data → CSV → COPY. Dönüştürmez, sadece ingested_at vurur.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457200" y="1627560"/>
            <a:ext cx="393120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640080" y="162756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D7F32"/>
                </a:solidFill>
                <a:effectLst/>
                <a:uFillTx/>
                <a:latin typeface="Calibri"/>
                <a:ea typeface="Calibri"/>
              </a:rPr>
              <a:t>Bronze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1645920" y="162756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L'nin bittiği yer. Kirli haliyle durur.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457200" y="2249280"/>
            <a:ext cx="393120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640080" y="224928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1645920" y="224928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dbt — tamamen Postgres içinde SQL. Silver ve Gold.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457200" y="2871360"/>
            <a:ext cx="393120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640080" y="287136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Airflow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1645920" y="287136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Bu üçünü her gece sıraya dizer.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4754880" y="1005840"/>
            <a:ext cx="3931200" cy="2422440"/>
          </a:xfrm>
          <a:prstGeom prst="roundRect">
            <a:avLst>
              <a:gd name="adj" fmla="val 4528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493776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ETL ölmedi, yer değiştirdi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4937760" y="1508760"/>
            <a:ext cx="356544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Regülasyon: ham PII warehouse'a giremezse maskeleme yükleme ÖNCESİ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Gecikme: saniyeler içinde sonuç → Flink, Kafka Streams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Fatura: compute kullandıkça ödeme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Oran: petabaytın %1'i lazımsa kaynakta filtrele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6"/>
          <p:cNvSpPr/>
          <p:nvPr/>
        </p:nvSpPr>
        <p:spPr>
          <a:xfrm>
            <a:off x="457200" y="3611880"/>
            <a:ext cx="8228880" cy="91368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640080" y="3611880"/>
            <a:ext cx="7863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Pratikte modern akış EtLT: küçük t yüklemeden önce (tipleme, PII hash), büyük T warehouse'da. "ELT mi ETL mi" sorusunun olgun cevabı: ikisi de — hangi adım nerede ucuz ve güvenliyse orada.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Warehouse-first: önce yükle, sonra düşün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457200" y="1051560"/>
            <a:ext cx="8228880" cy="584640"/>
          </a:xfrm>
          <a:prstGeom prst="roundRect">
            <a:avLst>
              <a:gd name="adj" fmla="val 1875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640080" y="1179720"/>
            <a:ext cx="328320" cy="3283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640080" y="1179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1188720" y="1051560"/>
            <a:ext cx="2925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Ham veri saklanır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4114800" y="1051560"/>
            <a:ext cx="4388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Kural yanlışsa Bronze'dan yeniden koş; kaynağa dönme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457200" y="1710000"/>
            <a:ext cx="8228880" cy="584640"/>
          </a:xfrm>
          <a:prstGeom prst="roundRect">
            <a:avLst>
              <a:gd name="adj" fmla="val 1875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640080" y="1837800"/>
            <a:ext cx="328320" cy="3283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640080" y="18378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1188720" y="1710000"/>
            <a:ext cx="2925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Dönüşüm SQL'dir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4114800" y="1710000"/>
            <a:ext cx="4388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diff'lenir, test edilir, review'a girer — dbt tam bu boşluk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457200" y="2368440"/>
            <a:ext cx="8228880" cy="584640"/>
          </a:xfrm>
          <a:prstGeom prst="roundRect">
            <a:avLst>
              <a:gd name="adj" fmla="val 1875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640080" y="2496240"/>
            <a:ext cx="328320" cy="3283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640080" y="24962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1188720" y="2368440"/>
            <a:ext cx="2925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Şema değişimi boru patlatmaz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4114800" y="2368440"/>
            <a:ext cx="4388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Ham yüklenir, sadece T güncellenir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6"/>
          <p:cNvSpPr/>
          <p:nvPr/>
        </p:nvSpPr>
        <p:spPr>
          <a:xfrm>
            <a:off x="457200" y="3026520"/>
            <a:ext cx="8228880" cy="584640"/>
          </a:xfrm>
          <a:prstGeom prst="roundRect">
            <a:avLst>
              <a:gd name="adj" fmla="val 1875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7"/>
          <p:cNvSpPr/>
          <p:nvPr/>
        </p:nvSpPr>
        <p:spPr>
          <a:xfrm>
            <a:off x="640080" y="3154680"/>
            <a:ext cx="328320" cy="3283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8"/>
          <p:cNvSpPr/>
          <p:nvPr/>
        </p:nvSpPr>
        <p:spPr>
          <a:xfrm>
            <a:off x="640080" y="31546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1188720" y="3026520"/>
            <a:ext cx="2925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Tek hesaplama yeri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4114800" y="3026520"/>
            <a:ext cx="4388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Veri hareketsiz, sorgu ona gider; kopya yok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1"/>
          <p:cNvSpPr/>
          <p:nvPr/>
        </p:nvSpPr>
        <p:spPr>
          <a:xfrm>
            <a:off x="457200" y="3684960"/>
            <a:ext cx="8228880" cy="584640"/>
          </a:xfrm>
          <a:prstGeom prst="roundRect">
            <a:avLst>
              <a:gd name="adj" fmla="val 1875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2"/>
          <p:cNvSpPr/>
          <p:nvPr/>
        </p:nvSpPr>
        <p:spPr>
          <a:xfrm>
            <a:off x="640080" y="3813120"/>
            <a:ext cx="328320" cy="3283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3"/>
          <p:cNvSpPr/>
          <p:nvPr/>
        </p:nvSpPr>
        <p:spPr>
          <a:xfrm>
            <a:off x="640080" y="38131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4"/>
          <p:cNvSpPr/>
          <p:nvPr/>
        </p:nvSpPr>
        <p:spPr>
          <a:xfrm>
            <a:off x="1188720" y="3684960"/>
            <a:ext cx="29253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Roller değişir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5"/>
          <p:cNvSpPr/>
          <p:nvPr/>
        </p:nvSpPr>
        <p:spPr>
          <a:xfrm>
            <a:off x="4114800" y="3684960"/>
            <a:ext cx="4388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 = SQL → analist de yazar, Copilot da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6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Warehouse artık raporların bittiği depo değil, işin merkezi. Copilot'un girdiği yer de burası: dönüşüm SQL olduğu için tamamını üretebiliyor.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"Sonra düşün" başıboşluk değil: medallion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457200" y="1051560"/>
            <a:ext cx="3931200" cy="2376720"/>
          </a:xfrm>
          <a:prstGeom prst="roundRect">
            <a:avLst>
              <a:gd name="adj" fmla="val 4615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640080" y="11430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Kötü hali: veri bataklığı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640080" y="1554480"/>
            <a:ext cx="356544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Her şey yüklenmiş, kimse ne olduğunu bilmiyor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Katman yok, sözleşme yok, sahip yok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ELT disiplinsiz = dağınıklığı ertelemek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4"/>
          <p:cNvSpPr/>
          <p:nvPr/>
        </p:nvSpPr>
        <p:spPr>
          <a:xfrm>
            <a:off x="4754880" y="1051560"/>
            <a:ext cx="3931200" cy="2376720"/>
          </a:xfrm>
          <a:prstGeom prst="roundRect">
            <a:avLst>
              <a:gd name="adj" fmla="val 4615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4937760" y="11430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İyi hali: üç katman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4937760" y="1554480"/>
            <a:ext cx="356544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Bronze'a her şey, dokunmadan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Silver'da temizlik, iş mantığı yok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Gold'da iş tanımı, grain, sahip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7"/>
          <p:cNvSpPr/>
          <p:nvPr/>
        </p:nvSpPr>
        <p:spPr>
          <a:xfrm>
            <a:off x="457200" y="3566160"/>
            <a:ext cx="8228880" cy="10051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640080" y="3566160"/>
            <a:ext cx="7863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ETL warehouse'un zayıf olduğu dönemin tasarımıydı; warehouse güçlenince dönüşüm içine taşındı, ham veri saklanır oldu, dönüşüm SQL oldu ve dbt ile Copilot bu SQL'in üzerine geldi.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Warehouse · Lake · Lakehouse — üç analoji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"/>
          <p:cNvSpPr/>
          <p:nvPr/>
        </p:nvSpPr>
        <p:spPr>
          <a:xfrm>
            <a:off x="457200" y="1051560"/>
            <a:ext cx="2651040" cy="310824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1325880" y="1234440"/>
            <a:ext cx="822240" cy="8222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 0" descr="preencoded.png"/>
          <p:cNvPicPr/>
          <p:nvPr/>
        </p:nvPicPr>
        <p:blipFill>
          <a:blip r:embed="rId1"/>
          <a:stretch/>
        </p:blipFill>
        <p:spPr>
          <a:xfrm>
            <a:off x="1506960" y="1415520"/>
            <a:ext cx="460080" cy="46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 3"/>
          <p:cNvSpPr/>
          <p:nvPr/>
        </p:nvSpPr>
        <p:spPr>
          <a:xfrm>
            <a:off x="594360" y="219456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Warehouse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594360" y="256032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Havalimanı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640080" y="297180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Kontrol kapıda (schema-on-write). İçerisi hızlı, düzenli. Yapısız veri giremez.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"/>
          <p:cNvSpPr/>
          <p:nvPr/>
        </p:nvSpPr>
        <p:spPr>
          <a:xfrm>
            <a:off x="3246120" y="1051560"/>
            <a:ext cx="2651040" cy="310824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4114800" y="1234440"/>
            <a:ext cx="822240" cy="8222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1" descr="preencoded.png"/>
          <p:cNvPicPr/>
          <p:nvPr/>
        </p:nvPicPr>
        <p:blipFill>
          <a:blip r:embed="rId2"/>
          <a:stretch/>
        </p:blipFill>
        <p:spPr>
          <a:xfrm>
            <a:off x="4295880" y="1415520"/>
            <a:ext cx="460080" cy="46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8"/>
          <p:cNvSpPr/>
          <p:nvPr/>
        </p:nvSpPr>
        <p:spPr>
          <a:xfrm>
            <a:off x="3383280" y="219456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Lake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3383280" y="256032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Depo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3429000" y="297180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Kapı yok (schema-on-read). Ucuz, her şey girer. ACID yok, silme yok, 5 yıl sonra bataklık.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6035040" y="1051560"/>
            <a:ext cx="2651040" cy="310824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6903720" y="1234440"/>
            <a:ext cx="822240" cy="82224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2" descr="preencoded.png"/>
          <p:cNvPicPr/>
          <p:nvPr/>
        </p:nvPicPr>
        <p:blipFill>
          <a:blip r:embed="rId3"/>
          <a:stretch/>
        </p:blipFill>
        <p:spPr>
          <a:xfrm>
            <a:off x="7084800" y="1415520"/>
            <a:ext cx="460080" cy="46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13"/>
          <p:cNvSpPr/>
          <p:nvPr/>
        </p:nvSpPr>
        <p:spPr>
          <a:xfrm>
            <a:off x="6172200" y="219456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Lakehouse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4"/>
          <p:cNvSpPr/>
          <p:nvPr/>
        </p:nvSpPr>
        <p:spPr>
          <a:xfrm>
            <a:off x="6172200" y="256032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Depo + kabul defteri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6217920" y="297180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Parquet + işlem günlüğü (Delta/Iceberg). ACID, time travel, update/delete geldi. Git for parquet.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Karar: veri yapısal mı? tüketici kim? ölçek/saklama? — Büyük kurumda cevap "ikisi birden": ham CDR lakehouse'ta, Gold warehouse'ta. (Detay: ayrı deste)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Medallion: bronze / silver / gold — mutfak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"/>
          <p:cNvSpPr/>
          <p:nvPr/>
        </p:nvSpPr>
        <p:spPr>
          <a:xfrm>
            <a:off x="457200" y="1051560"/>
            <a:ext cx="2651040" cy="329112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"/>
          <p:cNvSpPr/>
          <p:nvPr/>
        </p:nvSpPr>
        <p:spPr>
          <a:xfrm>
            <a:off x="594360" y="1188720"/>
            <a:ext cx="502200" cy="502200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0" descr="preencoded.png"/>
          <p:cNvPicPr/>
          <p:nvPr/>
        </p:nvPicPr>
        <p:blipFill>
          <a:blip r:embed="rId1"/>
          <a:stretch/>
        </p:blipFill>
        <p:spPr>
          <a:xfrm>
            <a:off x="704880" y="12992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3"/>
          <p:cNvSpPr/>
          <p:nvPr/>
        </p:nvSpPr>
        <p:spPr>
          <a:xfrm>
            <a:off x="1188720" y="118872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D7F32"/>
                </a:solidFill>
                <a:effectLst/>
                <a:uFillTx/>
                <a:latin typeface="Calibri"/>
                <a:ea typeface="Calibri"/>
              </a:rPr>
              <a:t>Bronze — raw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1188720" y="146304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Pazardan gelen kasa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594360" y="1874520"/>
            <a:ext cx="237672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Kaynak ne gönderdiyse, dokunmadan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Tipler gevşek (text), append-only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+ ingested_at damgası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Kimse doğrudan bağlanmaz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3090600" y="246888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7"/>
          <p:cNvSpPr/>
          <p:nvPr/>
        </p:nvSpPr>
        <p:spPr>
          <a:xfrm>
            <a:off x="3246120" y="1051560"/>
            <a:ext cx="2651040" cy="329112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3383280" y="1188720"/>
            <a:ext cx="502200" cy="50220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1" descr="preencoded.png"/>
          <p:cNvPicPr/>
          <p:nvPr/>
        </p:nvPicPr>
        <p:blipFill>
          <a:blip r:embed="rId2"/>
          <a:stretch/>
        </p:blipFill>
        <p:spPr>
          <a:xfrm>
            <a:off x="3493800" y="12992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9"/>
          <p:cNvSpPr/>
          <p:nvPr/>
        </p:nvSpPr>
        <p:spPr>
          <a:xfrm>
            <a:off x="3977640" y="118872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C0C0"/>
                </a:solidFill>
                <a:effectLst/>
                <a:uFillTx/>
                <a:latin typeface="Calibri"/>
                <a:ea typeface="Calibri"/>
              </a:rPr>
              <a:t>Silver — staging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3977640" y="146304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Mise en place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3383280" y="1874520"/>
            <a:ext cx="237672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Dedup, normalize, tipleme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İşaretle, silme (is_valid, is_current)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İŞ MANTIĞI YOK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Yeni view; Bronze'a dokunulmaz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5879520" y="246888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3"/>
          <p:cNvSpPr/>
          <p:nvPr/>
        </p:nvSpPr>
        <p:spPr>
          <a:xfrm>
            <a:off x="6035040" y="1051560"/>
            <a:ext cx="2651040" cy="329112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4"/>
          <p:cNvSpPr/>
          <p:nvPr/>
        </p:nvSpPr>
        <p:spPr>
          <a:xfrm>
            <a:off x="6172200" y="1188720"/>
            <a:ext cx="502200" cy="502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2" descr="preencoded.png"/>
          <p:cNvPicPr/>
          <p:nvPr/>
        </p:nvPicPr>
        <p:blipFill>
          <a:blip r:embed="rId3"/>
          <a:stretch/>
        </p:blipFill>
        <p:spPr>
          <a:xfrm>
            <a:off x="6282720" y="12992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5"/>
          <p:cNvSpPr/>
          <p:nvPr/>
        </p:nvSpPr>
        <p:spPr>
          <a:xfrm>
            <a:off x="6766560" y="118872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Gold — marts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6"/>
          <p:cNvSpPr/>
          <p:nvPr/>
        </p:nvSpPr>
        <p:spPr>
          <a:xfrm>
            <a:off x="6766560" y="146304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Servis edilen tabak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6172200" y="1874520"/>
            <a:ext cx="237672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fct_daily_usage, dim_subscriber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Grain belli, tanım yazılı, sahip var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Sadece Silver'dan okur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BI, ML, kampanya buraya bağlanır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8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Kasayı atmazsın (fiş, iade). Doğranmış malzemeyi menüye koymazsın. Tabağı kasaya geri döndürmezsin. Veri sadece ileri akar.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Neden üç katman? Hata ayıklama tek yönlü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457200" y="105156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594360" y="1234440"/>
            <a:ext cx="410760" cy="41076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594360" y="12344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1188720" y="112464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 yanlış mı?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3200400" y="1124640"/>
            <a:ext cx="3108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sum(gold.recharge_try) = sum(silver.amount_try) ?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6"/>
          <p:cNvSpPr/>
          <p:nvPr/>
        </p:nvSpPr>
        <p:spPr>
          <a:xfrm>
            <a:off x="6400800" y="112464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Farklıysa hata Gold'da: join, agregasyon, tanım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457200" y="192024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594360" y="2103120"/>
            <a:ext cx="410760" cy="41076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594360" y="210312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1188720" y="199332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Silver yanlış mı?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3200400" y="1993320"/>
            <a:ext cx="3108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count(distinct event_id) raw ile tutuyor mu?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6400800" y="199332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Tutmuyorsa dedup kuralı yanlış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3"/>
          <p:cNvSpPr/>
          <p:nvPr/>
        </p:nvSpPr>
        <p:spPr>
          <a:xfrm>
            <a:off x="457200" y="278892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594360" y="2971800"/>
            <a:ext cx="410760" cy="41076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5"/>
          <p:cNvSpPr/>
          <p:nvPr/>
        </p:nvSpPr>
        <p:spPr>
          <a:xfrm>
            <a:off x="594360" y="29718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6"/>
          <p:cNvSpPr/>
          <p:nvPr/>
        </p:nvSpPr>
        <p:spPr>
          <a:xfrm>
            <a:off x="1188720" y="286200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Kaynak mı?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3200400" y="2862000"/>
            <a:ext cx="3108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Bronze = kaynağın aynısı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6400800" y="286200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Kanıtla git: "1 Eylül'de 40k satır eksik gönderdiniz"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9"/>
          <p:cNvSpPr/>
          <p:nvPr/>
        </p:nvSpPr>
        <p:spPr>
          <a:xfrm>
            <a:off x="457200" y="3703320"/>
            <a:ext cx="8228880" cy="913680"/>
          </a:xfrm>
          <a:prstGeom prst="roundRect">
            <a:avLst>
              <a:gd name="adj" fmla="val 120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640080" y="3703320"/>
            <a:ext cx="7863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Anti-pattern'ler: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Bronze'u atlamak · Bronze'u temiz tutmaya çalışmak · Silver'a iş mantığı sızması ("sadece aktifleri alalım") · Gold sprawl (mart_churn_v2_final_ahmet) · Bronze'a BI bağlamak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Medallion ↔ dbt ↔ bizim repo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1" name="Table 0"/>
          <p:cNvGraphicFramePr/>
          <p:nvPr/>
        </p:nvGraphicFramePr>
        <p:xfrm>
          <a:off x="457200" y="1051560"/>
          <a:ext cx="822924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194560"/>
                <a:gridCol w="2377440"/>
              </a:tblGrid>
              <a:tr h="457200">
                <a:tc>
                  <a:txBody>
                    <a:bodyPr lIns="54720" r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D7F32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Bronze</a:t>
                      </a:r>
                      <a:endParaRPr lang="tr-T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0C0C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Silver</a:t>
                      </a:r>
                      <a:endParaRPr lang="tr-T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Gold</a:t>
                      </a:r>
                      <a:endParaRPr lang="tr-T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</a:tr>
              <a:tr h="45720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Postgres şeması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silver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gold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5720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dbt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sources.yml (işaret eder, üretmez)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models/staging/stg_* (view)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models/marts/fct_* dim_* (table/incremental)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5720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Kim yazar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Ingestion: COPY, Kafka consumer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dbt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dbt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5720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Kim okur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Sadece Silver pipeline'ı + denetim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Gold pipeline'ları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BI, ML, API, kampanya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5720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freshness, satır sayısı, GX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unique, not_null, regex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tutarlılık, iş kuralı, contract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5720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Copilot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DDC9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 GÜÇLÜ: kural bazlı, tekrarlayan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Kodu yazar; tanımı SİZ verirsiniz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</a:tbl>
          </a:graphicData>
        </a:graphic>
      </p:graphicFrame>
      <p:sp>
        <p:nvSpPr>
          <p:cNvPr id="282" name="Text 1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copilot-instructions.md = medallion'ın kendisi: üst yarısı Bronze'un gerçekleri, alt yarısı Gold'un anlamı, aradaki kurallar Silver'ın disiplini.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Copilot'un bağlamı nereden gelir?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457200" y="8686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Ask modu · sql/scratch.sql · aynı prompt, herkes: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457200" y="1234440"/>
            <a:ext cx="8228880" cy="54792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594360" y="1325880"/>
            <a:ext cx="7954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Ağustos 2026 aktif abone sayısını segment bazında getir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457200" y="1965960"/>
            <a:ext cx="3931200" cy="2559600"/>
          </a:xfrm>
          <a:prstGeom prst="roundRect">
            <a:avLst>
              <a:gd name="adj" fmla="val 428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640080" y="20574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(a) Boş klasörde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640080" y="2468880"/>
            <a:ext cx="35654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Tablo adı uydurur (subscriptions?)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status = 'active' sayar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BETWEEN yazar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Hiçbir şey bilmiyor — doğal hali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4754880" y="1965960"/>
            <a:ext cx="3931200" cy="2559600"/>
          </a:xfrm>
          <a:prstGeom prst="roundRect">
            <a:avLst>
              <a:gd name="adj" fmla="val 428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0"/>
          <p:cNvSpPr/>
          <p:nvPr/>
        </p:nvSpPr>
        <p:spPr>
          <a:xfrm>
            <a:off x="4937760" y="205740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(b) Repo içinde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4937760" y="2468880"/>
            <a:ext cx="356544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"Read 00_schema.sql" — workspace'i tarar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Normalize, ROW_NUMBER, tarih &gt;= ve &lt;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AMA: status = 'ACTIVE' → 'Aktif' dışarıda → ~6.600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Ya da statüye hiç bakmaz → 9.995. Doğrusu 8.237.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2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Bağlamsız Copilot diye bir şey yok. Workspace'iniz bağlamdır. Ama: yorum bilgidir, instruction sözleşmedir.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Bağlam merdiveni — güvenilirlik sırasıyla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"/>
          <p:cNvSpPr/>
          <p:nvPr/>
        </p:nvSpPr>
        <p:spPr>
          <a:xfrm>
            <a:off x="457200" y="1051560"/>
            <a:ext cx="8228880" cy="621000"/>
          </a:xfrm>
          <a:prstGeom prst="roundRect">
            <a:avLst>
              <a:gd name="adj" fmla="val 1764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"/>
          <p:cNvSpPr/>
          <p:nvPr/>
        </p:nvSpPr>
        <p:spPr>
          <a:xfrm>
            <a:off x="594360" y="1179720"/>
            <a:ext cx="365040" cy="36504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594360" y="11797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1143000" y="1097280"/>
            <a:ext cx="1645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Workspace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2834640" y="109728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Copilot dosyaları okur; yorum satırı kural değil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6858000" y="1097280"/>
            <a:ext cx="1736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Okur, uygulamayabilir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7"/>
          <p:cNvSpPr/>
          <p:nvPr/>
        </p:nvSpPr>
        <p:spPr>
          <a:xfrm>
            <a:off x="457200" y="1764720"/>
            <a:ext cx="8228880" cy="621000"/>
          </a:xfrm>
          <a:prstGeom prst="roundRect">
            <a:avLst>
              <a:gd name="adj" fmla="val 1764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594360" y="1892880"/>
            <a:ext cx="365040" cy="3650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594360" y="18928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1143000" y="1810440"/>
            <a:ext cx="1645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#file / #selection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1"/>
          <p:cNvSpPr/>
          <p:nvPr/>
        </p:nvSpPr>
        <p:spPr>
          <a:xfrm>
            <a:off x="2834640" y="181044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Sen seçersin, bir seferlik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2"/>
          <p:cNvSpPr/>
          <p:nvPr/>
        </p:nvSpPr>
        <p:spPr>
          <a:xfrm>
            <a:off x="6858000" y="1810440"/>
            <a:ext cx="1736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Bu prompt için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3"/>
          <p:cNvSpPr/>
          <p:nvPr/>
        </p:nvSpPr>
        <p:spPr>
          <a:xfrm>
            <a:off x="457200" y="2477880"/>
            <a:ext cx="8228880" cy="621000"/>
          </a:xfrm>
          <a:prstGeom prst="roundRect">
            <a:avLst>
              <a:gd name="adj" fmla="val 1764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4"/>
          <p:cNvSpPr/>
          <p:nvPr/>
        </p:nvSpPr>
        <p:spPr>
          <a:xfrm>
            <a:off x="594360" y="2606040"/>
            <a:ext cx="365040" cy="3650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5"/>
          <p:cNvSpPr/>
          <p:nvPr/>
        </p:nvSpPr>
        <p:spPr>
          <a:xfrm>
            <a:off x="594360" y="26060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6"/>
          <p:cNvSpPr/>
          <p:nvPr/>
        </p:nvSpPr>
        <p:spPr>
          <a:xfrm>
            <a:off x="1143000" y="2523600"/>
            <a:ext cx="1645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@workspace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7"/>
          <p:cNvSpPr/>
          <p:nvPr/>
        </p:nvSpPr>
        <p:spPr>
          <a:xfrm>
            <a:off x="2834640" y="252360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Tüm repo, arama tabanlı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8"/>
          <p:cNvSpPr/>
          <p:nvPr/>
        </p:nvSpPr>
        <p:spPr>
          <a:xfrm>
            <a:off x="6858000" y="2523600"/>
            <a:ext cx="1736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Eksik bırakabilir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9"/>
          <p:cNvSpPr/>
          <p:nvPr/>
        </p:nvSpPr>
        <p:spPr>
          <a:xfrm>
            <a:off x="457200" y="3191400"/>
            <a:ext cx="8228880" cy="621000"/>
          </a:xfrm>
          <a:prstGeom prst="roundRect">
            <a:avLst>
              <a:gd name="adj" fmla="val 1764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0"/>
          <p:cNvSpPr/>
          <p:nvPr/>
        </p:nvSpPr>
        <p:spPr>
          <a:xfrm>
            <a:off x="594360" y="3319200"/>
            <a:ext cx="365040" cy="36504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1"/>
          <p:cNvSpPr/>
          <p:nvPr/>
        </p:nvSpPr>
        <p:spPr>
          <a:xfrm>
            <a:off x="594360" y="33192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2"/>
          <p:cNvSpPr/>
          <p:nvPr/>
        </p:nvSpPr>
        <p:spPr>
          <a:xfrm>
            <a:off x="1143000" y="3237120"/>
            <a:ext cx="1645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Instructions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3"/>
          <p:cNvSpPr/>
          <p:nvPr/>
        </p:nvSpPr>
        <p:spPr>
          <a:xfrm>
            <a:off x="2834640" y="323712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.github/copilot-instructions.md — her prompt'a otomatik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4"/>
          <p:cNvSpPr/>
          <p:nvPr/>
        </p:nvSpPr>
        <p:spPr>
          <a:xfrm>
            <a:off x="6858000" y="3237120"/>
            <a:ext cx="1736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Kural gücünde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5"/>
          <p:cNvSpPr/>
          <p:nvPr/>
        </p:nvSpPr>
        <p:spPr>
          <a:xfrm>
            <a:off x="457200" y="3904560"/>
            <a:ext cx="8228880" cy="621000"/>
          </a:xfrm>
          <a:prstGeom prst="roundRect">
            <a:avLst>
              <a:gd name="adj" fmla="val 1764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6"/>
          <p:cNvSpPr/>
          <p:nvPr/>
        </p:nvSpPr>
        <p:spPr>
          <a:xfrm>
            <a:off x="594360" y="4032360"/>
            <a:ext cx="365040" cy="36504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7"/>
          <p:cNvSpPr/>
          <p:nvPr/>
        </p:nvSpPr>
        <p:spPr>
          <a:xfrm>
            <a:off x="594360" y="40323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8"/>
          <p:cNvSpPr/>
          <p:nvPr/>
        </p:nvSpPr>
        <p:spPr>
          <a:xfrm>
            <a:off x="1143000" y="3950280"/>
            <a:ext cx="1645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MCP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9"/>
          <p:cNvSpPr/>
          <p:nvPr/>
        </p:nvSpPr>
        <p:spPr>
          <a:xfrm>
            <a:off x="2834640" y="395028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Gerçek veritabanı: şema, satır, EXPLAIN — araçla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0"/>
          <p:cNvSpPr/>
          <p:nvPr/>
        </p:nvSpPr>
        <p:spPr>
          <a:xfrm>
            <a:off x="6858000" y="3950280"/>
            <a:ext cx="1736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Kanıt gücünde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1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Karanlık taraf: ANSWER_KEY repodayken Copilot 8237 dedi ama sorgu yanlıştı. Bağlam, eklediğin değil çıkarmadığın şeydir.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copilot-instructions.md — takımın hafızası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"/>
          <p:cNvSpPr/>
          <p:nvPr/>
        </p:nvSpPr>
        <p:spPr>
          <a:xfrm>
            <a:off x="457200" y="8686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Her prompt'a otomatik eklenir. Yeni işe başlayana verdiğin onboarding dokümanı — ama bu kişi her sabah hafızasını sıfırlıyor.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4"/>
          <p:cNvSpPr/>
          <p:nvPr/>
        </p:nvSpPr>
        <p:spPr>
          <a:xfrm>
            <a:off x="457200" y="1371600"/>
            <a:ext cx="822888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5"/>
          <p:cNvSpPr/>
          <p:nvPr/>
        </p:nvSpPr>
        <p:spPr>
          <a:xfrm>
            <a:off x="640080" y="141732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## Proje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6"/>
          <p:cNvSpPr/>
          <p:nvPr/>
        </p:nvSpPr>
        <p:spPr>
          <a:xfrm>
            <a:off x="2834640" y="141732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Ne bu repo, hangi katmanlar, hangi motor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7"/>
          <p:cNvSpPr/>
          <p:nvPr/>
        </p:nvSpPr>
        <p:spPr>
          <a:xfrm>
            <a:off x="7498080" y="141732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CANLI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457200" y="2011680"/>
            <a:ext cx="822888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9"/>
          <p:cNvSpPr/>
          <p:nvPr/>
        </p:nvSpPr>
        <p:spPr>
          <a:xfrm>
            <a:off x="640080" y="205740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## Şema Gerçekleri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0"/>
          <p:cNvSpPr/>
          <p:nvPr/>
        </p:nvSpPr>
        <p:spPr>
          <a:xfrm>
            <a:off x="2834640" y="205740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Bronze'un kirliliği — her satır DBeaver'da kanıtlanır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1"/>
          <p:cNvSpPr/>
          <p:nvPr/>
        </p:nvSpPr>
        <p:spPr>
          <a:xfrm>
            <a:off x="7498080" y="205740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CANLI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2"/>
          <p:cNvSpPr/>
          <p:nvPr/>
        </p:nvSpPr>
        <p:spPr>
          <a:xfrm>
            <a:off x="457200" y="2651760"/>
            <a:ext cx="822888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3"/>
          <p:cNvSpPr/>
          <p:nvPr/>
        </p:nvSpPr>
        <p:spPr>
          <a:xfrm>
            <a:off x="640080" y="269748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## İş Tanımları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4"/>
          <p:cNvSpPr/>
          <p:nvPr/>
        </p:nvSpPr>
        <p:spPr>
          <a:xfrm>
            <a:off x="2834640" y="269748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Aktif abone, churn, ARPU, grain — Gold'un anlamı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5"/>
          <p:cNvSpPr/>
          <p:nvPr/>
        </p:nvSpPr>
        <p:spPr>
          <a:xfrm>
            <a:off x="7498080" y="269748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hazır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6"/>
          <p:cNvSpPr/>
          <p:nvPr/>
        </p:nvSpPr>
        <p:spPr>
          <a:xfrm>
            <a:off x="457200" y="3291840"/>
            <a:ext cx="822888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7"/>
          <p:cNvSpPr/>
          <p:nvPr/>
        </p:nvSpPr>
        <p:spPr>
          <a:xfrm>
            <a:off x="640080" y="333756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## Genel Kurallar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8"/>
          <p:cNvSpPr/>
          <p:nvPr/>
        </p:nvSpPr>
        <p:spPr>
          <a:xfrm>
            <a:off x="2834640" y="333756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BETWEEN yok, fan-out önle, COUNT(DISTINCT) gerekçe, ≥2 doğrulama sorgusu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9"/>
          <p:cNvSpPr/>
          <p:nvPr/>
        </p:nvSpPr>
        <p:spPr>
          <a:xfrm>
            <a:off x="7498080" y="333756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hazır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0"/>
          <p:cNvSpPr/>
          <p:nvPr/>
        </p:nvSpPr>
        <p:spPr>
          <a:xfrm>
            <a:off x="457200" y="3931920"/>
            <a:ext cx="8228880" cy="547920"/>
          </a:xfrm>
          <a:prstGeom prst="roundRect">
            <a:avLst>
              <a:gd name="adj" fmla="val 2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1"/>
          <p:cNvSpPr/>
          <p:nvPr/>
        </p:nvSpPr>
        <p:spPr>
          <a:xfrm>
            <a:off x="640080" y="397764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## Katman kuralları →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2"/>
          <p:cNvSpPr/>
          <p:nvPr/>
        </p:nvSpPr>
        <p:spPr>
          <a:xfrm>
            <a:off x="2834640" y="397764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.github/instructions/*.instructions.md (applyTo)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3"/>
          <p:cNvSpPr/>
          <p:nvPr/>
        </p:nvSpPr>
        <p:spPr>
          <a:xfrm>
            <a:off x="7498080" y="397764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hazır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4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Kontrol: Chat'e "Aktif abone tanımımız nedir?" — dosyadaki tanımı aynen söylüyorsa devrede.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Beş kanıt sorgusu → beş satır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3"/>
          <p:cNvSpPr/>
          <p:nvPr/>
        </p:nvSpPr>
        <p:spPr>
          <a:xfrm>
            <a:off x="457200" y="868680"/>
            <a:ext cx="8228880" cy="676080"/>
          </a:xfrm>
          <a:prstGeom prst="roundRect">
            <a:avLst>
              <a:gd name="adj" fmla="val 1621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594360" y="914400"/>
            <a:ext cx="3931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select msisdn from raw.subscribers limit 20;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4572000" y="914400"/>
            <a:ext cx="273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"/>
          <p:cNvSpPr/>
          <p:nvPr/>
        </p:nvSpPr>
        <p:spPr>
          <a:xfrm>
            <a:off x="4892040" y="914400"/>
            <a:ext cx="3702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msisdn karışık → E.164: '+90' || right(regexp_replace(msisdn,'\D','','g'),10)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457200" y="1618560"/>
            <a:ext cx="8228880" cy="676080"/>
          </a:xfrm>
          <a:prstGeom prst="roundRect">
            <a:avLst>
              <a:gd name="adj" fmla="val 1621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594360" y="1664280"/>
            <a:ext cx="3931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select event_id, count(*) from raw.cdr_events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group by 1 having count(*) &gt; 1 limit 5;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9"/>
          <p:cNvSpPr/>
          <p:nvPr/>
        </p:nvSpPr>
        <p:spPr>
          <a:xfrm>
            <a:off x="4572000" y="1664280"/>
            <a:ext cx="273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0"/>
          <p:cNvSpPr/>
          <p:nvPr/>
        </p:nvSpPr>
        <p:spPr>
          <a:xfrm>
            <a:off x="4892040" y="1664280"/>
            <a:ext cx="3702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event_id tekil DEĞİL → ROW_NUMBER, en erken ingested_at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1"/>
          <p:cNvSpPr/>
          <p:nvPr/>
        </p:nvSpPr>
        <p:spPr>
          <a:xfrm>
            <a:off x="457200" y="2368440"/>
            <a:ext cx="8228880" cy="676080"/>
          </a:xfrm>
          <a:prstGeom prst="roundRect">
            <a:avLst>
              <a:gd name="adj" fmla="val 1621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2"/>
          <p:cNvSpPr/>
          <p:nvPr/>
        </p:nvSpPr>
        <p:spPr>
          <a:xfrm>
            <a:off x="594360" y="2414160"/>
            <a:ext cx="3931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select distinct status from raw.subscribers;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3"/>
          <p:cNvSpPr/>
          <p:nvPr/>
        </p:nvSpPr>
        <p:spPr>
          <a:xfrm>
            <a:off x="4572000" y="2414160"/>
            <a:ext cx="273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4"/>
          <p:cNvSpPr/>
          <p:nvPr/>
        </p:nvSpPr>
        <p:spPr>
          <a:xfrm>
            <a:off x="4892040" y="2414160"/>
            <a:ext cx="3702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ACTIVE / active / Aktif → upper(status) in ('ACTIVE','AKTIF')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5"/>
          <p:cNvSpPr/>
          <p:nvPr/>
        </p:nvSpPr>
        <p:spPr>
          <a:xfrm>
            <a:off x="457200" y="3117960"/>
            <a:ext cx="8228880" cy="676080"/>
          </a:xfrm>
          <a:prstGeom prst="roundRect">
            <a:avLst>
              <a:gd name="adj" fmla="val 1621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6"/>
          <p:cNvSpPr/>
          <p:nvPr/>
        </p:nvSpPr>
        <p:spPr>
          <a:xfrm>
            <a:off x="594360" y="3163680"/>
            <a:ext cx="3931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select msisdn, count(*) from raw.subscribers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group by 1 having count(*) &gt; 1 limit 5;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7"/>
          <p:cNvSpPr/>
          <p:nvPr/>
        </p:nvSpPr>
        <p:spPr>
          <a:xfrm>
            <a:off x="4572000" y="3163680"/>
            <a:ext cx="273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8"/>
          <p:cNvSpPr/>
          <p:nvPr/>
        </p:nvSpPr>
        <p:spPr>
          <a:xfrm>
            <a:off x="4892040" y="3163680"/>
            <a:ext cx="3702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aynı msisdn 2 kayıt → güncel = max activation_date, eşitlikte max subscriber_id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9"/>
          <p:cNvSpPr/>
          <p:nvPr/>
        </p:nvSpPr>
        <p:spPr>
          <a:xfrm>
            <a:off x="457200" y="3867840"/>
            <a:ext cx="8228880" cy="676080"/>
          </a:xfrm>
          <a:prstGeom prst="roundRect">
            <a:avLst>
              <a:gd name="adj" fmla="val 1621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0"/>
          <p:cNvSpPr/>
          <p:nvPr/>
        </p:nvSpPr>
        <p:spPr>
          <a:xfrm>
            <a:off x="594360" y="3913560"/>
            <a:ext cx="3931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select max(ingested_at - event_ts) from raw.cdr_events;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1"/>
          <p:cNvSpPr/>
          <p:nvPr/>
        </p:nvSpPr>
        <p:spPr>
          <a:xfrm>
            <a:off x="4572000" y="3913560"/>
            <a:ext cx="273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2"/>
          <p:cNvSpPr/>
          <p:nvPr/>
        </p:nvSpPr>
        <p:spPr>
          <a:xfrm>
            <a:off x="4892040" y="3913560"/>
            <a:ext cx="37026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72 saate kadar geç → watermark ingested_at, 3 gün lookback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1.3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Katman kuralları — applyTo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3"/>
          <p:cNvSpPr/>
          <p:nvPr/>
        </p:nvSpPr>
        <p:spPr>
          <a:xfrm>
            <a:off x="457200" y="8686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.github/instructions/*.instructions.md — sadece o yollardaki dosyalarda devreye girer. Genel dosya kısa kalır, her katman kendi yarasını yazar.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4"/>
          <p:cNvSpPr/>
          <p:nvPr/>
        </p:nvSpPr>
        <p:spPr>
          <a:xfrm>
            <a:off x="457200" y="1417320"/>
            <a:ext cx="2651040" cy="310824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594360" y="15087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sql.instructions.md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594360" y="182880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applyTo: sql/**/*.sql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7"/>
          <p:cNvSpPr/>
          <p:nvPr/>
        </p:nvSpPr>
        <p:spPr>
          <a:xfrm>
            <a:off x="594360" y="2194560"/>
            <a:ext cx="23767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CTE zinciri, her CTE'ye yorum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Frame sadece aggregate window'da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ctid yok — tie-breaker iş anahtarı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EXPLAIN görmeden index önerme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8"/>
          <p:cNvSpPr/>
          <p:nvPr/>
        </p:nvSpPr>
        <p:spPr>
          <a:xfrm>
            <a:off x="3246120" y="1417320"/>
            <a:ext cx="2651040" cy="310824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9"/>
          <p:cNvSpPr/>
          <p:nvPr/>
        </p:nvSpPr>
        <p:spPr>
          <a:xfrm>
            <a:off x="3383280" y="15087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dbt.instructions.md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0"/>
          <p:cNvSpPr/>
          <p:nvPr/>
        </p:nvSpPr>
        <p:spPr>
          <a:xfrm>
            <a:off x="3383280" y="182880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applyTo: dbt/**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1"/>
          <p:cNvSpPr/>
          <p:nvPr/>
        </p:nvSpPr>
        <p:spPr>
          <a:xfrm>
            <a:off x="3383280" y="2194560"/>
            <a:ext cx="23767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Staging SADECE source(); iş mantığı yok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Her modele unique + not_null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Incremental: unique_key, delete+insert, ingested_at, lookback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Yorumda ref() yok; komut dbt/telco_dw'dan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2"/>
          <p:cNvSpPr/>
          <p:nvPr/>
        </p:nvSpPr>
        <p:spPr>
          <a:xfrm>
            <a:off x="6035040" y="1417320"/>
            <a:ext cx="2651040" cy="310824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3"/>
          <p:cNvSpPr/>
          <p:nvPr/>
        </p:nvSpPr>
        <p:spPr>
          <a:xfrm>
            <a:off x="6172200" y="15087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airflow.instructions.md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4"/>
          <p:cNvSpPr/>
          <p:nvPr/>
        </p:nvSpPr>
        <p:spPr>
          <a:xfrm>
            <a:off x="6172200" y="182880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applyTo: airflow/**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5"/>
          <p:cNvSpPr/>
          <p:nvPr/>
        </p:nvSpPr>
        <p:spPr>
          <a:xfrm>
            <a:off x="6172200" y="2194560"/>
            <a:ext cx="23767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catchup=False, sabit start_date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retries ≥ 3 + backoff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Sensor reschedule + timeout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{{ ds }}; şifre yok, conn_id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6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Bu üç dosya bir ekibin yılların tecrübesinin özeti. Sizinki takımınızın "bir daha aynı hatayı yapmayalım" listesi — bu kez Copilot da okuyor.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MCP — Copilot'a veritabanını göstermek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457200" y="914400"/>
            <a:ext cx="3931200" cy="3656880"/>
          </a:xfrm>
          <a:prstGeom prst="roundRect">
            <a:avLst>
              <a:gd name="adj" fmla="val 3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4"/>
          <p:cNvSpPr/>
          <p:nvPr/>
        </p:nvSpPr>
        <p:spPr>
          <a:xfrm>
            <a:off x="640080" y="1051560"/>
            <a:ext cx="502200" cy="502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8" name="Image 0" descr="preencoded.png"/>
          <p:cNvPicPr/>
          <p:nvPr/>
        </p:nvPicPr>
        <p:blipFill>
          <a:blip r:embed="rId1"/>
          <a:stretch/>
        </p:blipFill>
        <p:spPr>
          <a:xfrm>
            <a:off x="750600" y="116208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Text 5"/>
          <p:cNvSpPr/>
          <p:nvPr/>
        </p:nvSpPr>
        <p:spPr>
          <a:xfrm>
            <a:off x="1280160" y="1097280"/>
            <a:ext cx="3016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Model Context Protocol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6"/>
          <p:cNvSpPr/>
          <p:nvPr/>
        </p:nvSpPr>
        <p:spPr>
          <a:xfrm>
            <a:off x="640080" y="1645920"/>
            <a:ext cx="356544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Copilot dış sisteme araçla erişir: şema, örnek satır, EXPLAIN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Şemayı prompt'a yapıştırmak biter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--access-mode=restricted → salt okunur, DROP yok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Kapalıysa: #file:00_schema.sql + 3 örnek satır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7"/>
          <p:cNvSpPr/>
          <p:nvPr/>
        </p:nvSpPr>
        <p:spPr>
          <a:xfrm>
            <a:off x="4754880" y="914400"/>
            <a:ext cx="3931200" cy="210240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8"/>
          <p:cNvSpPr/>
          <p:nvPr/>
        </p:nvSpPr>
        <p:spPr>
          <a:xfrm>
            <a:off x="4892040" y="1005840"/>
            <a:ext cx="365688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// .vscode/mcp.json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{ "servers": { "telco-postgres": {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"type": "stdio",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"command": "uvx",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"args": ["postgres-mcp",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     "--access-mode=restricted"],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"env": { "DATABASE_URI":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"postgresql://telco:telco@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localhost:5432/telco_dw" }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}}}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9"/>
          <p:cNvSpPr/>
          <p:nvPr/>
        </p:nvSpPr>
        <p:spPr>
          <a:xfrm>
            <a:off x="4754880" y="3154680"/>
            <a:ext cx="3931200" cy="1416600"/>
          </a:xfrm>
          <a:prstGeom prst="roundRect">
            <a:avLst>
              <a:gd name="adj" fmla="val 7742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0"/>
          <p:cNvSpPr/>
          <p:nvPr/>
        </p:nvSpPr>
        <p:spPr>
          <a:xfrm>
            <a:off x="4892040" y="3246120"/>
            <a:ext cx="36568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 telco-postgres ile raw.cdr_events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şemasını ve 5 örnek satırı al. Instructions'taki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her şema iddiasını gerçek veride doğrula: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duplicate oranı, msisdn formatları, status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varyantları, max(ingested_at - event_ts).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1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Copilot instructions'ımızı verinin kendisiyle doğruladı. Artık ona verdiğimiz dosyaları değil, gerçek tabloyu biliyor.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MCP kurumda: dört şartla evet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"/>
          <p:cNvSpPr/>
          <p:nvPr/>
        </p:nvSpPr>
        <p:spPr>
          <a:xfrm>
            <a:off x="457200" y="105156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"/>
          <p:cNvSpPr/>
          <p:nvPr/>
        </p:nvSpPr>
        <p:spPr>
          <a:xfrm>
            <a:off x="594360" y="1188720"/>
            <a:ext cx="502200" cy="502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Image 0" descr="preencoded.png"/>
          <p:cNvPicPr/>
          <p:nvPr/>
        </p:nvPicPr>
        <p:blipFill>
          <a:blip r:embed="rId1"/>
          <a:stretch/>
        </p:blipFill>
        <p:spPr>
          <a:xfrm>
            <a:off x="704880" y="129924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 3"/>
          <p:cNvSpPr/>
          <p:nvPr/>
        </p:nvSpPr>
        <p:spPr>
          <a:xfrm>
            <a:off x="1280160" y="1124640"/>
            <a:ext cx="1828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Salt okunur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"/>
          <p:cNvSpPr/>
          <p:nvPr/>
        </p:nvSpPr>
        <p:spPr>
          <a:xfrm>
            <a:off x="3108960" y="1124640"/>
            <a:ext cx="5394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restricted mod, ayrı DB kullanıcısı (SELECT + EXPLAIN), prod'a asla; dev/staging replikası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"/>
          <p:cNvSpPr/>
          <p:nvPr/>
        </p:nvSpPr>
        <p:spPr>
          <a:xfrm>
            <a:off x="457200" y="192024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6"/>
          <p:cNvSpPr/>
          <p:nvPr/>
        </p:nvSpPr>
        <p:spPr>
          <a:xfrm>
            <a:off x="594360" y="2057400"/>
            <a:ext cx="502200" cy="502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Image 1" descr="preencoded.png"/>
          <p:cNvPicPr/>
          <p:nvPr/>
        </p:nvPicPr>
        <p:blipFill>
          <a:blip r:embed="rId2"/>
          <a:stretch/>
        </p:blipFill>
        <p:spPr>
          <a:xfrm>
            <a:off x="704880" y="216792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Text 7"/>
          <p:cNvSpPr/>
          <p:nvPr/>
        </p:nvSpPr>
        <p:spPr>
          <a:xfrm>
            <a:off x="1280160" y="1993320"/>
            <a:ext cx="1828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Sır yönetimi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8"/>
          <p:cNvSpPr/>
          <p:nvPr/>
        </p:nvSpPr>
        <p:spPr>
          <a:xfrm>
            <a:off x="3108960" y="1993320"/>
            <a:ext cx="5394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DATABASE_URI env'den, mcp.json'da şifre yok, repoya commit edilmez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9"/>
          <p:cNvSpPr/>
          <p:nvPr/>
        </p:nvSpPr>
        <p:spPr>
          <a:xfrm>
            <a:off x="457200" y="278892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0"/>
          <p:cNvSpPr/>
          <p:nvPr/>
        </p:nvSpPr>
        <p:spPr>
          <a:xfrm>
            <a:off x="594360" y="2926080"/>
            <a:ext cx="502200" cy="502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Image 2" descr="preencoded.png"/>
          <p:cNvPicPr/>
          <p:nvPr/>
        </p:nvPicPr>
        <p:blipFill>
          <a:blip r:embed="rId3"/>
          <a:stretch/>
        </p:blipFill>
        <p:spPr>
          <a:xfrm>
            <a:off x="704880" y="303660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Text 11"/>
          <p:cNvSpPr/>
          <p:nvPr/>
        </p:nvSpPr>
        <p:spPr>
          <a:xfrm>
            <a:off x="1280160" y="2862000"/>
            <a:ext cx="1828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Veri sızıntısı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2"/>
          <p:cNvSpPr/>
          <p:nvPr/>
        </p:nvSpPr>
        <p:spPr>
          <a:xfrm>
            <a:off x="3108960" y="2862000"/>
            <a:ext cx="5394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MCP sonucu Copilot'a (buluta) gider: gerçek PII satırı okutma; maskeli/sentetik ortam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3"/>
          <p:cNvSpPr/>
          <p:nvPr/>
        </p:nvSpPr>
        <p:spPr>
          <a:xfrm>
            <a:off x="457200" y="365760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4"/>
          <p:cNvSpPr/>
          <p:nvPr/>
        </p:nvSpPr>
        <p:spPr>
          <a:xfrm>
            <a:off x="594360" y="3794760"/>
            <a:ext cx="502200" cy="502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4" name="Image 3" descr="preencoded.png"/>
          <p:cNvPicPr/>
          <p:nvPr/>
        </p:nvPicPr>
        <p:blipFill>
          <a:blip r:embed="rId4"/>
          <a:stretch/>
        </p:blipFill>
        <p:spPr>
          <a:xfrm>
            <a:off x="704880" y="390528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 15"/>
          <p:cNvSpPr/>
          <p:nvPr/>
        </p:nvSpPr>
        <p:spPr>
          <a:xfrm>
            <a:off x="1280160" y="3730680"/>
            <a:ext cx="1828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Denetim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6"/>
          <p:cNvSpPr/>
          <p:nvPr/>
        </p:nvSpPr>
        <p:spPr>
          <a:xfrm>
            <a:off x="3108960" y="3730680"/>
            <a:ext cx="5394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pgaudit ile MCP kullanıcısının her sorgusu loglanır; kim, ne zaman, ne okudu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7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Alternatif yoksa: şema kartı + sentetik örnek satırlar dosyada. MCP'nin kazandırdığı, Copilot'un iddiasını veriyle doğrulatabilmek.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1.5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REVIEW_CHECKLIST — 12 soru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3"/>
          <p:cNvSpPr/>
          <p:nvPr/>
        </p:nvSpPr>
        <p:spPr>
          <a:xfrm>
            <a:off x="457200" y="91440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4"/>
          <p:cNvSpPr/>
          <p:nvPr/>
        </p:nvSpPr>
        <p:spPr>
          <a:xfrm>
            <a:off x="567000" y="102420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5"/>
          <p:cNvSpPr/>
          <p:nvPr/>
        </p:nvSpPr>
        <p:spPr>
          <a:xfrm>
            <a:off x="567000" y="1024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6"/>
          <p:cNvSpPr/>
          <p:nvPr/>
        </p:nvSpPr>
        <p:spPr>
          <a:xfrm>
            <a:off x="1005840" y="95112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Grain nedir, tek cümlede?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7"/>
          <p:cNvSpPr/>
          <p:nvPr/>
        </p:nvSpPr>
        <p:spPr>
          <a:xfrm>
            <a:off x="4663440" y="91440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8"/>
          <p:cNvSpPr/>
          <p:nvPr/>
        </p:nvSpPr>
        <p:spPr>
          <a:xfrm>
            <a:off x="4773240" y="102420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9"/>
          <p:cNvSpPr/>
          <p:nvPr/>
        </p:nvSpPr>
        <p:spPr>
          <a:xfrm>
            <a:off x="4773240" y="10242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0"/>
          <p:cNvSpPr/>
          <p:nvPr/>
        </p:nvSpPr>
        <p:spPr>
          <a:xfrm>
            <a:off x="5212080" y="95112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Dim, anahtarında tekil mi? (ROW_NUMBER, DISTINCT değil)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1"/>
          <p:cNvSpPr/>
          <p:nvPr/>
        </p:nvSpPr>
        <p:spPr>
          <a:xfrm>
            <a:off x="457200" y="151776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2"/>
          <p:cNvSpPr/>
          <p:nvPr/>
        </p:nvSpPr>
        <p:spPr>
          <a:xfrm>
            <a:off x="567000" y="162756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3"/>
          <p:cNvSpPr/>
          <p:nvPr/>
        </p:nvSpPr>
        <p:spPr>
          <a:xfrm>
            <a:off x="567000" y="16275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4"/>
          <p:cNvSpPr/>
          <p:nvPr/>
        </p:nvSpPr>
        <p:spPr>
          <a:xfrm>
            <a:off x="1005840" y="155448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LEFT JOIN + WHERE → INNER'a döndü mü?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5"/>
          <p:cNvSpPr/>
          <p:nvPr/>
        </p:nvSpPr>
        <p:spPr>
          <a:xfrm>
            <a:off x="4663440" y="151776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6"/>
          <p:cNvSpPr/>
          <p:nvPr/>
        </p:nvSpPr>
        <p:spPr>
          <a:xfrm>
            <a:off x="4773240" y="162756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7"/>
          <p:cNvSpPr/>
          <p:nvPr/>
        </p:nvSpPr>
        <p:spPr>
          <a:xfrm>
            <a:off x="4773240" y="16275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8"/>
          <p:cNvSpPr/>
          <p:nvPr/>
        </p:nvSpPr>
        <p:spPr>
          <a:xfrm>
            <a:off x="5212080" y="155448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Tarih &gt;= / &lt; mi? BETWEEN var mı?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9"/>
          <p:cNvSpPr/>
          <p:nvPr/>
        </p:nvSpPr>
        <p:spPr>
          <a:xfrm>
            <a:off x="457200" y="212148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0"/>
          <p:cNvSpPr/>
          <p:nvPr/>
        </p:nvSpPr>
        <p:spPr>
          <a:xfrm>
            <a:off x="567000" y="223128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1"/>
          <p:cNvSpPr/>
          <p:nvPr/>
        </p:nvSpPr>
        <p:spPr>
          <a:xfrm>
            <a:off x="567000" y="22312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2"/>
          <p:cNvSpPr/>
          <p:nvPr/>
        </p:nvSpPr>
        <p:spPr>
          <a:xfrm>
            <a:off x="1005840" y="215784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COUNT(*) mı COUNT(DISTINCT) mı?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3"/>
          <p:cNvSpPr/>
          <p:nvPr/>
        </p:nvSpPr>
        <p:spPr>
          <a:xfrm>
            <a:off x="4663440" y="212148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4"/>
          <p:cNvSpPr/>
          <p:nvPr/>
        </p:nvSpPr>
        <p:spPr>
          <a:xfrm>
            <a:off x="4773240" y="223128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5"/>
          <p:cNvSpPr/>
          <p:nvPr/>
        </p:nvSpPr>
        <p:spPr>
          <a:xfrm>
            <a:off x="4773240" y="22312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6"/>
          <p:cNvSpPr/>
          <p:nvPr/>
        </p:nvSpPr>
        <p:spPr>
          <a:xfrm>
            <a:off x="5212080" y="215784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Tanım instructions'takiyle aynı mı?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7"/>
          <p:cNvSpPr/>
          <p:nvPr/>
        </p:nvSpPr>
        <p:spPr>
          <a:xfrm>
            <a:off x="457200" y="272484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8"/>
          <p:cNvSpPr/>
          <p:nvPr/>
        </p:nvSpPr>
        <p:spPr>
          <a:xfrm>
            <a:off x="567000" y="283464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9"/>
          <p:cNvSpPr/>
          <p:nvPr/>
        </p:nvSpPr>
        <p:spPr>
          <a:xfrm>
            <a:off x="567000" y="28346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0"/>
          <p:cNvSpPr/>
          <p:nvPr/>
        </p:nvSpPr>
        <p:spPr>
          <a:xfrm>
            <a:off x="1005840" y="276156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Incremental: watermark ingested_at? lookback? unique_key?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1"/>
          <p:cNvSpPr/>
          <p:nvPr/>
        </p:nvSpPr>
        <p:spPr>
          <a:xfrm>
            <a:off x="4663440" y="272484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32"/>
          <p:cNvSpPr/>
          <p:nvPr/>
        </p:nvSpPr>
        <p:spPr>
          <a:xfrm>
            <a:off x="4773240" y="283464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3"/>
          <p:cNvSpPr/>
          <p:nvPr/>
        </p:nvSpPr>
        <p:spPr>
          <a:xfrm>
            <a:off x="4773240" y="28346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4"/>
          <p:cNvSpPr/>
          <p:nvPr/>
        </p:nvSpPr>
        <p:spPr>
          <a:xfrm>
            <a:off x="5212080" y="276156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İki kez çalıştırınca sonuç aynı mı?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35"/>
          <p:cNvSpPr/>
          <p:nvPr/>
        </p:nvSpPr>
        <p:spPr>
          <a:xfrm>
            <a:off x="457200" y="332856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6"/>
          <p:cNvSpPr/>
          <p:nvPr/>
        </p:nvSpPr>
        <p:spPr>
          <a:xfrm>
            <a:off x="567000" y="343800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7"/>
          <p:cNvSpPr/>
          <p:nvPr/>
        </p:nvSpPr>
        <p:spPr>
          <a:xfrm>
            <a:off x="567000" y="34380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38"/>
          <p:cNvSpPr/>
          <p:nvPr/>
        </p:nvSpPr>
        <p:spPr>
          <a:xfrm>
            <a:off x="1005840" y="336492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SCD2 join tarih aralığıyla mı?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9"/>
          <p:cNvSpPr/>
          <p:nvPr/>
        </p:nvSpPr>
        <p:spPr>
          <a:xfrm>
            <a:off x="4663440" y="332856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40"/>
          <p:cNvSpPr/>
          <p:nvPr/>
        </p:nvSpPr>
        <p:spPr>
          <a:xfrm>
            <a:off x="4773240" y="343800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1"/>
          <p:cNvSpPr/>
          <p:nvPr/>
        </p:nvSpPr>
        <p:spPr>
          <a:xfrm>
            <a:off x="4773240" y="34380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2"/>
          <p:cNvSpPr/>
          <p:nvPr/>
        </p:nvSpPr>
        <p:spPr>
          <a:xfrm>
            <a:off x="5212080" y="336492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neyi yakalar? Totoloji mi?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43"/>
          <p:cNvSpPr/>
          <p:nvPr/>
        </p:nvSpPr>
        <p:spPr>
          <a:xfrm>
            <a:off x="457200" y="393192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4"/>
          <p:cNvSpPr/>
          <p:nvPr/>
        </p:nvSpPr>
        <p:spPr>
          <a:xfrm>
            <a:off x="567000" y="404172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5"/>
          <p:cNvSpPr/>
          <p:nvPr/>
        </p:nvSpPr>
        <p:spPr>
          <a:xfrm>
            <a:off x="567000" y="40417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46"/>
          <p:cNvSpPr/>
          <p:nvPr/>
        </p:nvSpPr>
        <p:spPr>
          <a:xfrm>
            <a:off x="1005840" y="396864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EXPLAIN'de Nested Loop / rows=1 var mı?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47"/>
          <p:cNvSpPr/>
          <p:nvPr/>
        </p:nvSpPr>
        <p:spPr>
          <a:xfrm>
            <a:off x="4663440" y="3931920"/>
            <a:ext cx="402264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48"/>
          <p:cNvSpPr/>
          <p:nvPr/>
        </p:nvSpPr>
        <p:spPr>
          <a:xfrm>
            <a:off x="4773240" y="404172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49"/>
          <p:cNvSpPr/>
          <p:nvPr/>
        </p:nvSpPr>
        <p:spPr>
          <a:xfrm>
            <a:off x="4773240" y="40417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50"/>
          <p:cNvSpPr/>
          <p:nvPr/>
        </p:nvSpPr>
        <p:spPr>
          <a:xfrm>
            <a:off x="5212080" y="396864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Doğrulama sorgusu var mı, sayı biliniyor mu?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1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Syntax hatasını Copilot yapmaz; anlam hatasını sık yapar. Bu liste anlam için. Bugün 2, 6, 10, 11'i canlı göreceksiniz.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 0"/>
          <p:cNvSpPr/>
          <p:nvPr/>
        </p:nvSpPr>
        <p:spPr>
          <a:xfrm>
            <a:off x="548640" y="137160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GÜN 1 · SABAH · M1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548640" y="1783080"/>
            <a:ext cx="8046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Prompt ve context engineering — veri için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"/>
          <p:cNvSpPr/>
          <p:nvPr/>
        </p:nvSpPr>
        <p:spPr>
          <a:xfrm>
            <a:off x="548640" y="288036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Yazılımda derleyici prompt'unuzu denetler. Veride denetleyen yok: bağlamı siz kurarsınız ya da sayı yanlış çıkar ve kimse fark etmez.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Veri prompt'unun cezası sessizdir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1"/>
          <p:cNvSpPr/>
          <p:nvPr/>
        </p:nvSpPr>
        <p:spPr>
          <a:xfrm>
            <a:off x="457200" y="1051560"/>
            <a:ext cx="2651040" cy="2102400"/>
          </a:xfrm>
          <a:prstGeom prst="roundRect">
            <a:avLst>
              <a:gd name="adj" fmla="val 521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548640" y="1143000"/>
            <a:ext cx="2468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9.995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594360" y="201168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"aktif" = Ağustos'ta CDR üreten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4"/>
          <p:cNvSpPr/>
          <p:nvPr/>
        </p:nvSpPr>
        <p:spPr>
          <a:xfrm>
            <a:off x="594360" y="260604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statüye hiç bakmadı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5"/>
          <p:cNvSpPr/>
          <p:nvPr/>
        </p:nvSpPr>
        <p:spPr>
          <a:xfrm>
            <a:off x="3246120" y="1051560"/>
            <a:ext cx="2651040" cy="2102400"/>
          </a:xfrm>
          <a:prstGeom prst="roundRect">
            <a:avLst>
              <a:gd name="adj" fmla="val 521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"/>
          <p:cNvSpPr/>
          <p:nvPr/>
        </p:nvSpPr>
        <p:spPr>
          <a:xfrm>
            <a:off x="3337560" y="1143000"/>
            <a:ext cx="2468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≈6.600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3383280" y="201168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status = 'ACTIVE'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8"/>
          <p:cNvSpPr/>
          <p:nvPr/>
        </p:nvSpPr>
        <p:spPr>
          <a:xfrm>
            <a:off x="3383280" y="260604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active / Aktif kayboldu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9"/>
          <p:cNvSpPr/>
          <p:nvPr/>
        </p:nvSpPr>
        <p:spPr>
          <a:xfrm>
            <a:off x="6035040" y="1051560"/>
            <a:ext cx="2651040" cy="2102400"/>
          </a:xfrm>
          <a:prstGeom prst="roundRect">
            <a:avLst>
              <a:gd name="adj" fmla="val 521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0"/>
          <p:cNvSpPr/>
          <p:nvPr/>
        </p:nvSpPr>
        <p:spPr>
          <a:xfrm>
            <a:off x="6126480" y="1143000"/>
            <a:ext cx="2468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8.237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1"/>
          <p:cNvSpPr/>
          <p:nvPr/>
        </p:nvSpPr>
        <p:spPr>
          <a:xfrm>
            <a:off x="6172200" y="201168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≥1 geçerli CDR VE güncel statü ACTIVE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2"/>
          <p:cNvSpPr/>
          <p:nvPr/>
        </p:nvSpPr>
        <p:spPr>
          <a:xfrm>
            <a:off x="6172200" y="260604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tanım + şema + kısıt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3"/>
          <p:cNvSpPr/>
          <p:nvPr/>
        </p:nvSpPr>
        <p:spPr>
          <a:xfrm>
            <a:off x="457200" y="3337560"/>
            <a:ext cx="8228880" cy="1233720"/>
          </a:xfrm>
          <a:prstGeom prst="roundRect">
            <a:avLst>
              <a:gd name="adj" fmla="val 888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4"/>
          <p:cNvSpPr/>
          <p:nvPr/>
        </p:nvSpPr>
        <p:spPr>
          <a:xfrm>
            <a:off x="640080" y="3337560"/>
            <a:ext cx="786312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Üçü de hatasız çalışan sorgular.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Fark tamamen bağlamda. Yazılımda kötü prompt derlenmez, test kırılır. Veride sorgu çalışır, makul bir sayı döner, dashboard'a gider. İkinci fark: veride spec = şema + iş tanımı; şema "status text" der, "üç varyant var ve Aktif de ACTIVE sayılır" demez. Bağlamın yarısı şemada, yarısı şemanın yalanlarında.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5 zorunlu bileşen — eksik olanın ürettiği hata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99" name="Table 0"/>
          <p:cNvGraphicFramePr/>
          <p:nvPr/>
        </p:nvGraphicFramePr>
        <p:xfrm>
          <a:off x="457200" y="1005840"/>
          <a:ext cx="8229240" cy="301752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</a:tblGrid>
              <a:tr h="502920"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Bileşen</a:t>
                      </a:r>
                      <a:endParaRPr lang="tr-T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 verir</a:t>
                      </a:r>
                      <a:endParaRPr lang="tr-T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Eksikse (derste gerçekten oldu)</a:t>
                      </a:r>
                      <a:endParaRPr lang="tr-T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</a:tr>
              <a:tr h="502920"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Varsayılan bilgi seti: "PostgreSQL 16'da telekom veri mühendisi"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Generic SQL; regexp 'g' flag'i, MATERIALIZED akla gelmez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502920"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Şema bağlamı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Tablolar + kirlilik: msisdn 4 format, event_id tekil değil, status varyantlı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status='ACTIVE' → ~6.600; veriyi temiz sandı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502920"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Kısıt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 yapmasın: BETWEEN yok, satır silme, secret gömme; hacim + süre hedefi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Doğru sorgu, Nested Loop, 2,5 dakika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502920"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Hedef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İş tanımıyla: "≥1 geçerli CDR VE güncel kayıt ACTIVE, segment bazında"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Kendi tanımını uydurdu → 9.995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502920"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Çıktı formatı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Tek SQL, CTE'li, yorumlu, +2 doğrulama sorgusu, sayıyı yorumla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Doğrulama yok → 6.600'ü kimse yakalamadı</a:t>
                      </a:r>
                      <a:endParaRPr lang="tr-T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</a:tbl>
          </a:graphicData>
        </a:graphic>
      </p:graphicFrame>
      <p:sp>
        <p:nvSpPr>
          <p:cNvPr id="500" name="Text 1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Dördü her prompt'ta aynı (rol, şema, kısıt, format) → instructions dosyasına. Chat'te sadece hedef kalır: /stg-model cdr_events.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Şemayı gömmek: DDL değil, şema kartı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"/>
          <p:cNvSpPr/>
          <p:nvPr/>
        </p:nvSpPr>
        <p:spPr>
          <a:xfrm>
            <a:off x="457200" y="914400"/>
            <a:ext cx="8228880" cy="228528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"/>
          <p:cNvSpPr/>
          <p:nvPr/>
        </p:nvSpPr>
        <p:spPr>
          <a:xfrm>
            <a:off x="594360" y="1005840"/>
            <a:ext cx="795456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## raw.cdr_events — Bronze, append-only, 305.942 satır, 2026-06 … 2026-09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grain: 1 satır = 1 olay BİLDİRİMİ (event_id tekil değil; ~%2 tekrar, farklı ingested_at ile)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event_id    text       tekil DEĞİL — tekil event_id: 300.000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msisdn      text       4 format: +905321234567 | 05321234567 | 905321234567 | 5321234567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event_type  text       voice/sms/data; casing karışık; %0,3 'mms' = geçersiz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ingested_at timestamp  warehouse'a giriş; event_ts + 0…72 saat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ilişki: msisdn → raw.subscribers.msisdn (normalize edilmeden join yok; FK yok)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temsili KİRLİ satırlar (ilk 5 değil, seçilmiş):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E0001 | +905321234567 | voice | 2026-08-03 10:00 | 2026-08-03 10:05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E0001 | 05321234567   | Voice | 2026-08-03 10:00 | 2026-08-05 02:00  ← aynı olay, 2. geliş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3"/>
          <p:cNvSpPr/>
          <p:nvPr/>
        </p:nvSpPr>
        <p:spPr>
          <a:xfrm>
            <a:off x="457200" y="3337560"/>
            <a:ext cx="2651040" cy="1233720"/>
          </a:xfrm>
          <a:prstGeom prst="roundRect">
            <a:avLst>
              <a:gd name="adj" fmla="val 888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4"/>
          <p:cNvSpPr/>
          <p:nvPr/>
        </p:nvSpPr>
        <p:spPr>
          <a:xfrm>
            <a:off x="594360" y="340164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İstatistik gömülür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5"/>
          <p:cNvSpPr/>
          <p:nvPr/>
        </p:nvSpPr>
        <p:spPr>
          <a:xfrm>
            <a:off x="594360" y="3730680"/>
            <a:ext cx="23767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satır, distinct, tarih aralığı, null oranı — "300k, 4 join" olmadan performans düşünmez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6"/>
          <p:cNvSpPr/>
          <p:nvPr/>
        </p:nvSpPr>
        <p:spPr>
          <a:xfrm>
            <a:off x="3246120" y="3337560"/>
            <a:ext cx="2651040" cy="1233720"/>
          </a:xfrm>
          <a:prstGeom prst="roundRect">
            <a:avLst>
              <a:gd name="adj" fmla="val 888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7"/>
          <p:cNvSpPr/>
          <p:nvPr/>
        </p:nvSpPr>
        <p:spPr>
          <a:xfrm>
            <a:off x="3383280" y="340164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Gerçek veri gömülmez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8"/>
          <p:cNvSpPr/>
          <p:nvPr/>
        </p:nvSpPr>
        <p:spPr>
          <a:xfrm>
            <a:off x="3383280" y="3730680"/>
            <a:ext cx="23767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örnek satır sentetik ya da maskeli; KVKK. 5 gerçek msisdn yapıştırmak yasak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9"/>
          <p:cNvSpPr/>
          <p:nvPr/>
        </p:nvSpPr>
        <p:spPr>
          <a:xfrm>
            <a:off x="6035040" y="3337560"/>
            <a:ext cx="2651040" cy="1233720"/>
          </a:xfrm>
          <a:prstGeom prst="roundRect">
            <a:avLst>
              <a:gd name="adj" fmla="val 888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0"/>
          <p:cNvSpPr/>
          <p:nvPr/>
        </p:nvSpPr>
        <p:spPr>
          <a:xfrm>
            <a:off x="6172200" y="340164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Nereye gömdüğün önemli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1"/>
          <p:cNvSpPr/>
          <p:nvPr/>
        </p:nvSpPr>
        <p:spPr>
          <a:xfrm>
            <a:off x="6172200" y="3730680"/>
            <a:ext cx="23767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kalıcı olan repoya (sources.yml, schema-card.md, instructions); tek seferlik chat'e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2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Örnek satır seçimi tasarım kararıdır: her kirlilikten bir tane, 5–8 satır. İlk 5 satır genelde temizdir ve model veriyi temiz sanır.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"Sorgu yaz" → şema + kural + performans hedefi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"/>
          <p:cNvSpPr/>
          <p:nvPr/>
        </p:nvSpPr>
        <p:spPr>
          <a:xfrm>
            <a:off x="457200" y="1051560"/>
            <a:ext cx="8228880" cy="749160"/>
          </a:xfrm>
          <a:prstGeom prst="roundRect">
            <a:avLst>
              <a:gd name="adj" fmla="val 14634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"/>
          <p:cNvSpPr/>
          <p:nvPr/>
        </p:nvSpPr>
        <p:spPr>
          <a:xfrm>
            <a:off x="594360" y="1243440"/>
            <a:ext cx="547920" cy="365040"/>
          </a:xfrm>
          <a:prstGeom prst="roundRect">
            <a:avLst>
              <a:gd name="adj" fmla="val 15000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3"/>
          <p:cNvSpPr/>
          <p:nvPr/>
        </p:nvSpPr>
        <p:spPr>
          <a:xfrm>
            <a:off x="594360" y="124344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K0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4"/>
          <p:cNvSpPr/>
          <p:nvPr/>
        </p:nvSpPr>
        <p:spPr>
          <a:xfrm>
            <a:off x="1325880" y="1051560"/>
            <a:ext cx="27424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"Ağustos aktif abone sayısı"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5"/>
          <p:cNvSpPr/>
          <p:nvPr/>
        </p:nvSpPr>
        <p:spPr>
          <a:xfrm>
            <a:off x="4114800" y="1051560"/>
            <a:ext cx="43884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9.995 — çalışır, yanlış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6"/>
          <p:cNvSpPr/>
          <p:nvPr/>
        </p:nvSpPr>
        <p:spPr>
          <a:xfrm>
            <a:off x="457200" y="1892880"/>
            <a:ext cx="8228880" cy="749160"/>
          </a:xfrm>
          <a:prstGeom prst="roundRect">
            <a:avLst>
              <a:gd name="adj" fmla="val 14634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7"/>
          <p:cNvSpPr/>
          <p:nvPr/>
        </p:nvSpPr>
        <p:spPr>
          <a:xfrm>
            <a:off x="594360" y="2084760"/>
            <a:ext cx="547920" cy="365040"/>
          </a:xfrm>
          <a:prstGeom prst="roundRect">
            <a:avLst>
              <a:gd name="adj" fmla="val 15000"/>
            </a:avLst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8"/>
          <p:cNvSpPr/>
          <p:nvPr/>
        </p:nvSpPr>
        <p:spPr>
          <a:xfrm>
            <a:off x="594360" y="20847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K1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9"/>
          <p:cNvSpPr/>
          <p:nvPr/>
        </p:nvSpPr>
        <p:spPr>
          <a:xfrm>
            <a:off x="1325880" y="1892880"/>
            <a:ext cx="27424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+ şema kartı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0"/>
          <p:cNvSpPr/>
          <p:nvPr/>
        </p:nvSpPr>
        <p:spPr>
          <a:xfrm>
            <a:off x="4114800" y="1892880"/>
            <a:ext cx="43884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normalize ve dedup var; "aktif"i hâlâ kendi tanımlar — şema NASIL'ı çözer, NE'yi değil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1"/>
          <p:cNvSpPr/>
          <p:nvPr/>
        </p:nvSpPr>
        <p:spPr>
          <a:xfrm>
            <a:off x="457200" y="2734200"/>
            <a:ext cx="8228880" cy="749160"/>
          </a:xfrm>
          <a:prstGeom prst="roundRect">
            <a:avLst>
              <a:gd name="adj" fmla="val 14634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12"/>
          <p:cNvSpPr/>
          <p:nvPr/>
        </p:nvSpPr>
        <p:spPr>
          <a:xfrm>
            <a:off x="594360" y="2926080"/>
            <a:ext cx="547920" cy="365040"/>
          </a:xfrm>
          <a:prstGeom prst="roundRect">
            <a:avLst>
              <a:gd name="adj" fmla="val 15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3"/>
          <p:cNvSpPr/>
          <p:nvPr/>
        </p:nvSpPr>
        <p:spPr>
          <a:xfrm>
            <a:off x="594360" y="292608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K2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4"/>
          <p:cNvSpPr/>
          <p:nvPr/>
        </p:nvSpPr>
        <p:spPr>
          <a:xfrm>
            <a:off x="1325880" y="2734200"/>
            <a:ext cx="27424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+ iş tanımı (kural)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5"/>
          <p:cNvSpPr/>
          <p:nvPr/>
        </p:nvSpPr>
        <p:spPr>
          <a:xfrm>
            <a:off x="4114800" y="2734200"/>
            <a:ext cx="43884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8.237 — doğru. Ama 2,5 dakika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6"/>
          <p:cNvSpPr/>
          <p:nvPr/>
        </p:nvSpPr>
        <p:spPr>
          <a:xfrm>
            <a:off x="457200" y="3575160"/>
            <a:ext cx="8228880" cy="749160"/>
          </a:xfrm>
          <a:prstGeom prst="roundRect">
            <a:avLst>
              <a:gd name="adj" fmla="val 14634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7"/>
          <p:cNvSpPr/>
          <p:nvPr/>
        </p:nvSpPr>
        <p:spPr>
          <a:xfrm>
            <a:off x="594360" y="3767400"/>
            <a:ext cx="547920" cy="365040"/>
          </a:xfrm>
          <a:prstGeom prst="roundRect">
            <a:avLst>
              <a:gd name="adj" fmla="val 15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8"/>
          <p:cNvSpPr/>
          <p:nvPr/>
        </p:nvSpPr>
        <p:spPr>
          <a:xfrm>
            <a:off x="594360" y="37674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K3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9"/>
          <p:cNvSpPr/>
          <p:nvPr/>
        </p:nvSpPr>
        <p:spPr>
          <a:xfrm>
            <a:off x="1325880" y="3575160"/>
            <a:ext cx="27424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+ performans hedefi + EXPLAIN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20"/>
          <p:cNvSpPr/>
          <p:nvPr/>
        </p:nvSpPr>
        <p:spPr>
          <a:xfrm>
            <a:off x="4114800" y="3575160"/>
            <a:ext cx="43884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Hash Join, saniyeler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21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Her katman bir bileşen ekler; sayı her seferinde "makul" görünür. Sadece K3 hem doğru hem hızlı.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Performans hedefini yazmanın kalıbı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1"/>
          <p:cNvSpPr/>
          <p:nvPr/>
        </p:nvSpPr>
        <p:spPr>
          <a:xfrm>
            <a:off x="457200" y="914400"/>
            <a:ext cx="8228880" cy="1599480"/>
          </a:xfrm>
          <a:prstGeom prst="roundRect">
            <a:avLst>
              <a:gd name="adj" fmla="val 6857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594360" y="1005840"/>
            <a:ext cx="795456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Veri: cdr 306k, subscribers 10k satır. Hedef: &lt; 5 sn.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Postgres planner'ın lower()/upper()/rn=1 gibi ifade filtrelerinde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istatistiği yoktur; bu filtreleri MATERIALIZED CTE'lerin İÇİNE al ki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join'e küçük ve doğru tahminli setler girsin.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EXPLAIN (ANALYZE) çıktısını yorumla; Nested Loop görürsen nedenini söyle.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3"/>
          <p:cNvSpPr/>
          <p:nvPr/>
        </p:nvSpPr>
        <p:spPr>
          <a:xfrm>
            <a:off x="457200" y="2651760"/>
            <a:ext cx="1965240" cy="9136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4"/>
          <p:cNvSpPr/>
          <p:nvPr/>
        </p:nvSpPr>
        <p:spPr>
          <a:xfrm>
            <a:off x="594360" y="2715840"/>
            <a:ext cx="1736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Hacim</a:t>
            </a:r>
            <a:endParaRPr lang="tr-T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5"/>
          <p:cNvSpPr/>
          <p:nvPr/>
        </p:nvSpPr>
        <p:spPr>
          <a:xfrm>
            <a:off x="594360" y="3081600"/>
            <a:ext cx="1736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kaç satır, kaç tablo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6"/>
          <p:cNvSpPr/>
          <p:nvPr/>
        </p:nvSpPr>
        <p:spPr>
          <a:xfrm>
            <a:off x="2541960" y="2651760"/>
            <a:ext cx="1965240" cy="9136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7"/>
          <p:cNvSpPr/>
          <p:nvPr/>
        </p:nvSpPr>
        <p:spPr>
          <a:xfrm>
            <a:off x="2679120" y="2715840"/>
            <a:ext cx="1736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Süre hedefi</a:t>
            </a:r>
            <a:endParaRPr lang="tr-T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8"/>
          <p:cNvSpPr/>
          <p:nvPr/>
        </p:nvSpPr>
        <p:spPr>
          <a:xfrm>
            <a:off x="2679120" y="3081600"/>
            <a:ext cx="1736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&lt; 5 sn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9"/>
          <p:cNvSpPr/>
          <p:nvPr/>
        </p:nvSpPr>
        <p:spPr>
          <a:xfrm>
            <a:off x="4626720" y="2651760"/>
            <a:ext cx="1965240" cy="9136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0"/>
          <p:cNvSpPr/>
          <p:nvPr/>
        </p:nvSpPr>
        <p:spPr>
          <a:xfrm>
            <a:off x="4763880" y="2715840"/>
            <a:ext cx="1736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Motorun zaafı</a:t>
            </a:r>
            <a:endParaRPr lang="tr-T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1"/>
          <p:cNvSpPr/>
          <p:nvPr/>
        </p:nvSpPr>
        <p:spPr>
          <a:xfrm>
            <a:off x="4763880" y="3081600"/>
            <a:ext cx="1736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ifade filtresi, istatistik yok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2"/>
          <p:cNvSpPr/>
          <p:nvPr/>
        </p:nvSpPr>
        <p:spPr>
          <a:xfrm>
            <a:off x="6711840" y="2651760"/>
            <a:ext cx="1965240" cy="9136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3"/>
          <p:cNvSpPr/>
          <p:nvPr/>
        </p:nvSpPr>
        <p:spPr>
          <a:xfrm>
            <a:off x="6849000" y="2715840"/>
            <a:ext cx="1736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Kanıt isteği</a:t>
            </a:r>
            <a:endParaRPr lang="tr-T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4"/>
          <p:cNvSpPr/>
          <p:nvPr/>
        </p:nvSpPr>
        <p:spPr>
          <a:xfrm>
            <a:off x="6849000" y="3081600"/>
            <a:ext cx="1736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EXPLAIN'i yorumla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5"/>
          <p:cNvSpPr/>
          <p:nvPr/>
        </p:nvSpPr>
        <p:spPr>
          <a:xfrm>
            <a:off x="457200" y="3703320"/>
            <a:ext cx="8228880" cy="867960"/>
          </a:xfrm>
          <a:prstGeom prst="roundRect">
            <a:avLst>
              <a:gd name="adj" fmla="val 12632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6"/>
          <p:cNvSpPr/>
          <p:nvPr/>
        </p:nvSpPr>
        <p:spPr>
          <a:xfrm>
            <a:off x="640080" y="3703320"/>
            <a:ext cx="78631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"EXPLAIN'i yorumla" demezsen "optimize ettim" der ve etmemiş olur. EXPLAIN çıktısı veri prompt'unun stack trace'idir — yazılımcı stack trace'i prompt'a koymayı bilir, aynı refleks.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Kötü → iyi (1/2) — hepsi gerçek çıktı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"/>
          <p:cNvSpPr/>
          <p:nvPr/>
        </p:nvSpPr>
        <p:spPr>
          <a:xfrm>
            <a:off x="457200" y="1005840"/>
            <a:ext cx="8228880" cy="803880"/>
          </a:xfrm>
          <a:prstGeom prst="roundRect">
            <a:avLst>
              <a:gd name="adj" fmla="val 1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2"/>
          <p:cNvSpPr/>
          <p:nvPr/>
        </p:nvSpPr>
        <p:spPr>
          <a:xfrm>
            <a:off x="640080" y="1051560"/>
            <a:ext cx="20109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Tanım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3"/>
          <p:cNvSpPr/>
          <p:nvPr/>
        </p:nvSpPr>
        <p:spPr>
          <a:xfrm>
            <a:off x="2743200" y="106056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"aktif abone" → 6.600 / 9.995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4"/>
          <p:cNvSpPr/>
          <p:nvPr/>
        </p:nvSpPr>
        <p:spPr>
          <a:xfrm>
            <a:off x="2743200" y="140832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"≥1 geçerli CDR ve güncel statü ACTIVE" → 8.237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5"/>
          <p:cNvSpPr/>
          <p:nvPr/>
        </p:nvSpPr>
        <p:spPr>
          <a:xfrm>
            <a:off x="457200" y="1892880"/>
            <a:ext cx="8228880" cy="803880"/>
          </a:xfrm>
          <a:prstGeom prst="roundRect">
            <a:avLst>
              <a:gd name="adj" fmla="val 1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6"/>
          <p:cNvSpPr/>
          <p:nvPr/>
        </p:nvSpPr>
        <p:spPr>
          <a:xfrm>
            <a:off x="640080" y="1938600"/>
            <a:ext cx="20109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Tekilleştirme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7"/>
          <p:cNvSpPr/>
          <p:nvPr/>
        </p:nvSpPr>
        <p:spPr>
          <a:xfrm>
            <a:off x="2743200" y="194760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"duplicate'leri temizle" → DISTINCT, hiçbir şey silmez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8"/>
          <p:cNvSpPr/>
          <p:nvPr/>
        </p:nvSpPr>
        <p:spPr>
          <a:xfrm>
            <a:off x="2743200" y="229500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"event_id başına en erken ingested_at, ROW_NUMBER" → 300.000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9"/>
          <p:cNvSpPr/>
          <p:nvPr/>
        </p:nvSpPr>
        <p:spPr>
          <a:xfrm>
            <a:off x="457200" y="2779920"/>
            <a:ext cx="8228880" cy="803880"/>
          </a:xfrm>
          <a:prstGeom prst="roundRect">
            <a:avLst>
              <a:gd name="adj" fmla="val 1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0"/>
          <p:cNvSpPr/>
          <p:nvPr/>
        </p:nvSpPr>
        <p:spPr>
          <a:xfrm>
            <a:off x="640080" y="2825640"/>
            <a:ext cx="20109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Aşırı geniş kural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1"/>
          <p:cNvSpPr/>
          <p:nvPr/>
        </p:nvSpPr>
        <p:spPr>
          <a:xfrm>
            <a:off x="2743200" y="283464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"window'da frame belirt" → row_number'a anlamsız frame + ctid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2"/>
          <p:cNvSpPr/>
          <p:nvPr/>
        </p:nvSpPr>
        <p:spPr>
          <a:xfrm>
            <a:off x="2743200" y="318204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"frame sadece aggregate'te; ctid asla"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3"/>
          <p:cNvSpPr/>
          <p:nvPr/>
        </p:nvSpPr>
        <p:spPr>
          <a:xfrm>
            <a:off x="457200" y="3666600"/>
            <a:ext cx="8228880" cy="803880"/>
          </a:xfrm>
          <a:prstGeom prst="roundRect">
            <a:avLst>
              <a:gd name="adj" fmla="val 1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4"/>
          <p:cNvSpPr/>
          <p:nvPr/>
        </p:nvSpPr>
        <p:spPr>
          <a:xfrm>
            <a:off x="640080" y="3712320"/>
            <a:ext cx="20109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Yorum ≠ kural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5"/>
          <p:cNvSpPr/>
          <p:nvPr/>
        </p:nvSpPr>
        <p:spPr>
          <a:xfrm>
            <a:off x="2743200" y="372168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şema yorumunda kirlilik → okudu, tam uygulamadı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6"/>
          <p:cNvSpPr/>
          <p:nvPr/>
        </p:nvSpPr>
        <p:spPr>
          <a:xfrm>
            <a:off x="2743200" y="406908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aynı bilgi instructions'ta → uyguladı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Kötü → iyi (2/2)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"/>
          <p:cNvSpPr/>
          <p:nvPr/>
        </p:nvSpPr>
        <p:spPr>
          <a:xfrm>
            <a:off x="457200" y="1005840"/>
            <a:ext cx="8228880" cy="803880"/>
          </a:xfrm>
          <a:prstGeom prst="roundRect">
            <a:avLst>
              <a:gd name="adj" fmla="val 1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2"/>
          <p:cNvSpPr/>
          <p:nvPr/>
        </p:nvSpPr>
        <p:spPr>
          <a:xfrm>
            <a:off x="640080" y="1051560"/>
            <a:ext cx="20109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Doğrulama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3"/>
          <p:cNvSpPr/>
          <p:nvPr/>
        </p:nvSpPr>
        <p:spPr>
          <a:xfrm>
            <a:off x="2743200" y="106056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"yaz" → sayı gelir, biter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4"/>
          <p:cNvSpPr/>
          <p:nvPr/>
        </p:nvSpPr>
        <p:spPr>
          <a:xfrm>
            <a:off x="2743200" y="140832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"+2 doğrulama sorgusu" → 305.942 / 300.000 / 968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5"/>
          <p:cNvSpPr/>
          <p:nvPr/>
        </p:nvSpPr>
        <p:spPr>
          <a:xfrm>
            <a:off x="457200" y="1892880"/>
            <a:ext cx="8228880" cy="803880"/>
          </a:xfrm>
          <a:prstGeom prst="roundRect">
            <a:avLst>
              <a:gd name="adj" fmla="val 1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6"/>
          <p:cNvSpPr/>
          <p:nvPr/>
        </p:nvSpPr>
        <p:spPr>
          <a:xfrm>
            <a:off x="640080" y="1938600"/>
            <a:ext cx="20109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Bağlam sızıntısı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7"/>
          <p:cNvSpPr/>
          <p:nvPr/>
        </p:nvSpPr>
        <p:spPr>
          <a:xfrm>
            <a:off x="2743200" y="194760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ANSWER_KEY repoda → doğru sayı, yanlış sorgu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8"/>
          <p:cNvSpPr/>
          <p:nvPr/>
        </p:nvSpPr>
        <p:spPr>
          <a:xfrm>
            <a:off x="2743200" y="229500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dışarı çıkınca → dürüst yanlış, sonra bağlamla doğru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9"/>
          <p:cNvSpPr/>
          <p:nvPr/>
        </p:nvSpPr>
        <p:spPr>
          <a:xfrm>
            <a:off x="457200" y="2779920"/>
            <a:ext cx="8228880" cy="803880"/>
          </a:xfrm>
          <a:prstGeom prst="roundRect">
            <a:avLst>
              <a:gd name="adj" fmla="val 1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0"/>
          <p:cNvSpPr/>
          <p:nvPr/>
        </p:nvSpPr>
        <p:spPr>
          <a:xfrm>
            <a:off x="640080" y="2825640"/>
            <a:ext cx="20109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Format tuzağı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1"/>
          <p:cNvSpPr/>
          <p:nvPr/>
        </p:nvSpPr>
        <p:spPr>
          <a:xfrm>
            <a:off x="2743200" y="283464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dbt yorumunda {{ ref() }} → kendine bağımlılık döngüsü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2"/>
          <p:cNvSpPr/>
          <p:nvPr/>
        </p:nvSpPr>
        <p:spPr>
          <a:xfrm>
            <a:off x="2743200" y="318204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"yorumlarda Jinja yok"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3"/>
          <p:cNvSpPr/>
          <p:nvPr/>
        </p:nvSpPr>
        <p:spPr>
          <a:xfrm>
            <a:off x="457200" y="3666600"/>
            <a:ext cx="8228880" cy="803880"/>
          </a:xfrm>
          <a:prstGeom prst="roundRect">
            <a:avLst>
              <a:gd name="adj" fmla="val 1363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4"/>
          <p:cNvSpPr/>
          <p:nvPr/>
        </p:nvSpPr>
        <p:spPr>
          <a:xfrm>
            <a:off x="640080" y="3712320"/>
            <a:ext cx="20109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Test kalitesi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5"/>
          <p:cNvSpPr/>
          <p:nvPr/>
        </p:nvSpPr>
        <p:spPr>
          <a:xfrm>
            <a:off x="2743200" y="372168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"test yaz" → 9 test, 2'si totoloji, regex yok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6"/>
          <p:cNvSpPr/>
          <p:nvPr/>
        </p:nvSpPr>
        <p:spPr>
          <a:xfrm>
            <a:off x="2743200" y="406908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"her test hangi hatayı yakalar; formülü koru" → regex testi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7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Sekiz çift, sekiz slayt değil; her biri instructions'a bir satır ya da checklist'e bir soru olarak girdi.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Temel kullanım: üç mod, üç iş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1"/>
          <p:cNvSpPr/>
          <p:nvPr/>
        </p:nvSpPr>
        <p:spPr>
          <a:xfrm>
            <a:off x="457200" y="1051560"/>
            <a:ext cx="2651040" cy="2285280"/>
          </a:xfrm>
          <a:prstGeom prst="roundRect">
            <a:avLst>
              <a:gd name="adj" fmla="val 48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"/>
          <p:cNvSpPr/>
          <p:nvPr/>
        </p:nvSpPr>
        <p:spPr>
          <a:xfrm>
            <a:off x="640080" y="118872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Ask</a:t>
            </a:r>
            <a:endParaRPr lang="tr-T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3"/>
          <p:cNvSpPr/>
          <p:nvPr/>
        </p:nvSpPr>
        <p:spPr>
          <a:xfrm>
            <a:off x="640080" y="1737360"/>
            <a:ext cx="2285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Soru, açıklama, "bu sorgu ne yapıyor?"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4"/>
          <p:cNvSpPr/>
          <p:nvPr/>
        </p:nvSpPr>
        <p:spPr>
          <a:xfrm>
            <a:off x="640080" y="2423160"/>
            <a:ext cx="2285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Dosyaya dokunmaz. Copilot yine de workspace'i okur.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5"/>
          <p:cNvSpPr/>
          <p:nvPr/>
        </p:nvSpPr>
        <p:spPr>
          <a:xfrm>
            <a:off x="3246120" y="1051560"/>
            <a:ext cx="2651040" cy="2285280"/>
          </a:xfrm>
          <a:prstGeom prst="roundRect">
            <a:avLst>
              <a:gd name="adj" fmla="val 48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6"/>
          <p:cNvSpPr/>
          <p:nvPr/>
        </p:nvSpPr>
        <p:spPr>
          <a:xfrm>
            <a:off x="3429000" y="118872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Edit</a:t>
            </a:r>
            <a:endParaRPr lang="tr-T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7"/>
          <p:cNvSpPr/>
          <p:nvPr/>
        </p:nvSpPr>
        <p:spPr>
          <a:xfrm>
            <a:off x="3429000" y="1737360"/>
            <a:ext cx="2285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Seçili dosyayı değiştir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8"/>
          <p:cNvSpPr/>
          <p:nvPr/>
        </p:nvSpPr>
        <p:spPr>
          <a:xfrm>
            <a:off x="3429000" y="2423160"/>
            <a:ext cx="2285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Tek dosya, hedefli değişiklik; diff'i görürsün.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9"/>
          <p:cNvSpPr/>
          <p:nvPr/>
        </p:nvSpPr>
        <p:spPr>
          <a:xfrm>
            <a:off x="6035040" y="1051560"/>
            <a:ext cx="2651040" cy="2285280"/>
          </a:xfrm>
          <a:prstGeom prst="roundRect">
            <a:avLst>
              <a:gd name="adj" fmla="val 48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0"/>
          <p:cNvSpPr/>
          <p:nvPr/>
        </p:nvSpPr>
        <p:spPr>
          <a:xfrm>
            <a:off x="6217920" y="118872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Agent</a:t>
            </a:r>
            <a:endParaRPr lang="tr-T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1"/>
          <p:cNvSpPr/>
          <p:nvPr/>
        </p:nvSpPr>
        <p:spPr>
          <a:xfrm>
            <a:off x="6217920" y="1737360"/>
            <a:ext cx="2285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Dosya oluştur, komut çalıştır, çok adım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2"/>
          <p:cNvSpPr/>
          <p:nvPr/>
        </p:nvSpPr>
        <p:spPr>
          <a:xfrm>
            <a:off x="6217920" y="2423160"/>
            <a:ext cx="2285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/stg-model, /dag buradan. Onay ister; her onay bir review.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3"/>
          <p:cNvSpPr/>
          <p:nvPr/>
        </p:nvSpPr>
        <p:spPr>
          <a:xfrm>
            <a:off x="457200" y="3520440"/>
            <a:ext cx="8228880" cy="1050840"/>
          </a:xfrm>
          <a:prstGeom prst="roundRect">
            <a:avLst>
              <a:gd name="adj" fmla="val 10435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4"/>
          <p:cNvSpPr/>
          <p:nvPr/>
        </p:nvSpPr>
        <p:spPr>
          <a:xfrm>
            <a:off x="640080" y="3520440"/>
            <a:ext cx="7863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Yanlış modda doğru prompt boşa gider: Ask'te "dosyayı oluştur" dersen kod yapıştırır, sen kopyalarsın. Agent'ta "açıkla" dersen açıklamak yerine değiştirmeye kalkabilir.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Altı alışkanlık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1"/>
          <p:cNvSpPr/>
          <p:nvPr/>
        </p:nvSpPr>
        <p:spPr>
          <a:xfrm>
            <a:off x="457200" y="1005840"/>
            <a:ext cx="4022640" cy="1078200"/>
          </a:xfrm>
          <a:prstGeom prst="roundRect">
            <a:avLst>
              <a:gd name="adj" fmla="val 1016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2"/>
          <p:cNvSpPr/>
          <p:nvPr/>
        </p:nvSpPr>
        <p:spPr>
          <a:xfrm>
            <a:off x="594360" y="1170360"/>
            <a:ext cx="328320" cy="328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3"/>
          <p:cNvSpPr/>
          <p:nvPr/>
        </p:nvSpPr>
        <p:spPr>
          <a:xfrm>
            <a:off x="594360" y="11703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4"/>
          <p:cNvSpPr/>
          <p:nvPr/>
        </p:nvSpPr>
        <p:spPr>
          <a:xfrm>
            <a:off x="1051560" y="10972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Bağlam ver, bağlam saklama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5"/>
          <p:cNvSpPr/>
          <p:nvPr/>
        </p:nvSpPr>
        <p:spPr>
          <a:xfrm>
            <a:off x="1051560" y="1463040"/>
            <a:ext cx="3291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#file, #selection, @workspace. Repo'da ne varsa prompt'un parçası: gerçek veri, secret, cevap anahtarı girmez.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6"/>
          <p:cNvSpPr/>
          <p:nvPr/>
        </p:nvSpPr>
        <p:spPr>
          <a:xfrm>
            <a:off x="4663440" y="1005840"/>
            <a:ext cx="4022640" cy="1078200"/>
          </a:xfrm>
          <a:prstGeom prst="roundRect">
            <a:avLst>
              <a:gd name="adj" fmla="val 1016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7"/>
          <p:cNvSpPr/>
          <p:nvPr/>
        </p:nvSpPr>
        <p:spPr>
          <a:xfrm>
            <a:off x="4800600" y="1170360"/>
            <a:ext cx="328320" cy="328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8"/>
          <p:cNvSpPr/>
          <p:nvPr/>
        </p:nvSpPr>
        <p:spPr>
          <a:xfrm>
            <a:off x="4800600" y="11703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9"/>
          <p:cNvSpPr/>
          <p:nvPr/>
        </p:nvSpPr>
        <p:spPr>
          <a:xfrm>
            <a:off x="5257800" y="10972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Sonuç ≠ doğru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0"/>
          <p:cNvSpPr/>
          <p:nvPr/>
        </p:nvSpPr>
        <p:spPr>
          <a:xfrm>
            <a:off x="5257800" y="1463040"/>
            <a:ext cx="3291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Sorgu çalıştı, sayı döndü — hiçbir şey kanıtlamaz. "Bunu neyle doğrularım": ikinci sorgu, test, bilinen sayı.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1"/>
          <p:cNvSpPr/>
          <p:nvPr/>
        </p:nvSpPr>
        <p:spPr>
          <a:xfrm>
            <a:off x="457200" y="2176200"/>
            <a:ext cx="4022640" cy="1078200"/>
          </a:xfrm>
          <a:prstGeom prst="roundRect">
            <a:avLst>
              <a:gd name="adj" fmla="val 1016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2"/>
          <p:cNvSpPr/>
          <p:nvPr/>
        </p:nvSpPr>
        <p:spPr>
          <a:xfrm>
            <a:off x="594360" y="2340720"/>
            <a:ext cx="328320" cy="328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3"/>
          <p:cNvSpPr/>
          <p:nvPr/>
        </p:nvSpPr>
        <p:spPr>
          <a:xfrm>
            <a:off x="594360" y="2340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4"/>
          <p:cNvSpPr/>
          <p:nvPr/>
        </p:nvSpPr>
        <p:spPr>
          <a:xfrm>
            <a:off x="1051560" y="226764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Küçük iste, iterasyon yap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5"/>
          <p:cNvSpPr/>
          <p:nvPr/>
        </p:nvSpPr>
        <p:spPr>
          <a:xfrm>
            <a:off x="1051560" y="2633400"/>
            <a:ext cx="3291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"Tüm pipeline" değil, "staging modeli" → kontrol → "testleri ekle".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16"/>
          <p:cNvSpPr/>
          <p:nvPr/>
        </p:nvSpPr>
        <p:spPr>
          <a:xfrm>
            <a:off x="4663440" y="2176200"/>
            <a:ext cx="4022640" cy="1078200"/>
          </a:xfrm>
          <a:prstGeom prst="roundRect">
            <a:avLst>
              <a:gd name="adj" fmla="val 1016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7"/>
          <p:cNvSpPr/>
          <p:nvPr/>
        </p:nvSpPr>
        <p:spPr>
          <a:xfrm>
            <a:off x="4800600" y="2340720"/>
            <a:ext cx="328320" cy="328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8"/>
          <p:cNvSpPr/>
          <p:nvPr/>
        </p:nvSpPr>
        <p:spPr>
          <a:xfrm>
            <a:off x="4800600" y="23407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9"/>
          <p:cNvSpPr/>
          <p:nvPr/>
        </p:nvSpPr>
        <p:spPr>
          <a:xfrm>
            <a:off x="5257800" y="226764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Reddet ve gerekçe iste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0"/>
          <p:cNvSpPr/>
          <p:nvPr/>
        </p:nvSpPr>
        <p:spPr>
          <a:xfrm>
            <a:off x="5257800" y="2633400"/>
            <a:ext cx="3291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"Neden DISTINCT?" sorusu modeli düzeltir. Açıklatmak review'un yarısı.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21"/>
          <p:cNvSpPr/>
          <p:nvPr/>
        </p:nvSpPr>
        <p:spPr>
          <a:xfrm>
            <a:off x="457200" y="3346560"/>
            <a:ext cx="4022640" cy="1078200"/>
          </a:xfrm>
          <a:prstGeom prst="roundRect">
            <a:avLst>
              <a:gd name="adj" fmla="val 1016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22"/>
          <p:cNvSpPr/>
          <p:nvPr/>
        </p:nvSpPr>
        <p:spPr>
          <a:xfrm>
            <a:off x="594360" y="3511440"/>
            <a:ext cx="328320" cy="328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3"/>
          <p:cNvSpPr/>
          <p:nvPr/>
        </p:nvSpPr>
        <p:spPr>
          <a:xfrm>
            <a:off x="594360" y="35114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24"/>
          <p:cNvSpPr/>
          <p:nvPr/>
        </p:nvSpPr>
        <p:spPr>
          <a:xfrm>
            <a:off x="1051560" y="343800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Yorum ≠ kural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5"/>
          <p:cNvSpPr/>
          <p:nvPr/>
        </p:nvSpPr>
        <p:spPr>
          <a:xfrm>
            <a:off x="1051560" y="3803760"/>
            <a:ext cx="3291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Şema yorumu bilgi, instructions sözleşme. Copilot yorumu okur, uymak zorunda hissetmez.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26"/>
          <p:cNvSpPr/>
          <p:nvPr/>
        </p:nvSpPr>
        <p:spPr>
          <a:xfrm>
            <a:off x="4663440" y="3346560"/>
            <a:ext cx="4022640" cy="1078200"/>
          </a:xfrm>
          <a:prstGeom prst="roundRect">
            <a:avLst>
              <a:gd name="adj" fmla="val 1016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27"/>
          <p:cNvSpPr/>
          <p:nvPr/>
        </p:nvSpPr>
        <p:spPr>
          <a:xfrm>
            <a:off x="4800600" y="3511440"/>
            <a:ext cx="328320" cy="328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8"/>
          <p:cNvSpPr/>
          <p:nvPr/>
        </p:nvSpPr>
        <p:spPr>
          <a:xfrm>
            <a:off x="4800600" y="35114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9"/>
          <p:cNvSpPr/>
          <p:nvPr/>
        </p:nvSpPr>
        <p:spPr>
          <a:xfrm>
            <a:off x="5257800" y="343800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Doğrulama sorgusu iste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30"/>
          <p:cNvSpPr/>
          <p:nvPr/>
        </p:nvSpPr>
        <p:spPr>
          <a:xfrm>
            <a:off x="5257800" y="3803760"/>
            <a:ext cx="3291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Her çıktıda refleks: "+2 doğrulama sorgusu, sayıyı yorumla".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Son adım: prompt'u ortadan kaldırmak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1"/>
          <p:cNvSpPr/>
          <p:nvPr/>
        </p:nvSpPr>
        <p:spPr>
          <a:xfrm>
            <a:off x="457200" y="100584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2"/>
          <p:cNvSpPr/>
          <p:nvPr/>
        </p:nvSpPr>
        <p:spPr>
          <a:xfrm>
            <a:off x="640080" y="1005840"/>
            <a:ext cx="2925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Rol + şema + kısıt + format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3"/>
          <p:cNvSpPr/>
          <p:nvPr/>
        </p:nvSpPr>
        <p:spPr>
          <a:xfrm>
            <a:off x="3566160" y="1005840"/>
            <a:ext cx="365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4"/>
          <p:cNvSpPr/>
          <p:nvPr/>
        </p:nvSpPr>
        <p:spPr>
          <a:xfrm>
            <a:off x="3977640" y="1005840"/>
            <a:ext cx="4571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SABİT → .github/copilot-instructions.md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5"/>
          <p:cNvSpPr/>
          <p:nvPr/>
        </p:nvSpPr>
        <p:spPr>
          <a:xfrm>
            <a:off x="457200" y="157284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6"/>
          <p:cNvSpPr/>
          <p:nvPr/>
        </p:nvSpPr>
        <p:spPr>
          <a:xfrm>
            <a:off x="640080" y="1572840"/>
            <a:ext cx="2925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Katmana özel kısıt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7"/>
          <p:cNvSpPr/>
          <p:nvPr/>
        </p:nvSpPr>
        <p:spPr>
          <a:xfrm>
            <a:off x="3566160" y="1572840"/>
            <a:ext cx="365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8"/>
          <p:cNvSpPr/>
          <p:nvPr/>
        </p:nvSpPr>
        <p:spPr>
          <a:xfrm>
            <a:off x="3977640" y="1572840"/>
            <a:ext cx="4571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SABİT → instructions/*.instructions.md (applyTo)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9"/>
          <p:cNvSpPr/>
          <p:nvPr/>
        </p:nvSpPr>
        <p:spPr>
          <a:xfrm>
            <a:off x="457200" y="213984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0"/>
          <p:cNvSpPr/>
          <p:nvPr/>
        </p:nvSpPr>
        <p:spPr>
          <a:xfrm>
            <a:off x="640080" y="2139840"/>
            <a:ext cx="2925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Tekrar eden hedef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1"/>
          <p:cNvSpPr/>
          <p:nvPr/>
        </p:nvSpPr>
        <p:spPr>
          <a:xfrm>
            <a:off x="3566160" y="2139840"/>
            <a:ext cx="365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2"/>
          <p:cNvSpPr/>
          <p:nvPr/>
        </p:nvSpPr>
        <p:spPr>
          <a:xfrm>
            <a:off x="3977640" y="2139840"/>
            <a:ext cx="4571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KALIP → prompts/*.prompt.md (/stg-model, /dag)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3"/>
          <p:cNvSpPr/>
          <p:nvPr/>
        </p:nvSpPr>
        <p:spPr>
          <a:xfrm>
            <a:off x="457200" y="270648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4"/>
          <p:cNvSpPr/>
          <p:nvPr/>
        </p:nvSpPr>
        <p:spPr>
          <a:xfrm>
            <a:off x="640080" y="2706480"/>
            <a:ext cx="2925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Denetim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5"/>
          <p:cNvSpPr/>
          <p:nvPr/>
        </p:nvSpPr>
        <p:spPr>
          <a:xfrm>
            <a:off x="3566160" y="2706480"/>
            <a:ext cx="365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16"/>
          <p:cNvSpPr/>
          <p:nvPr/>
        </p:nvSpPr>
        <p:spPr>
          <a:xfrm>
            <a:off x="3977640" y="2706480"/>
            <a:ext cx="4571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78BFA"/>
                </a:solidFill>
                <a:effectLst/>
                <a:uFillTx/>
                <a:latin typeface="Courier New"/>
                <a:ea typeface="Courier New"/>
              </a:rPr>
              <a:t>ROL → agents/data-reviewer.agent.md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7"/>
          <p:cNvSpPr/>
          <p:nvPr/>
        </p:nvSpPr>
        <p:spPr>
          <a:xfrm>
            <a:off x="457200" y="327348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8"/>
          <p:cNvSpPr/>
          <p:nvPr/>
        </p:nvSpPr>
        <p:spPr>
          <a:xfrm>
            <a:off x="640080" y="3273480"/>
            <a:ext cx="2925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Canlı şema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9"/>
          <p:cNvSpPr/>
          <p:nvPr/>
        </p:nvSpPr>
        <p:spPr>
          <a:xfrm>
            <a:off x="3566160" y="3273480"/>
            <a:ext cx="365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20"/>
          <p:cNvSpPr/>
          <p:nvPr/>
        </p:nvSpPr>
        <p:spPr>
          <a:xfrm>
            <a:off x="3977640" y="3273480"/>
            <a:ext cx="4571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FC3F7"/>
                </a:solidFill>
                <a:effectLst/>
                <a:uFillTx/>
                <a:latin typeface="Courier New"/>
                <a:ea typeface="Courier New"/>
              </a:rPr>
              <a:t>ARAÇ → .vscode/mcp.json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21"/>
          <p:cNvSpPr/>
          <p:nvPr/>
        </p:nvSpPr>
        <p:spPr>
          <a:xfrm>
            <a:off x="457200" y="384048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22"/>
          <p:cNvSpPr/>
          <p:nvPr/>
        </p:nvSpPr>
        <p:spPr>
          <a:xfrm>
            <a:off x="640080" y="3840480"/>
            <a:ext cx="2925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Bugünkü niyet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23"/>
          <p:cNvSpPr/>
          <p:nvPr/>
        </p:nvSpPr>
        <p:spPr>
          <a:xfrm>
            <a:off x="3566160" y="3840480"/>
            <a:ext cx="365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24"/>
          <p:cNvSpPr/>
          <p:nvPr/>
        </p:nvSpPr>
        <p:spPr>
          <a:xfrm>
            <a:off x="3977640" y="3840480"/>
            <a:ext cx="45712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B7185"/>
                </a:solidFill>
                <a:effectLst/>
                <a:uFillTx/>
                <a:latin typeface="Courier New"/>
                <a:ea typeface="Courier New"/>
              </a:rPr>
              <a:t>CHAT → tek satır: /stg-model cdr_events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25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Bağlam dosyaya, niyet chat'e. Instructions yaşayan belge: Copilot'un tökezlediği her yerden bir satır — derste iki satır eklendi.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1.6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Prompt dosyaları — işi komuta çevirmek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3"/>
          <p:cNvSpPr/>
          <p:nvPr/>
        </p:nvSpPr>
        <p:spPr>
          <a:xfrm>
            <a:off x="457200" y="914400"/>
            <a:ext cx="3931200" cy="3656880"/>
          </a:xfrm>
          <a:prstGeom prst="roundRect">
            <a:avLst>
              <a:gd name="adj" fmla="val 3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4"/>
          <p:cNvSpPr/>
          <p:nvPr/>
        </p:nvSpPr>
        <p:spPr>
          <a:xfrm>
            <a:off x="64008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.github/prompts/*.prompt.md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5"/>
          <p:cNvSpPr/>
          <p:nvPr/>
        </p:nvSpPr>
        <p:spPr>
          <a:xfrm>
            <a:off x="640080" y="146304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/stg-model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6"/>
          <p:cNvSpPr/>
          <p:nvPr/>
        </p:nvSpPr>
        <p:spPr>
          <a:xfrm>
            <a:off x="1965960" y="146304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raw tablo → staging modeli + testler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7"/>
          <p:cNvSpPr/>
          <p:nvPr/>
        </p:nvSpPr>
        <p:spPr>
          <a:xfrm>
            <a:off x="640080" y="203004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/incremental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8"/>
          <p:cNvSpPr/>
          <p:nvPr/>
        </p:nvSpPr>
        <p:spPr>
          <a:xfrm>
            <a:off x="1965960" y="203004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mart → watermark + lookback + backfill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9"/>
          <p:cNvSpPr/>
          <p:nvPr/>
        </p:nvSpPr>
        <p:spPr>
          <a:xfrm>
            <a:off x="640080" y="259704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/dbt-tests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0"/>
          <p:cNvSpPr/>
          <p:nvPr/>
        </p:nvSpPr>
        <p:spPr>
          <a:xfrm>
            <a:off x="1965960" y="259704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generic + singular + tutarlılık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1"/>
          <p:cNvSpPr/>
          <p:nvPr/>
        </p:nvSpPr>
        <p:spPr>
          <a:xfrm>
            <a:off x="640080" y="31636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/dag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12"/>
          <p:cNvSpPr/>
          <p:nvPr/>
        </p:nvSpPr>
        <p:spPr>
          <a:xfrm>
            <a:off x="1965960" y="316368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Airflow DAG, zorunlu argümanlarla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13"/>
          <p:cNvSpPr/>
          <p:nvPr/>
        </p:nvSpPr>
        <p:spPr>
          <a:xfrm>
            <a:off x="640080" y="37306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/contract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14"/>
          <p:cNvSpPr/>
          <p:nvPr/>
        </p:nvSpPr>
        <p:spPr>
          <a:xfrm>
            <a:off x="1965960" y="373068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mart → data contract YAML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5"/>
          <p:cNvSpPr/>
          <p:nvPr/>
        </p:nvSpPr>
        <p:spPr>
          <a:xfrm>
            <a:off x="640080" y="420624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mode: agent · ${input:table} · her biri "varsayımlarını söyle" ile biter.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16"/>
          <p:cNvSpPr/>
          <p:nvPr/>
        </p:nvSpPr>
        <p:spPr>
          <a:xfrm>
            <a:off x="4754880" y="914400"/>
            <a:ext cx="3931200" cy="3656880"/>
          </a:xfrm>
          <a:prstGeom prst="roundRect">
            <a:avLst>
              <a:gd name="adj" fmla="val 30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7"/>
          <p:cNvSpPr/>
          <p:nvPr/>
        </p:nvSpPr>
        <p:spPr>
          <a:xfrm>
            <a:off x="493776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/stg-model'in 5 adımı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18"/>
          <p:cNvSpPr/>
          <p:nvPr/>
        </p:nvSpPr>
        <p:spPr>
          <a:xfrm>
            <a:off x="4937760" y="1417320"/>
            <a:ext cx="356544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sources.yml'de kaynak yoksa ekle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stg_&lt;tablo&gt;.sql: source() oku; şema gerçeklerini uygula (E.164, ROW_NUMBER, is_valid_*)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schema.yml: açıklama + unique/not_null/accepted_values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Sonda 2 doğrulama sorgusu (yorum)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run + dbt test --select; sonucu özetle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19"/>
          <p:cNvSpPr/>
          <p:nvPr/>
        </p:nvSpPr>
        <p:spPr>
          <a:xfrm>
            <a:off x="4937760" y="420624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Yeni işe başlayana görev verirken söylediklerin.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1.7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Reviewer agent — yazan ≠ denetleyen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3"/>
          <p:cNvSpPr/>
          <p:nvPr/>
        </p:nvSpPr>
        <p:spPr>
          <a:xfrm>
            <a:off x="457200" y="914400"/>
            <a:ext cx="3931200" cy="3656880"/>
          </a:xfrm>
          <a:prstGeom prst="roundRect">
            <a:avLst>
              <a:gd name="adj" fmla="val 3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4"/>
          <p:cNvSpPr/>
          <p:nvPr/>
        </p:nvSpPr>
        <p:spPr>
          <a:xfrm>
            <a:off x="640080" y="1051560"/>
            <a:ext cx="502200" cy="502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5" name="Image 0" descr="preencoded.png"/>
          <p:cNvPicPr/>
          <p:nvPr/>
        </p:nvPicPr>
        <p:blipFill>
          <a:blip r:embed="rId1"/>
          <a:stretch/>
        </p:blipFill>
        <p:spPr>
          <a:xfrm>
            <a:off x="750600" y="116208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Text 5"/>
          <p:cNvSpPr/>
          <p:nvPr/>
        </p:nvSpPr>
        <p:spPr>
          <a:xfrm>
            <a:off x="1280160" y="1097280"/>
            <a:ext cx="3016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data-reviewer.agent.md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6"/>
          <p:cNvSpPr/>
          <p:nvPr/>
        </p:nvSpPr>
        <p:spPr>
          <a:xfrm>
            <a:off x="640080" y="1645920"/>
            <a:ext cx="356544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Kendi rolü, kendi araç seti: dosya DEĞİŞTİREMEZ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11 maddelik liste = REVIEW_CHECKLIST'in Copilot versiyonu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Sonda: "Production'a çıkabilir mi? EVET/HAYIR" + en kritik risk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Yazan agent'ın bağlamı "işi bitirmek"; reviewer'ınki "hata bulmak"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7"/>
          <p:cNvSpPr/>
          <p:nvPr/>
        </p:nvSpPr>
        <p:spPr>
          <a:xfrm>
            <a:off x="4754880" y="914400"/>
            <a:ext cx="3931200" cy="3656880"/>
          </a:xfrm>
          <a:prstGeom prst="roundRect">
            <a:avLst>
              <a:gd name="adj" fmla="val 30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8"/>
          <p:cNvSpPr/>
          <p:nvPr/>
        </p:nvSpPr>
        <p:spPr>
          <a:xfrm>
            <a:off x="493776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Akış — bugünden itibaren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9"/>
          <p:cNvSpPr/>
          <p:nvPr/>
        </p:nvSpPr>
        <p:spPr>
          <a:xfrm>
            <a:off x="4937760" y="1508760"/>
            <a:ext cx="456480" cy="45648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0"/>
          <p:cNvSpPr/>
          <p:nvPr/>
        </p:nvSpPr>
        <p:spPr>
          <a:xfrm>
            <a:off x="4937760" y="15087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11"/>
          <p:cNvSpPr/>
          <p:nvPr/>
        </p:nvSpPr>
        <p:spPr>
          <a:xfrm>
            <a:off x="5532120" y="15087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Agent yazar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2"/>
          <p:cNvSpPr/>
          <p:nvPr/>
        </p:nvSpPr>
        <p:spPr>
          <a:xfrm>
            <a:off x="4937760" y="2194560"/>
            <a:ext cx="456480" cy="456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3"/>
          <p:cNvSpPr/>
          <p:nvPr/>
        </p:nvSpPr>
        <p:spPr>
          <a:xfrm>
            <a:off x="4937760" y="21945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14"/>
          <p:cNvSpPr/>
          <p:nvPr/>
        </p:nvSpPr>
        <p:spPr>
          <a:xfrm>
            <a:off x="5532120" y="21945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Reviewer denetler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5"/>
          <p:cNvSpPr/>
          <p:nvPr/>
        </p:nvSpPr>
        <p:spPr>
          <a:xfrm>
            <a:off x="4937760" y="2880360"/>
            <a:ext cx="456480" cy="45648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6"/>
          <p:cNvSpPr/>
          <p:nvPr/>
        </p:nvSpPr>
        <p:spPr>
          <a:xfrm>
            <a:off x="4937760" y="28803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17"/>
          <p:cNvSpPr/>
          <p:nvPr/>
        </p:nvSpPr>
        <p:spPr>
          <a:xfrm>
            <a:off x="5532120" y="28803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Siz karar verirsiniz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18"/>
          <p:cNvSpPr/>
          <p:nvPr/>
        </p:nvSpPr>
        <p:spPr>
          <a:xfrm>
            <a:off x="4937760" y="3566160"/>
            <a:ext cx="456480" cy="456480"/>
          </a:xfrm>
          <a:prstGeom prst="ellipse">
            <a:avLst/>
          </a:prstGeom>
          <a:solidFill>
            <a:srgbClr val="9FB0C8"/>
          </a:solidFill>
          <a:ln w="12700">
            <a:solidFill>
              <a:srgbClr val="9FB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19"/>
          <p:cNvSpPr/>
          <p:nvPr/>
        </p:nvSpPr>
        <p:spPr>
          <a:xfrm>
            <a:off x="4937760" y="35661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20"/>
          <p:cNvSpPr/>
          <p:nvPr/>
        </p:nvSpPr>
        <p:spPr>
          <a:xfrm>
            <a:off x="5532120" y="35661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(Yarın) PR'da Copilot code review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21"/>
          <p:cNvSpPr/>
          <p:nvPr/>
        </p:nvSpPr>
        <p:spPr>
          <a:xfrm>
            <a:off x="4937760" y="420624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Üçüncü adım asla atlanmaz.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1.8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İlk gerçek sorgu — doğru bağlamla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3"/>
          <p:cNvSpPr/>
          <p:nvPr/>
        </p:nvSpPr>
        <p:spPr>
          <a:xfrm>
            <a:off x="457200" y="914400"/>
            <a:ext cx="8228880" cy="1325160"/>
          </a:xfrm>
          <a:prstGeom prst="roundRect">
            <a:avLst>
              <a:gd name="adj" fmla="val 8276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4"/>
          <p:cNvSpPr/>
          <p:nvPr/>
        </p:nvSpPr>
        <p:spPr>
          <a:xfrm>
            <a:off x="594360" y="1005840"/>
            <a:ext cx="79545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 · MCP açık: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2026 Ağustos için segment kırılımlı aktif abone sayısını veren sorguyu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sql/active_subscribers_aug_2026.sql'e yaz. Instructions'taki tanım ve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şema gerçekleri geçerli. telco-postgres ile çalıştır; sonucu ve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doğrulama sorgularının sonucunu göster.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5"/>
          <p:cNvSpPr/>
          <p:nvPr/>
        </p:nvSpPr>
        <p:spPr>
          <a:xfrm>
            <a:off x="457200" y="2377440"/>
            <a:ext cx="3931200" cy="2193840"/>
          </a:xfrm>
          <a:prstGeom prst="roundRect">
            <a:avLst>
              <a:gd name="adj" fmla="val 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6"/>
          <p:cNvSpPr/>
          <p:nvPr/>
        </p:nvSpPr>
        <p:spPr>
          <a:xfrm>
            <a:off x="640080" y="24688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7"/>
          <p:cNvSpPr/>
          <p:nvPr/>
        </p:nvSpPr>
        <p:spPr>
          <a:xfrm>
            <a:off x="640080" y="2880360"/>
            <a:ext cx="356544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MASS 4486 · YOUTH 1676 · PREMIUM 1249 · CORPORATE 826 → 8237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Aylık: Haz 8239 · Tem 8238 · Ağu 8237 · Eyl 5308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COUNT(DISTINCT msisdn), &gt;= / &lt;, ('ACTIVE','AKTIF')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8"/>
          <p:cNvSpPr/>
          <p:nvPr/>
        </p:nvSpPr>
        <p:spPr>
          <a:xfrm>
            <a:off x="4754880" y="2377440"/>
            <a:ext cx="3931200" cy="2193840"/>
          </a:xfrm>
          <a:prstGeom prst="roundRect">
            <a:avLst>
              <a:gd name="adj" fmla="val 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9"/>
          <p:cNvSpPr/>
          <p:nvPr/>
        </p:nvSpPr>
        <p:spPr>
          <a:xfrm>
            <a:off x="4937760" y="24688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Yine de yakala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10"/>
          <p:cNvSpPr/>
          <p:nvPr/>
        </p:nvSpPr>
        <p:spPr>
          <a:xfrm>
            <a:off x="4937760" y="2880360"/>
            <a:ext cx="356544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ctid tie-breaker? → subscriber_id yeter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row_number üstünde anlamsız frame? → instruction'ı daralttık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1,5–2,5 dk asılı kaldı? → EXPLAIN: rows=1 tahmini, Nested Loop → sonraki slayt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11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Copilot planı hızlı okuyor; planı istemeyi ise mühendis akıl ediyor. İş bölümü bu.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Planner dersi: doğru sorgu neden 2,5 dakika sürdü?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1"/>
          <p:cNvSpPr/>
          <p:nvPr/>
        </p:nvSpPr>
        <p:spPr>
          <a:xfrm>
            <a:off x="457200" y="1005840"/>
            <a:ext cx="3931200" cy="2285280"/>
          </a:xfrm>
          <a:prstGeom prst="roundRect">
            <a:avLst>
              <a:gd name="adj" fmla="val 48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2"/>
          <p:cNvSpPr/>
          <p:nvPr/>
        </p:nvSpPr>
        <p:spPr>
          <a:xfrm>
            <a:off x="64008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Teşhis (EXPLAIN)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3"/>
          <p:cNvSpPr/>
          <p:nvPr/>
        </p:nvSpPr>
        <p:spPr>
          <a:xfrm>
            <a:off x="640080" y="1508760"/>
            <a:ext cx="356544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upper(status), lower(event_type), rn = 1 → ifade filtresi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Planner'ın ifade için istatistiği yok → varsayılan seçicilik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Tahmin: 1912 → 23 → 1 satır. Gerçek: on binler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"1 satır" gördü → Nested Loop → dakikalar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4"/>
          <p:cNvSpPr/>
          <p:nvPr/>
        </p:nvSpPr>
        <p:spPr>
          <a:xfrm>
            <a:off x="4754880" y="1005840"/>
            <a:ext cx="3931200" cy="2285280"/>
          </a:xfrm>
          <a:prstGeom prst="roundRect">
            <a:avLst>
              <a:gd name="adj" fmla="val 48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5"/>
          <p:cNvSpPr/>
          <p:nvPr/>
        </p:nvSpPr>
        <p:spPr>
          <a:xfrm>
            <a:off x="493776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Tedavi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6"/>
          <p:cNvSpPr/>
          <p:nvPr/>
        </p:nvSpPr>
        <p:spPr>
          <a:xfrm>
            <a:off x="4937760" y="1508760"/>
            <a:ext cx="356544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rn = 1 ve status filtresini CTE'nin İÇİNE al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CTE'yi AS MATERIALIZED yap → gerçek boyut görünür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Sonuç: Hash Join, saniyeler, aynı 8237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Acil: SET enable_nestloop = off; asılı sorgu: docker restart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7"/>
          <p:cNvSpPr/>
          <p:nvPr/>
        </p:nvSpPr>
        <p:spPr>
          <a:xfrm>
            <a:off x="457200" y="3429000"/>
            <a:ext cx="8228880" cy="1142280"/>
          </a:xfrm>
          <a:prstGeom prst="roundRect">
            <a:avLst>
              <a:gd name="adj" fmla="val 96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8"/>
          <p:cNvSpPr/>
          <p:nvPr/>
        </p:nvSpPr>
        <p:spPr>
          <a:xfrm>
            <a:off x="594360" y="3520440"/>
            <a:ext cx="7954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WITH current_subscribers AS MATERIALIZED (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SELECT normalized_msisdn FROM ( ...ROW_NUMBER()... ) s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WHERE rn = 1 AND status IN ('ACTIVE','AKTIF')      -- filtre İÇERİDE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),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deduplicated_cdr AS MATERIALIZED ( ... WHERE rn = 1 )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1.9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Mimari kararı Copilot'a bırakmamak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3"/>
          <p:cNvSpPr/>
          <p:nvPr/>
        </p:nvSpPr>
        <p:spPr>
          <a:xfrm>
            <a:off x="457200" y="914400"/>
            <a:ext cx="3931200" cy="2376720"/>
          </a:xfrm>
          <a:prstGeom prst="roundRect">
            <a:avLst>
              <a:gd name="adj" fmla="val 4615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4"/>
          <p:cNvSpPr/>
          <p:nvPr/>
        </p:nvSpPr>
        <p:spPr>
          <a:xfrm>
            <a:off x="64008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"Postgres mi Snowflake mi?"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5"/>
          <p:cNvSpPr/>
          <p:nvPr/>
        </p:nvSpPr>
        <p:spPr>
          <a:xfrm>
            <a:off x="640080" y="1417320"/>
            <a:ext cx="356544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Dengeli, güzel bir liste yazar; sonunda "bağlıdır"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CDR hacminizi, regülasyonu, ekip yetkinliğini, mevcut yatırımı bilmez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Kararın altındaki kodu yazar; kararı yazamaz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6"/>
          <p:cNvSpPr/>
          <p:nvPr/>
        </p:nvSpPr>
        <p:spPr>
          <a:xfrm>
            <a:off x="4754880" y="914400"/>
            <a:ext cx="3931200" cy="2376720"/>
          </a:xfrm>
          <a:prstGeom prst="roundRect">
            <a:avLst>
              <a:gd name="adj" fmla="val 4615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7"/>
          <p:cNvSpPr/>
          <p:nvPr/>
        </p:nvSpPr>
        <p:spPr>
          <a:xfrm>
            <a:off x="493776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Sizin kararınız: dört soru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8"/>
          <p:cNvSpPr/>
          <p:nvPr/>
        </p:nvSpPr>
        <p:spPr>
          <a:xfrm>
            <a:off x="4937760" y="1417320"/>
            <a:ext cx="356544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Veri yapısal mı, yarı yapısal mı?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Tüketici kim: BI mi, ML mi, API mi?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Ölçek ve saklama: TB/gün, kaç yıl?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Ekip ne biliyor, bugün ne var?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9"/>
          <p:cNvSpPr/>
          <p:nvPr/>
        </p:nvSpPr>
        <p:spPr>
          <a:xfrm>
            <a:off x="457200" y="3429000"/>
            <a:ext cx="8228880" cy="1142280"/>
          </a:xfrm>
          <a:prstGeom prst="roundRect">
            <a:avLst>
              <a:gd name="adj" fmla="val 96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0"/>
          <p:cNvSpPr/>
          <p:nvPr/>
        </p:nvSpPr>
        <p:spPr>
          <a:xfrm>
            <a:off x="640080" y="3429000"/>
            <a:ext cx="786312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 iki günde Postgres seçtik çünkü laptopta çalışıyor ve dbt/Airflow/Kafka kalıpları aynı. Kurumda Bronze lakehouse'ta (Iceberg/Delta), Gold warehouse'ta olabilir; Copilot her iki hedefe de aynı kalıpla yazar. Mimari karar = maliyet + regülasyon + ekip; Copilot'un görmediği üç şey.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Sabahın özeti — Copilot artık veri mühendisi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1"/>
          <p:cNvSpPr/>
          <p:nvPr/>
        </p:nvSpPr>
        <p:spPr>
          <a:xfrm>
            <a:off x="457200" y="1051560"/>
            <a:ext cx="1965240" cy="2285280"/>
          </a:xfrm>
          <a:prstGeom prst="roundRect">
            <a:avLst>
              <a:gd name="adj" fmla="val 558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2"/>
          <p:cNvSpPr/>
          <p:nvPr/>
        </p:nvSpPr>
        <p:spPr>
          <a:xfrm>
            <a:off x="1115640" y="1188720"/>
            <a:ext cx="639360" cy="63936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8" name="Image 0" descr="preencoded.png"/>
          <p:cNvPicPr/>
          <p:nvPr/>
        </p:nvPicPr>
        <p:blipFill>
          <a:blip r:embed="rId1"/>
          <a:stretch/>
        </p:blipFill>
        <p:spPr>
          <a:xfrm>
            <a:off x="1256400" y="1329480"/>
            <a:ext cx="357840" cy="35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Text 3"/>
          <p:cNvSpPr/>
          <p:nvPr/>
        </p:nvSpPr>
        <p:spPr>
          <a:xfrm>
            <a:off x="548640" y="1920240"/>
            <a:ext cx="1782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Instructions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4"/>
          <p:cNvSpPr/>
          <p:nvPr/>
        </p:nvSpPr>
        <p:spPr>
          <a:xfrm>
            <a:off x="594360" y="2286000"/>
            <a:ext cx="16909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Şema gerçekleri + iş tanımları + kurallar. Her prompt'a otomatik.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5"/>
          <p:cNvSpPr/>
          <p:nvPr/>
        </p:nvSpPr>
        <p:spPr>
          <a:xfrm>
            <a:off x="2541960" y="1051560"/>
            <a:ext cx="1965240" cy="2285280"/>
          </a:xfrm>
          <a:prstGeom prst="roundRect">
            <a:avLst>
              <a:gd name="adj" fmla="val 558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6"/>
          <p:cNvSpPr/>
          <p:nvPr/>
        </p:nvSpPr>
        <p:spPr>
          <a:xfrm>
            <a:off x="3200400" y="1188720"/>
            <a:ext cx="639360" cy="63936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3" name="Image 1" descr="preencoded.png"/>
          <p:cNvPicPr/>
          <p:nvPr/>
        </p:nvPicPr>
        <p:blipFill>
          <a:blip r:embed="rId2"/>
          <a:stretch/>
        </p:blipFill>
        <p:spPr>
          <a:xfrm>
            <a:off x="3341160" y="1329480"/>
            <a:ext cx="357840" cy="35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Text 7"/>
          <p:cNvSpPr/>
          <p:nvPr/>
        </p:nvSpPr>
        <p:spPr>
          <a:xfrm>
            <a:off x="2633400" y="1920240"/>
            <a:ext cx="1782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Katman kuralları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8"/>
          <p:cNvSpPr/>
          <p:nvPr/>
        </p:nvSpPr>
        <p:spPr>
          <a:xfrm>
            <a:off x="2679120" y="2286000"/>
            <a:ext cx="16909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sql / dbt / airflow — applyTo ile.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9"/>
          <p:cNvSpPr/>
          <p:nvPr/>
        </p:nvSpPr>
        <p:spPr>
          <a:xfrm>
            <a:off x="4626720" y="1051560"/>
            <a:ext cx="1965240" cy="2285280"/>
          </a:xfrm>
          <a:prstGeom prst="roundRect">
            <a:avLst>
              <a:gd name="adj" fmla="val 558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0"/>
          <p:cNvSpPr/>
          <p:nvPr/>
        </p:nvSpPr>
        <p:spPr>
          <a:xfrm>
            <a:off x="5285160" y="1188720"/>
            <a:ext cx="639360" cy="63936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8" name="Image 2" descr="preencoded.png"/>
          <p:cNvPicPr/>
          <p:nvPr/>
        </p:nvPicPr>
        <p:blipFill>
          <a:blip r:embed="rId3"/>
          <a:stretch/>
        </p:blipFill>
        <p:spPr>
          <a:xfrm>
            <a:off x="5425920" y="1329480"/>
            <a:ext cx="357840" cy="35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Text 11"/>
          <p:cNvSpPr/>
          <p:nvPr/>
        </p:nvSpPr>
        <p:spPr>
          <a:xfrm>
            <a:off x="4718160" y="1920240"/>
            <a:ext cx="1782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Prompt dosyaları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2"/>
          <p:cNvSpPr/>
          <p:nvPr/>
        </p:nvSpPr>
        <p:spPr>
          <a:xfrm>
            <a:off x="4763880" y="2286000"/>
            <a:ext cx="16909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/stg-model /incremental /dbt-tests /dag /contract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3"/>
          <p:cNvSpPr/>
          <p:nvPr/>
        </p:nvSpPr>
        <p:spPr>
          <a:xfrm>
            <a:off x="6711840" y="1051560"/>
            <a:ext cx="1965240" cy="2285280"/>
          </a:xfrm>
          <a:prstGeom prst="roundRect">
            <a:avLst>
              <a:gd name="adj" fmla="val 558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4"/>
          <p:cNvSpPr/>
          <p:nvPr/>
        </p:nvSpPr>
        <p:spPr>
          <a:xfrm>
            <a:off x="7369920" y="1188720"/>
            <a:ext cx="639360" cy="63936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3" name="Image 3" descr="preencoded.png"/>
          <p:cNvPicPr/>
          <p:nvPr/>
        </p:nvPicPr>
        <p:blipFill>
          <a:blip r:embed="rId4"/>
          <a:stretch/>
        </p:blipFill>
        <p:spPr>
          <a:xfrm>
            <a:off x="7511040" y="1329480"/>
            <a:ext cx="357840" cy="35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4" name="Text 15"/>
          <p:cNvSpPr/>
          <p:nvPr/>
        </p:nvSpPr>
        <p:spPr>
          <a:xfrm>
            <a:off x="6803280" y="1920240"/>
            <a:ext cx="1782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Reviewer agent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16"/>
          <p:cNvSpPr/>
          <p:nvPr/>
        </p:nvSpPr>
        <p:spPr>
          <a:xfrm>
            <a:off x="6849000" y="2286000"/>
            <a:ext cx="16909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Yazan ≠ denetleyen. 11 madde, EVET/HAYIR.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7"/>
          <p:cNvSpPr/>
          <p:nvPr/>
        </p:nvSpPr>
        <p:spPr>
          <a:xfrm>
            <a:off x="457200" y="3520440"/>
            <a:ext cx="8228880" cy="1050840"/>
          </a:xfrm>
          <a:prstGeom prst="roundRect">
            <a:avLst>
              <a:gd name="adj" fmla="val 10435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18"/>
          <p:cNvSpPr/>
          <p:nvPr/>
        </p:nvSpPr>
        <p:spPr>
          <a:xfrm>
            <a:off x="640080" y="3520440"/>
            <a:ext cx="7863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13:30 — dbt.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Silver katmanını agent'a inşa ettireceğiz: sources, staging (dedup + normalize), testler. Copilot'un dedup'ı DISTINCT ile yapmaya çalıştığı anı canlı yakalayacağız. Öğlen Copilot'a bir şey sorarsanız: "doğrulama sorgusu da ekle".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Text 0"/>
          <p:cNvSpPr/>
          <p:nvPr/>
        </p:nvSpPr>
        <p:spPr>
          <a:xfrm>
            <a:off x="548640" y="137160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GÜN 1 · ÖĞLEDEN SONRA · M2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1"/>
          <p:cNvSpPr/>
          <p:nvPr/>
        </p:nvSpPr>
        <p:spPr>
          <a:xfrm>
            <a:off x="548640" y="1783080"/>
            <a:ext cx="8046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ile Silver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2"/>
          <p:cNvSpPr/>
          <p:nvPr/>
        </p:nvSpPr>
        <p:spPr>
          <a:xfrm>
            <a:off x="548640" y="288036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Bronze'u dbt ile anlamlandırmak: proje iskeleti → sources → staging → testler. Gold (dim, snapshot, incremental) Gün 2 sabah.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nedir? SELECT yazarsın, gerisi onun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1"/>
          <p:cNvSpPr/>
          <p:nvPr/>
        </p:nvSpPr>
        <p:spPr>
          <a:xfrm>
            <a:off x="457200" y="1005840"/>
            <a:ext cx="3931200" cy="2193840"/>
          </a:xfrm>
          <a:prstGeom prst="roundRect">
            <a:avLst>
              <a:gd name="adj" fmla="val 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2"/>
          <p:cNvSpPr/>
          <p:nvPr/>
        </p:nvSpPr>
        <p:spPr>
          <a:xfrm>
            <a:off x="64008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Ne yapar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3"/>
          <p:cNvSpPr/>
          <p:nvPr/>
        </p:nvSpPr>
        <p:spPr>
          <a:xfrm>
            <a:off x="640080" y="1508760"/>
            <a:ext cx="356544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Bir .sql dosyası = bir SELECT = bir model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Modeli view/tabloya çevirir (materialization)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source() ve ref() → sırayı ve lineage'ı bilir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run · test · snapshot · docs · source freshness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4"/>
          <p:cNvSpPr/>
          <p:nvPr/>
        </p:nvSpPr>
        <p:spPr>
          <a:xfrm>
            <a:off x="4754880" y="1005840"/>
            <a:ext cx="3931200" cy="2193840"/>
          </a:xfrm>
          <a:prstGeom prst="roundRect">
            <a:avLst>
              <a:gd name="adj" fmla="val 50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5"/>
          <p:cNvSpPr/>
          <p:nvPr/>
        </p:nvSpPr>
        <p:spPr>
          <a:xfrm>
            <a:off x="493776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Materialization — 4 seçenek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6"/>
          <p:cNvSpPr/>
          <p:nvPr/>
        </p:nvSpPr>
        <p:spPr>
          <a:xfrm>
            <a:off x="4937760" y="1508760"/>
            <a:ext cx="356544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view: her okumada çalışır (Silver)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table: fiziksel tablo (Gold dim)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incremental: sadece yeni kısım (Gold fact)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ephemeral: CTE olarak gömülür (ara)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7"/>
          <p:cNvSpPr/>
          <p:nvPr/>
        </p:nvSpPr>
        <p:spPr>
          <a:xfrm>
            <a:off x="457200" y="3337560"/>
            <a:ext cx="1965240" cy="1188000"/>
          </a:xfrm>
          <a:prstGeom prst="roundRect">
            <a:avLst>
              <a:gd name="adj" fmla="val 923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8"/>
          <p:cNvSpPr/>
          <p:nvPr/>
        </p:nvSpPr>
        <p:spPr>
          <a:xfrm>
            <a:off x="567000" y="340164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profiles.yml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9"/>
          <p:cNvSpPr/>
          <p:nvPr/>
        </p:nvSpPr>
        <p:spPr>
          <a:xfrm>
            <a:off x="567000" y="3931920"/>
            <a:ext cx="1782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bağlantı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10"/>
          <p:cNvSpPr/>
          <p:nvPr/>
        </p:nvSpPr>
        <p:spPr>
          <a:xfrm>
            <a:off x="2541960" y="3337560"/>
            <a:ext cx="1965240" cy="1188000"/>
          </a:xfrm>
          <a:prstGeom prst="roundRect">
            <a:avLst>
              <a:gd name="adj" fmla="val 923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11"/>
          <p:cNvSpPr/>
          <p:nvPr/>
        </p:nvSpPr>
        <p:spPr>
          <a:xfrm>
            <a:off x="2651760" y="340164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dbt_project.yml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12"/>
          <p:cNvSpPr/>
          <p:nvPr/>
        </p:nvSpPr>
        <p:spPr>
          <a:xfrm>
            <a:off x="2651760" y="3931920"/>
            <a:ext cx="1782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katman kuralları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13"/>
          <p:cNvSpPr/>
          <p:nvPr/>
        </p:nvSpPr>
        <p:spPr>
          <a:xfrm>
            <a:off x="4626720" y="3337560"/>
            <a:ext cx="1965240" cy="1188000"/>
          </a:xfrm>
          <a:prstGeom prst="roundRect">
            <a:avLst>
              <a:gd name="adj" fmla="val 923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4"/>
          <p:cNvSpPr/>
          <p:nvPr/>
        </p:nvSpPr>
        <p:spPr>
          <a:xfrm>
            <a:off x="4736520" y="340164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packages.yml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5"/>
          <p:cNvSpPr/>
          <p:nvPr/>
        </p:nvSpPr>
        <p:spPr>
          <a:xfrm>
            <a:off x="4736520" y="3931920"/>
            <a:ext cx="1782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dbt_utils, expectations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16"/>
          <p:cNvSpPr/>
          <p:nvPr/>
        </p:nvSpPr>
        <p:spPr>
          <a:xfrm>
            <a:off x="6711840" y="3337560"/>
            <a:ext cx="1965240" cy="1188000"/>
          </a:xfrm>
          <a:prstGeom prst="roundRect">
            <a:avLst>
              <a:gd name="adj" fmla="val 923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7"/>
          <p:cNvSpPr/>
          <p:nvPr/>
        </p:nvSpPr>
        <p:spPr>
          <a:xfrm>
            <a:off x="6821280" y="3401640"/>
            <a:ext cx="1782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macros/…schema_name.sql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18"/>
          <p:cNvSpPr/>
          <p:nvPr/>
        </p:nvSpPr>
        <p:spPr>
          <a:xfrm>
            <a:off x="6821280" y="3931920"/>
            <a:ext cx="1782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silver_silver olmasın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9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ELT'nin T'si için yazılım mühendisliği disiplini: git, test, review, doküman — hepsi SQL'in üstünde.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2.1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projesi ayakta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3"/>
          <p:cNvSpPr/>
          <p:nvPr/>
        </p:nvSpPr>
        <p:spPr>
          <a:xfrm>
            <a:off x="457200" y="914400"/>
            <a:ext cx="4845600" cy="191952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4"/>
          <p:cNvSpPr/>
          <p:nvPr/>
        </p:nvSpPr>
        <p:spPr>
          <a:xfrm>
            <a:off x="594360" y="1005840"/>
            <a:ext cx="45712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dbt/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profiles.yml          # bağlantı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telco_dw/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dbt_project.yml     # katman kuralları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packages.yml        # dbt_utils, dbt_expectations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macros/generate_schema_name.sql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models/staging  intermediate  marts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snapshots/  tests/  seeds/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5"/>
          <p:cNvSpPr/>
          <p:nvPr/>
        </p:nvSpPr>
        <p:spPr>
          <a:xfrm>
            <a:off x="5486400" y="914400"/>
            <a:ext cx="3199680" cy="191952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6"/>
          <p:cNvSpPr/>
          <p:nvPr/>
        </p:nvSpPr>
        <p:spPr>
          <a:xfrm>
            <a:off x="5623560" y="1005840"/>
            <a:ext cx="292536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cd dbt/telco_dw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dbt deps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dbt debug --profiles-dir ..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→ All checks passed!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7"/>
          <p:cNvSpPr/>
          <p:nvPr/>
        </p:nvSpPr>
        <p:spPr>
          <a:xfrm>
            <a:off x="457200" y="2971800"/>
            <a:ext cx="8228880" cy="1599480"/>
          </a:xfrm>
          <a:prstGeom prst="roundRect">
            <a:avLst>
              <a:gd name="adj" fmla="val 685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8"/>
          <p:cNvSpPr/>
          <p:nvPr/>
        </p:nvSpPr>
        <p:spPr>
          <a:xfrm>
            <a:off x="640080" y="3063240"/>
            <a:ext cx="786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Tuzaklar (derste yaşandı)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9"/>
          <p:cNvSpPr/>
          <p:nvPr/>
        </p:nvSpPr>
        <p:spPr>
          <a:xfrm>
            <a:off x="640080" y="3474720"/>
            <a:ext cx="7863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deps'i dbt/ içinden çalıştırmak → dbt_project.yml yok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Windows: dbt PATH'te değil · Mac: pip reddeder → python3 -m venv .venv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calogica/dbt_expectations öldü → metaplane/dbt_expectations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Macro yoksa şema adı silver_silver olur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2.2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sources.yml — Bronze'u dbt'ye tanıt (elle!)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3"/>
          <p:cNvSpPr/>
          <p:nvPr/>
        </p:nvSpPr>
        <p:spPr>
          <a:xfrm>
            <a:off x="457200" y="914400"/>
            <a:ext cx="8228880" cy="1965240"/>
          </a:xfrm>
          <a:prstGeom prst="roundRect">
            <a:avLst>
              <a:gd name="adj" fmla="val 558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4"/>
          <p:cNvSpPr/>
          <p:nvPr/>
        </p:nvSpPr>
        <p:spPr>
          <a:xfrm>
            <a:off x="594360" y="1005840"/>
            <a:ext cx="795456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sources: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- name: raw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schema: raw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tables: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- name: cdr_events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  description: "event_id tekil DEĞİL, msisdn karışık, ingested_at 0-72 saat geç"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  loaded_at_field: ingested_at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  freshness: { warn_after: {count: 24, period: hour}, error_after: {count: 72, period: hour} }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- name: subscribers      # aynı msisdn birden fazla kayıt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- name: recharges · plans · plan_changes · campaigns · …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5"/>
          <p:cNvSpPr/>
          <p:nvPr/>
        </p:nvSpPr>
        <p:spPr>
          <a:xfrm>
            <a:off x="457200" y="3017520"/>
            <a:ext cx="3931200" cy="1553760"/>
          </a:xfrm>
          <a:prstGeom prst="roundRect">
            <a:avLst>
              <a:gd name="adj" fmla="val 705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6"/>
          <p:cNvSpPr/>
          <p:nvPr/>
        </p:nvSpPr>
        <p:spPr>
          <a:xfrm>
            <a:off x="640080" y="310896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Neden Copilot'a değil, elle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7"/>
          <p:cNvSpPr/>
          <p:nvPr/>
        </p:nvSpPr>
        <p:spPr>
          <a:xfrm>
            <a:off x="640080" y="3520440"/>
            <a:ext cx="356544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 dosya sözleşmedir, kod değil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Bilmediğin şeyi Copilot'tan alırsan uydurur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Girdi sözleşmesini insan yazar, dönüşümü AI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8"/>
          <p:cNvSpPr/>
          <p:nvPr/>
        </p:nvSpPr>
        <p:spPr>
          <a:xfrm>
            <a:off x="4754880" y="3017520"/>
            <a:ext cx="3931200" cy="1553760"/>
          </a:xfrm>
          <a:prstGeom prst="roundRect">
            <a:avLst>
              <a:gd name="adj" fmla="val 705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9"/>
          <p:cNvSpPr/>
          <p:nvPr/>
        </p:nvSpPr>
        <p:spPr>
          <a:xfrm>
            <a:off x="4937760" y="310896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dbt source freshness → ERROR STALE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10"/>
          <p:cNvSpPr/>
          <p:nvPr/>
        </p:nvSpPr>
        <p:spPr>
          <a:xfrm>
            <a:off x="4937760" y="3520440"/>
            <a:ext cx="356544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Beklenen: veri Eylül başında bitti, &gt; 72 saat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Kırmızıysa gece yüklemesi çalışmadı — önce siz görürsünüz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Gün 2: aynı komut DAG'da bir task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2.3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/stg-model cdr_events — gerçek çıktının karnesi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3"/>
          <p:cNvSpPr/>
          <p:nvPr/>
        </p:nvSpPr>
        <p:spPr>
          <a:xfrm>
            <a:off x="457200" y="914400"/>
            <a:ext cx="3931200" cy="2468160"/>
          </a:xfrm>
          <a:prstGeom prst="roundRect">
            <a:avLst>
              <a:gd name="adj" fmla="val 4444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4"/>
          <p:cNvSpPr/>
          <p:nvPr/>
        </p:nvSpPr>
        <p:spPr>
          <a:xfrm>
            <a:off x="64008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Doğru yaptığı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5"/>
          <p:cNvSpPr/>
          <p:nvPr/>
        </p:nvSpPr>
        <p:spPr>
          <a:xfrm>
            <a:off x="640080" y="1417320"/>
            <a:ext cx="356544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source() kullandı; sources.yml'e dokunmadı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E.164 formülü 'g' flag'iyle birebir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ROW_NUMBER dedup, DISTINCT değil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Geçersiz satırı sildi değil işaretledi (is_valid_event_type)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Yorumlarda literal isim; dbt 1.10+ arguments: sözdizimi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305.942 → 300.000 · 968 mms korundu · 9/9 test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6"/>
          <p:cNvSpPr/>
          <p:nvPr/>
        </p:nvSpPr>
        <p:spPr>
          <a:xfrm>
            <a:off x="4754880" y="914400"/>
            <a:ext cx="3931200" cy="2468160"/>
          </a:xfrm>
          <a:prstGeom prst="roundRect">
            <a:avLst>
              <a:gd name="adj" fmla="val 4444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7"/>
          <p:cNvSpPr/>
          <p:nvPr/>
        </p:nvSpPr>
        <p:spPr>
          <a:xfrm>
            <a:off x="493776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Zayıf noktaları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8"/>
          <p:cNvSpPr/>
          <p:nvPr/>
        </p:nvSpPr>
        <p:spPr>
          <a:xfrm>
            <a:off x="4937760" y="1417320"/>
            <a:ext cx="356544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msisdn regex testi yok — formülü koruyan tek test oydu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2 test totoloji: accepted_values where is_valid; boolean [true,false]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ROW_NUMBER'da tie-breaker yok (deterministik değil)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İki kez tökezledi, ikisini de kendi çözdü: yorumda {{ ref() }} döngüsü; yanlış dizinden dbt run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9"/>
          <p:cNvSpPr/>
          <p:nvPr/>
        </p:nvSpPr>
        <p:spPr>
          <a:xfrm>
            <a:off x="457200" y="3520440"/>
            <a:ext cx="8228880" cy="1050840"/>
          </a:xfrm>
          <a:prstGeom prst="roundRect">
            <a:avLst>
              <a:gd name="adj" fmla="val 10435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10"/>
          <p:cNvSpPr/>
          <p:nvPr/>
        </p:nvSpPr>
        <p:spPr>
          <a:xfrm>
            <a:off x="640080" y="3520440"/>
            <a:ext cx="7863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Test sayısı ≠ test gücü. </a:t>
            </a: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Her test için "bu hangi hatayı yakalar?" 9/9 yeşilin 2'si hiçbir şey söylemiyor. Regex testini ekledik → 10/10. Copilot'un tökezlediği iki yer instructions'a girdi: "yorumda ref()/source() yok", "komutlar dbt/telco_dw'dan --profiles-dir ..".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2.4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Kalan staging: subscribers · recharges · plans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3"/>
          <p:cNvSpPr/>
          <p:nvPr/>
        </p:nvSpPr>
        <p:spPr>
          <a:xfrm>
            <a:off x="457200" y="914400"/>
            <a:ext cx="3931200" cy="265104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4"/>
          <p:cNvSpPr/>
          <p:nvPr/>
        </p:nvSpPr>
        <p:spPr>
          <a:xfrm>
            <a:off x="64008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stg_subscribers — asıl sınav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5"/>
          <p:cNvSpPr/>
          <p:nvPr/>
        </p:nvSpPr>
        <p:spPr>
          <a:xfrm>
            <a:off x="640080" y="1417320"/>
            <a:ext cx="356544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upper(status) VE 'AKTIF' → 'ACTIVE' eşlemesi; 7 varyant var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is_current_record: row_number(partition by msisdn order by activation_date desc, subscriber_id desc) = 1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Eski kayıtlar SİLİNMEZ — snapshot bunlardan besleniyor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Test: unique_combination [msisdn, subscriber_id]; msisdn tek başına unique DEĞİL (150 çift)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6"/>
          <p:cNvSpPr/>
          <p:nvPr/>
        </p:nvSpPr>
        <p:spPr>
          <a:xfrm>
            <a:off x="4754880" y="914400"/>
            <a:ext cx="3931200" cy="127944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7"/>
          <p:cNvSpPr/>
          <p:nvPr/>
        </p:nvSpPr>
        <p:spPr>
          <a:xfrm>
            <a:off x="493776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stg_recharges — tuzağı yok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8"/>
          <p:cNvSpPr/>
          <p:nvPr/>
        </p:nvSpPr>
        <p:spPr>
          <a:xfrm>
            <a:off x="4937760" y="1417320"/>
            <a:ext cx="3565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E.164 + upper(channel); join YOK (Gold'un işi)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60.000 / 60.000 / 12.166.907,43 — raw ile aynı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9"/>
          <p:cNvSpPr/>
          <p:nvPr/>
        </p:nvSpPr>
        <p:spPr>
          <a:xfrm>
            <a:off x="4754880" y="2286000"/>
            <a:ext cx="3931200" cy="127944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10"/>
          <p:cNvSpPr/>
          <p:nvPr/>
        </p:nvSpPr>
        <p:spPr>
          <a:xfrm>
            <a:off x="4937760" y="23774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stg_plans — 8 satır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11"/>
          <p:cNvSpPr/>
          <p:nvPr/>
        </p:nvSpPr>
        <p:spPr>
          <a:xfrm>
            <a:off x="4937760" y="2788920"/>
            <a:ext cx="3565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Sadece kolon geçirme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5 CTE yazarsa: karmaşıklık veriyle orantılı olmalı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12"/>
          <p:cNvSpPr/>
          <p:nvPr/>
        </p:nvSpPr>
        <p:spPr>
          <a:xfrm>
            <a:off x="457200" y="3703320"/>
            <a:ext cx="8228880" cy="867960"/>
          </a:xfrm>
          <a:prstGeom prst="roundRect">
            <a:avLst>
              <a:gd name="adj" fmla="val 12632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13"/>
          <p:cNvSpPr/>
          <p:nvPr/>
        </p:nvSpPr>
        <p:spPr>
          <a:xfrm>
            <a:off x="594360" y="3794760"/>
            <a:ext cx="7954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select count(*), count(distinct msisdn), count(*) filter (where is_current_record),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 count(*) filter (where is_current_record and status='ACTIVE') from silver.stg_subscribers;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→ 10150 / 10000 / 10000 / 8242      (Ağustos'ta CDR üreten aktif: 8237 — beşi o ay hiç kullanmamış)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2.5–2.6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Reviewer'a denetlet · fact, dimension, grain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3"/>
          <p:cNvSpPr/>
          <p:nvPr/>
        </p:nvSpPr>
        <p:spPr>
          <a:xfrm>
            <a:off x="457200" y="914400"/>
            <a:ext cx="2742480" cy="3656880"/>
          </a:xfrm>
          <a:prstGeom prst="roundRect">
            <a:avLst>
              <a:gd name="adj" fmla="val 4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4"/>
          <p:cNvSpPr/>
          <p:nvPr/>
        </p:nvSpPr>
        <p:spPr>
          <a:xfrm>
            <a:off x="640080" y="100584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Reviewer'a staging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5"/>
          <p:cNvSpPr/>
          <p:nvPr/>
        </p:nvSpPr>
        <p:spPr>
          <a:xfrm>
            <a:off x="640080" y="1417320"/>
            <a:ext cx="2376720" cy="30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"models/staging'i denetle"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Bulması gereken: tie-breaker, totoloji test, regex eksiği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Bulamazsa siz bulun — %70 o, %30 siz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6"/>
          <p:cNvSpPr/>
          <p:nvPr/>
        </p:nvSpPr>
        <p:spPr>
          <a:xfrm>
            <a:off x="3383280" y="914400"/>
            <a:ext cx="5302800" cy="3656880"/>
          </a:xfrm>
          <a:prstGeom prst="roundRect">
            <a:avLst>
              <a:gd name="adj" fmla="val 30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7"/>
          <p:cNvSpPr/>
          <p:nvPr/>
        </p:nvSpPr>
        <p:spPr>
          <a:xfrm>
            <a:off x="3566160" y="100584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Star schema — Gün 2 sabah bunu inşa edeceğiz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Shape 8"/>
          <p:cNvSpPr/>
          <p:nvPr/>
        </p:nvSpPr>
        <p:spPr>
          <a:xfrm>
            <a:off x="5166360" y="2103120"/>
            <a:ext cx="1736640" cy="822240"/>
          </a:xfrm>
          <a:prstGeom prst="roundRect">
            <a:avLst>
              <a:gd name="adj" fmla="val 13333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9"/>
          <p:cNvSpPr/>
          <p:nvPr/>
        </p:nvSpPr>
        <p:spPr>
          <a:xfrm>
            <a:off x="5166360" y="2103120"/>
            <a:ext cx="17366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fct_daily_usage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msisdn × gün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10"/>
          <p:cNvSpPr/>
          <p:nvPr/>
        </p:nvSpPr>
        <p:spPr>
          <a:xfrm>
            <a:off x="3566160" y="1463040"/>
            <a:ext cx="1279440" cy="639360"/>
          </a:xfrm>
          <a:prstGeom prst="roundRect">
            <a:avLst>
              <a:gd name="adj" fmla="val 1714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11"/>
          <p:cNvSpPr/>
          <p:nvPr/>
        </p:nvSpPr>
        <p:spPr>
          <a:xfrm>
            <a:off x="3566160" y="1463040"/>
            <a:ext cx="1279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0C0C0"/>
                </a:solidFill>
                <a:effectLst/>
                <a:uFillTx/>
                <a:latin typeface="Calibri"/>
                <a:ea typeface="Calibri"/>
              </a:rPr>
              <a:t>dim_subscriber (SCD2)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12"/>
          <p:cNvSpPr/>
          <p:nvPr/>
        </p:nvSpPr>
        <p:spPr>
          <a:xfrm>
            <a:off x="7223760" y="1463040"/>
            <a:ext cx="1279440" cy="639360"/>
          </a:xfrm>
          <a:prstGeom prst="roundRect">
            <a:avLst>
              <a:gd name="adj" fmla="val 1714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13"/>
          <p:cNvSpPr/>
          <p:nvPr/>
        </p:nvSpPr>
        <p:spPr>
          <a:xfrm>
            <a:off x="7223760" y="1463040"/>
            <a:ext cx="1279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0C0C0"/>
                </a:solidFill>
                <a:effectLst/>
                <a:uFillTx/>
                <a:latin typeface="Calibri"/>
                <a:ea typeface="Calibri"/>
              </a:rPr>
              <a:t>dim_plan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14"/>
          <p:cNvSpPr/>
          <p:nvPr/>
        </p:nvSpPr>
        <p:spPr>
          <a:xfrm>
            <a:off x="3566160" y="2926080"/>
            <a:ext cx="1279440" cy="639360"/>
          </a:xfrm>
          <a:prstGeom prst="roundRect">
            <a:avLst>
              <a:gd name="adj" fmla="val 1714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15"/>
          <p:cNvSpPr/>
          <p:nvPr/>
        </p:nvSpPr>
        <p:spPr>
          <a:xfrm>
            <a:off x="3566160" y="2926080"/>
            <a:ext cx="1279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0C0C0"/>
                </a:solidFill>
                <a:effectLst/>
                <a:uFillTx/>
                <a:latin typeface="Calibri"/>
                <a:ea typeface="Calibri"/>
              </a:rPr>
              <a:t>dim_date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16"/>
          <p:cNvSpPr/>
          <p:nvPr/>
        </p:nvSpPr>
        <p:spPr>
          <a:xfrm>
            <a:off x="7223760" y="2926080"/>
            <a:ext cx="1279440" cy="639360"/>
          </a:xfrm>
          <a:prstGeom prst="roundRect">
            <a:avLst>
              <a:gd name="adj" fmla="val 1714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17"/>
          <p:cNvSpPr/>
          <p:nvPr/>
        </p:nvSpPr>
        <p:spPr>
          <a:xfrm>
            <a:off x="7223760" y="2926080"/>
            <a:ext cx="1279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0C0C0"/>
                </a:solidFill>
                <a:effectLst/>
                <a:uFillTx/>
                <a:latin typeface="Calibri"/>
                <a:ea typeface="Calibri"/>
              </a:rPr>
              <a:t>dim_campaign (sonra)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18"/>
          <p:cNvSpPr/>
          <p:nvPr/>
        </p:nvSpPr>
        <p:spPr>
          <a:xfrm>
            <a:off x="3566160" y="3657600"/>
            <a:ext cx="49370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Fact: ölçülebilir olay, çok satır. Dimension: bağlam, az satır. Grain: fact'in bir satırı neyi temsil eder — msisdn × gün → unique key (msisdn, usage_date). Grain'i Copilot seçmez; belirsizse bir tane seçer ve söylemez.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Gün 1 özeti — ve yarın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1"/>
          <p:cNvSpPr/>
          <p:nvPr/>
        </p:nvSpPr>
        <p:spPr>
          <a:xfrm>
            <a:off x="457200" y="1005840"/>
            <a:ext cx="3931200" cy="265104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2"/>
          <p:cNvSpPr/>
          <p:nvPr/>
        </p:nvSpPr>
        <p:spPr>
          <a:xfrm>
            <a:off x="64008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Bugün kurulan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3"/>
          <p:cNvSpPr/>
          <p:nvPr/>
        </p:nvSpPr>
        <p:spPr>
          <a:xfrm>
            <a:off x="640080" y="1508760"/>
            <a:ext cx="356544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Bronze: 8 ham tablo, bilerek kirli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copilot-instructions.md + katman kuralları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Prompt dosyası (/stg-model), reviewer mantığı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İlk doğru sorgu: 8237 — ve planner dersi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iskeleti, sources.yml, ilk staging modelleri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4"/>
          <p:cNvSpPr/>
          <p:nvPr/>
        </p:nvSpPr>
        <p:spPr>
          <a:xfrm>
            <a:off x="4754880" y="1005840"/>
            <a:ext cx="3931200" cy="2651040"/>
          </a:xfrm>
          <a:prstGeom prst="roundRect">
            <a:avLst>
              <a:gd name="adj" fmla="val 4138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5"/>
          <p:cNvSpPr/>
          <p:nvPr/>
        </p:nvSpPr>
        <p:spPr>
          <a:xfrm>
            <a:off x="493776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Yarın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6"/>
          <p:cNvSpPr/>
          <p:nvPr/>
        </p:nvSpPr>
        <p:spPr>
          <a:xfrm>
            <a:off x="4937760" y="1508760"/>
            <a:ext cx="356544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Sabah: Gold'u bitiriyoruz — dim'ler, SCD2, incremental fact, tutarlılık testi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Airflow: pipeline'ı saatli hale getirmek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Kafka, Spark, observability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Data contract, governance, PR review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7"/>
          <p:cNvSpPr/>
          <p:nvPr/>
        </p:nvSpPr>
        <p:spPr>
          <a:xfrm>
            <a:off x="457200" y="3794760"/>
            <a:ext cx="8228880" cy="776520"/>
          </a:xfrm>
          <a:prstGeom prst="roundRect">
            <a:avLst>
              <a:gd name="adj" fmla="val 14118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8"/>
          <p:cNvSpPr/>
          <p:nvPr/>
        </p:nvSpPr>
        <p:spPr>
          <a:xfrm>
            <a:off x="640080" y="3794760"/>
            <a:ext cx="7863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Yarın sabah ilk iş: dbt debug --profiles-dir . → All checks passed. Geçmiyorsa 09:00'dan önce eğitmene yazın.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2026-09-23T22:42:06Z</dcterms:created>
  <dc:creator>Halit Enes Kalaycı</dc:creator>
  <dc:description/>
  <dc:language>tr-TR</dc:language>
  <cp:lastModifiedBy/>
  <dcterms:modified xsi:type="dcterms:W3CDTF">2026-09-24T09:05:17Z</dcterms:modified>
  <cp:revision>3</cp:revision>
  <dc:subject>PptxGenJS Presentation</dc:subject>
  <dc:title>AI Destekli Veri Mühendisliği — Gün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52</vt:i4>
  </property>
  <property fmtid="{D5CDD505-2E9C-101B-9397-08002B2CF9AE}" pid="3" name="PresentationFormat">
    <vt:lpwstr>On-screen Show (16:9)</vt:lpwstr>
  </property>
  <property fmtid="{D5CDD505-2E9C-101B-9397-08002B2CF9AE}" pid="4" name="Slides">
    <vt:i4>52</vt:i4>
  </property>
</Properties>
</file>